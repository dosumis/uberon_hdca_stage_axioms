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b6b6b9b-af2f-e738-aecb-2a25246c997c}">
          <p14:sldIdLst>
            <p14:sldId id="256"/>
            <p14:sldId id="257"/>
            <p14:sldId id="258"/>
            <p14:sldId id="259"/>
            <p14:sldId id="260"/>
            <p14:sldId id="261"/>
            <p14:sldId id="262"/>
            <p14:sldId id="263"/>
          </p14:sldIdLst>
        </p14:section>
        <p14:section name="Why individuals" id="{694aa936-b672-989b-6b9a-9d6c5c8bb0f8}">
          <p14:sldIdLst>
            <p14:sldId id="264"/>
          </p14:sldIdLst>
        </p14:section>
        <p14:section name="Relations in time" id="{488c4e3a-d086-38b0-e143-303f8e3aad12}">
          <p14:sldIdLst>
            <p14:sldId id="265"/>
            <p14:sldId id="266"/>
            <p14:sldId id="267"/>
            <p14:sldId id="268"/>
            <p14:sldId id="269"/>
            <p14:sldId id="270"/>
            <p14:sldId id="271"/>
          </p14:sldIdLst>
        </p14:section>
        <p14:section name="Curation" id="{2915d47e-9389-8aa6-2459-a64d515d8103}">
          <p14:sldIdLst>
            <p14:sldId id="272"/>
            <p14:sldId id="273"/>
          </p14:sldIdLst>
        </p14:section>
        <p14:section name="Current experiments" id="{c26e7aa4-d798-70cb-9bf0-e51186163924}">
          <p14:sldIdLst>
            <p14:sldId id="274"/>
            <p14:sldId id="275"/>
            <p14:sldId id="276"/>
            <p14:sldId id="277"/>
            <p14:sldId id="278"/>
            <p14:sldId id="279"/>
          </p14:sldIdLst>
        </p14:section>
        <p14:section name="Next" id="{9171e703-fea0-ebab-c305-f8b30488f13c}">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one per embryo</c:v>
                </c:pt>
              </c:strCache>
            </c:strRef>
          </c:tx>
          <c:spPr>
            <a:solidFill>
              <a:srgbClr val="1F6F7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Uberon: our network (778)</c:v>
                  </c:pt>
                  <c:pt idx="1">
                    <c:v>EHDAA2: all classes (2,456)</c:v>
                  </c:pt>
                </c:lvl>
              </c:multiLvlStrCache>
            </c:multiLvlStrRef>
          </c:cat>
          <c:val>
            <c:numRef>
              <c:f>Sheet1!$B$2:$B$3</c:f>
              <c:numCache>
                <c:formatCode>General</c:formatCode>
                <c:ptCount val="2"/>
                <c:pt idx="0">
                  <c:v>34.1</c:v>
                </c:pt>
                <c:pt idx="1">
                  <c:v>35.8</c:v>
                </c:pt>
              </c:numCache>
            </c:numRef>
          </c:val>
        </c:ser>
        <c:ser>
          <c:idx val="1"/>
          <c:order val="1"/>
          <c:tx>
            <c:strRef>
              <c:f>Sheet1!$C$1</c:f>
              <c:strCache>
                <c:ptCount val="1"/>
                <c:pt idx="0">
                  <c:v>fixed number (mostly pairs)</c:v>
                </c:pt>
              </c:strCache>
            </c:strRef>
          </c:tx>
          <c:spPr>
            <a:solidFill>
              <a:srgbClr val="3E8C9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Uberon: our network (778)</c:v>
                  </c:pt>
                  <c:pt idx="1">
                    <c:v>EHDAA2: all classes (2,456)</c:v>
                  </c:pt>
                </c:lvl>
              </c:multiLvlStrCache>
            </c:multiLvlStrRef>
          </c:cat>
          <c:val>
            <c:numRef>
              <c:f>Sheet1!$C$2:$C$3</c:f>
              <c:numCache>
                <c:formatCode>General</c:formatCode>
                <c:ptCount val="2"/>
                <c:pt idx="0">
                  <c:v>11.4</c:v>
                </c:pt>
                <c:pt idx="1">
                  <c:v>29.4</c:v>
                </c:pt>
              </c:numCache>
            </c:numRef>
          </c:val>
        </c:ser>
        <c:ser>
          <c:idx val="2"/>
          <c:order val="2"/>
          <c:tx>
            <c:strRef>
              <c:f>Sheet1!$D$1</c:f>
              <c:strCache>
                <c:ptCount val="1"/>
                <c:pt idx="0">
                  <c:v>named series member</c:v>
                </c:pt>
              </c:strCache>
            </c:strRef>
          </c:tx>
          <c:spPr>
            <a:solidFill>
              <a:srgbClr val="7FB5B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Uberon: our network (778)</c:v>
                  </c:pt>
                  <c:pt idx="1">
                    <c:v>EHDAA2: all classes (2,456)</c:v>
                  </c:pt>
                </c:lvl>
              </c:multiLvlStrCache>
            </c:multiLvlStrRef>
          </c:cat>
          <c:val>
            <c:numRef>
              <c:f>Sheet1!$D$2:$D$3</c:f>
              <c:numCache>
                <c:formatCode>General</c:formatCode>
                <c:ptCount val="2"/>
                <c:pt idx="0">
                  <c:v>18.3</c:v>
                </c:pt>
                <c:pt idx="1">
                  <c:v>26.1</c:v>
                </c:pt>
              </c:numCache>
            </c:numRef>
          </c:val>
        </c:ser>
        <c:ser>
          <c:idx val="3"/>
          <c:order val="3"/>
          <c:tx>
            <c:strRef>
              <c:f>Sheet1!$E$1</c:f>
              <c:strCache>
                <c:ptCount val="1"/>
                <c:pt idx="0">
                  <c:v>whole series</c:v>
                </c:pt>
              </c:strCache>
            </c:strRef>
          </c:tx>
          <c:spPr>
            <a:solidFill>
              <a:srgbClr val="B9D7D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Uberon: our network (778)</c:v>
                  </c:pt>
                  <c:pt idx="1">
                    <c:v>EHDAA2: all classes (2,456)</c:v>
                  </c:pt>
                </c:lvl>
              </c:multiLvlStrCache>
            </c:multiLvlStrRef>
          </c:cat>
          <c:val>
            <c:numRef>
              <c:f>Sheet1!$E$2:$E$3</c:f>
              <c:numCache>
                <c:formatCode>General</c:formatCode>
                <c:ptCount val="2"/>
                <c:pt idx="0">
                  <c:v>9.3</c:v>
                </c:pt>
                <c:pt idx="1">
                  <c:v>4.6</c:v>
                </c:pt>
              </c:numCache>
            </c:numRef>
          </c:val>
        </c:ser>
        <c:ser>
          <c:idx val="4"/>
          <c:order val="4"/>
          <c:tx>
            <c:strRef>
              <c:f>Sheet1!$F$1</c:f>
              <c:strCache>
                <c:ptCount val="1"/>
                <c:pt idx="0">
                  <c:v>populations, repeated units</c:v>
                </c:pt>
              </c:strCache>
            </c:strRef>
          </c:tx>
          <c:spPr>
            <a:solidFill>
              <a:srgbClr val="E3A3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Uberon: our network (778)</c:v>
                  </c:pt>
                  <c:pt idx="1">
                    <c:v>EHDAA2: all classes (2,456)</c:v>
                  </c:pt>
                </c:lvl>
              </c:multiLvlStrCache>
            </c:multiLvlStrRef>
          </c:cat>
          <c:val>
            <c:numRef>
              <c:f>Sheet1!$F$2:$F$3</c:f>
              <c:numCache>
                <c:formatCode>General</c:formatCode>
                <c:ptCount val="2"/>
                <c:pt idx="0">
                  <c:v>6</c:v>
                </c:pt>
                <c:pt idx="1">
                  <c:v>3.6</c:v>
                </c:pt>
              </c:numCache>
            </c:numRef>
          </c:val>
        </c:ser>
        <c:ser>
          <c:idx val="5"/>
          <c:order val="5"/>
          <c:tx>
            <c:strRef>
              <c:f>Sheet1!$G$1</c:f>
              <c:strCache>
                <c:ptCount val="1"/>
                <c:pt idx="0">
                  <c:v>abstract types</c:v>
                </c:pt>
              </c:strCache>
            </c:strRef>
          </c:tx>
          <c:spPr>
            <a:solidFill>
              <a:srgbClr val="A9B8B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Uberon: our network (778)</c:v>
                  </c:pt>
                  <c:pt idx="1">
                    <c:v>EHDAA2: all classes (2,456)</c:v>
                  </c:pt>
                </c:lvl>
              </c:multiLvlStrCache>
            </c:multiLvlStrRef>
          </c:cat>
          <c:val>
            <c:numRef>
              <c:f>Sheet1!$G$2:$G$3</c:f>
              <c:numCache>
                <c:formatCode>General</c:formatCode>
                <c:ptCount val="2"/>
                <c:pt idx="0">
                  <c:v>21</c:v>
                </c:pt>
                <c:pt idx="1">
                  <c:v>0.3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B2B34"/>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B3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about reasoning over when anatomical structures exist, relative to developmental stages and to each other. The bars at the bottom are the motif of the deck: each is the lifetime of a structure, here the five pharyngeal arches, which start at staggered Carnegie stages and all end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Uberon records developmental relations between structures. This repo curates when each structure exists, against Carnegie stages, with evidence. Both are present, but no axiom connects them, so the questions on the right have no answer in the ontology today. The rest of the talk is about making them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anatomy ontology describes classes. An anatomical atlas describes one specimen. Make the specimen idealised, a canonical human embryo, and every structure it has a determinate number of becomes an individual. Nothing here is hand-curated: the atlas is generated from the class-level OWL by macro expansion, so the OWL stays the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structure gets a start point and an end point. For something there is one of per embryo, that is its lifetime. For a series like the pharyngeal arches, or a population of cells, the generic term's window runs from the first member's start to the last member's end. Every relation we use stays sound on windows except transformations, which are exact only when the precursor is one per embryo. So nothing has to be excluded; countability only buys precision. Bars here are the curated arch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get the same treatment as structures: each is an interval with two boundary points, never a single point. immediately_preceded_by makes two stages share a boundary; part_of nests one inside another. HsapDv has no edge from CS23 to week 9, but the order is derived through the embryonic and fetal stages. Running the stage ontology alone through the reasoner found one inconsistency in HsapDv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atlas idea works cleanly only for things a normal embryo has a determinate number of: one liver, one arch 3, or a series whose members each have a term. For uncountable populations, or structures whose number varies, such as haemangioblasts, villi or nephrons, an individual doesn't stand for a real thing. They can still take part as a window from first appearance to last disappearance, which keeps reasoning sound but loses anything per member. The model also assumes away variation between embryos, sex and anatomical variants, and taxon: one idealised atlas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first measurement of the limit on the previous slide. Every EHDAA2 class, and every Uberon structure in our timing network, was classified by how many separate structures it denotes in one embryo. 96% of EHDAA2 is countable, and 92% of its develops_from edges have both ends countable, which is what timing inference runs on. Half the countable terms are left and right pairs; for timing a pair is usually fine as one window. EHDAA2 is atlas-shaped by design, since it names series members and even splits cell populations by location. Uberon looks less countable, but that is almost all abstract classes; without them it is 92%. This is latent knowledge: eight parallel model instances agreed completely on countable versus not over fifty shared terms, which measures consistency rather than correctness. A Wikipedia check is next. Details in docs/countability-assessment.md.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individuals are a templated metamodel of Uberon. A small set of templates turns each class-level pattern into atlas content: a class becomes an individual with a start and an end; an existential relation between classes becomes a relation between individuals; a taxon-scoped stage bound becomes an ordering against stage points; a subclass axiom nests one window inside another and passes its axioms down. Identifiers are deterministic, so nothing has to be allocated, and everything is regenerated from the OWL each build. Today the templates are SPARQL queries emitting Datalog facts; the same templates could emit OWL individuals.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 layer stays in OWL: it is proven, and it is what feeds Uberon. But OWL is bad at exactly the operations timing needs. Allen-style composition gives disjunctions, OWL has no property intersection, and a single conflict makes the whole ontology inconsistent. On individuals, in Datalog, facts about one structure meet at one node, relations can be walked in both directions, and a conflict is just another derived fact, with its explanation. Because everything reduces to order constraints between endpoints, reasoning is exact and polynomial, and the door opens to rule engines, answer-set programming and provenance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James Allen's thirteen interval relations are the standard vocabulary for qualitative time. Seven are shown; the other six are their converses, written in capitals. Uncertainty is a set of relations, written as a string of letters. For example dfOMP covers every case where X starts after Y starts, which is exactly what we mean by develops_from.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relation in play, stage bounds and developmental relations alike, is a conjunction of less-than and less-than-or-equal between endpoints. That is the convex point algebra, which transitive closure decides completely. So we reason over endpoints and read Allen relations off the result, rather than composing Allen relations directly. Granularity comes for free: two starts in the same stage stay unordered. The part_of row is one interpretation; slide 11 returns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inventing a timing vocabulary from scratch. OBO already has one, with Allen readings: preceded_by and immediately_preceded_by between stages and processes, and the existence relations that tie a structure's start or end to a stage. RO defines these in terms of start and end points, which is exactly the form the reasoner uses. A few additions and corrections are needed, listed on the right; the details are in the RO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reason about timing from develops_from we need timing relations between two structures, and RO has none. The obvious shortcut, making develops_from a subproperty of preceded_by, is unsatisfiable, because structures are continuants and preceded_by relates occurrents. So three new continuant-to-continuant relations, nested: exists_after, X starts after Y starts; exists_directly_after, with no gap; and exists_immediately_after, X starts exactly as Y ends. Each developmental relation takes the appropriate level as a superproperty. With them, simple OWL property chains also carry timing from developmental relations onto stages. They are minted locally for now and would be proposed to 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Developmental relations carry timing. If Y starts during CS12 and X develops from Y, X cannot start before CS12, so X gains a bound nobody curated. Across the current data this yields 746 new bound statements, most of them one-sided. On the right: direct development comes in two shapes, budding where the precursor persists, as neural crest delaminating from the neural tube, and transformation where the precursor becomes the product. One relation covers both; budding is direct development minus transformation. RO's present wording of directly_develops_from forbids the budding case, which is one of the changes we would put to 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part_of is the hardest relation to read in time. The strong reading, the 2005 OBO relations reading, says a part exists only while some whole does, so the part's lifetime lies inside the whole's. A more cautious reading says x is part of y at all times both exist. On its own that says nothing about timing, since it is true of things that never coexist; adding that they do coexist at some point gives overlap. On the current data, containment finds 10 conflicts; overlap finds 2, and those 2 don't involve part_of. Class-level quantification makes the cautious reading very hard to state in OWL. On individuals it is a single fact about two lifetimes.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Proposal: use the cautious reading, overlap, as the constraint, so errors are errors under any reading. Then test containment edge by edge and report failures as warnings. Bounds that rely on containment are kept but labelled. On the current data five part_of edges fail containment. Three look like phases of one tissue recorded as parts, such as the otic pit and otic placode; two are side effects of errors elsewhere. This is where individuals help most: we can represent one tissue passing through named phases, which classes cannot express.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of the table is a claim: a structure, a predicate, a stage, and whether the onset is a definable point or progressive. Evidence is a verbatim passage from the staging reference, O'Rahilly and Müller 1987. A write-time check refuses any quote that isn't verbatim at the cited stage, any identifier whose label doesn't match, and any hedged passage recorded as unhedged. Only sourced rows are packaged for Uberon. Ends are harder than starts because many are naming decisions, not observations.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pieces exist for a larger agentic loop. Agents propose bounds; a sourcing skill finds verbatim evidence; write-time hooks reject anything that can't be verified; the timing network checks the result against everything else; and conflicts come back as ranked tasks for agents and curators. The reasoner's contribution is direction: it says which claim, or which Uberon relation, deserves attention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of concept takes the curated table, Uberon's relations and HsapDv's stage order; exports them as facts with SPARQL, each fact tagged with the axiom it came from; and reasons in Soufflé. The reasoning is three short files: semantics, one rule per relation; the network, which is transitive closure plus conflict and bound extraction; and read-only report views. 778 structures, about 1.1 million entailed orderings, around 15 seconds a pass. 13 hand-checked cases and 180 random networks are checked against an independent brute-force 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example queries, each a few lines of Datalog. Coexistence: never, certainly, or unknown, and unknown is honest. The optic vesicle ends and the optic cup starts in the same stage, so their order can't be settled from stage-level data. Derivatives walks develops_from backwards, which OWL can't. Presence during a stage separates certain from possible. And what must already exist when a structure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conflict. O'Rahilly records a marginal layer at stage 12 and a mantle zone at stage 13; both bounds are sourced. Uberon says the marginal layer develops from the mantle layer. Chained together, the start of stage 13 ends up strictly before itself. The system reports this as the two bounds plus the one Uberon axiom joining them, then withholds the axioms involved and reruns, so the remaining bounds come from a consistent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run on real data. One inconsistency in HsapDv itself. Ten distinct timing conflicts over 40 structures, seven of which point at Uberon's relations rather than our stage data. They fall into recognisable kinds: an edge that runs backwards, a relation that holds in chick or mouse but not human, part_of used for a later phase of the same tissue, and one problem in our own table. The four conflicts predicted before the Datalog was written were all found. A written report for Uberon editors exists, with axioms, evidence and suggested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groups of Uberon axioms in more detail. Each card gives the axiom under suspicion, with its provenance where Uberon records one, what it collides with, and a suggested fix. The strongest case is the first: both bounds are quoted from O'Rahilly, so the develops_from edge between them must be wrong. Two of the axioms came in from frog and zebrafish anatomy, two from a comparative anatomy textbook and one from a mouse phenotype definition. That fits a pattern: relations imported from other taxa, applied to human. A full written report with derivations is in docs/uberon-timing-conflicts.md.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ten conflicts, ranked by how much they rest on. Two hold even under the weakest reading of part_of, and one of those, the marginal and mantle layers, rests on two quoted bounds, which makes it the strongest single finding. Most of the rest depend on reading part_of as containment, or rest on unsourced bounds, so they are candidates rather than verdicts. Sourcing those bounds is exactly the agentic curation task from earlier. Two of the ten are our own: a plate end bound that is probably too early, and a point bound on a generic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Decide the part_of reading. Fix the endpoint convention for ends. Measure the network properly by hiding curated bounds and re-deriving them. Scale to EHDAA2, which is human and Carnegie-staged, so the semantics carry over unchanged. Connect the reasoner to agentic curation. And take the findings upstream: Uberon issues, the HsapDv fix, and a proposal for continuant-to-continuant timing relations in 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017520"/>
            <a:ext cx="10058400" cy="91440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3.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371600"/>
          </a:xfrm>
          <a:prstGeom prst="rect">
            <a:avLst/>
          </a:prstGeom>
          <a:noFill/>
          <a:ln/>
        </p:spPr>
        <p:txBody>
          <a:bodyPr wrap="square" rtlCol="0" anchor="b"/>
          <a:lstStyle/>
          <a:p>
            <a:pPr algn="l" indent="0" marL="0">
              <a:buNone/>
            </a:pPr>
            <a:r>
              <a:rPr lang="en-US" sz="4400" b="1" dirty="0">
                <a:solidFill>
                  <a:schemeClr val="bg1"/>
                </a:solidFill>
              </a:rPr>
              <a:t>When does anatomy exist?</a:t>
            </a:r>
            <a:endParaRPr lang="en-US" sz="4400" dirty="0"/>
          </a:p>
        </p:txBody>
      </p:sp>
      <p:sp>
        <p:nvSpPr>
          <p:cNvPr id="3" name="Text 0"/>
          <p:cNvSpPr/>
          <p:nvPr>
            <p:ph idx="101" type="body" hasCustomPrompt="1"/>
          </p:nvPr>
        </p:nvSpPr>
        <p:spPr>
          <a:xfrm>
            <a:off x="731520" y="3017520"/>
            <a:ext cx="10058400" cy="914400"/>
          </a:xfrm>
          <a:prstGeom prst="rect">
            <a:avLst/>
          </a:prstGeom>
          <a:noFill/>
          <a:ln/>
        </p:spPr>
        <p:txBody>
          <a:bodyPr wrap="square" rtlCol="0" anchor="t"/>
          <a:lstStyle/>
          <a:p>
            <a:pPr indent="0" marL="0">
              <a:buNone/>
            </a:pPr>
            <a:r>
              <a:rPr lang="en-US" sz="2200" dirty="0">
                <a:solidFill>
                  <a:schemeClr val="accent5"/>
                </a:solidFill>
              </a:rPr>
              <a:t>Reasoning about developmental timing with an atlas of idealised individuals</a:t>
            </a:r>
            <a:endParaRPr lang="en-US" sz="2200" dirty="0"/>
          </a:p>
        </p:txBody>
      </p:sp>
      <p:sp>
        <p:nvSpPr>
          <p:cNvPr id="4" name="text-1"/>
          <p:cNvSpPr txBox="1"/>
          <p:nvPr/>
        </p:nvSpPr>
        <p:spPr>
          <a:xfrm>
            <a:off x="731520" y="4069080"/>
            <a:ext cx="8229600" cy="365760"/>
          </a:xfrm>
          <a:prstGeom prst="rect">
            <a:avLst/>
          </a:prstGeom>
          <a:noFill/>
          <a:ln/>
        </p:spPr>
        <p:txBody>
          <a:bodyPr wrap="square" lIns="0" tIns="0" rIns="0" bIns="0" rtlCol="0" anchor="t"/>
          <a:lstStyle/>
          <a:p>
            <a:pPr indent="0" marL="0">
              <a:buNone/>
            </a:pPr>
            <a:r>
              <a:rPr lang="en-US" sz="1600" dirty="0">
                <a:solidFill>
                  <a:schemeClr val="accent4"/>
                </a:solidFill>
              </a:rPr>
              <a:t>taxon-stage-axioms  ·  proof of concept  ·  October 2026</a:t>
            </a:r>
            <a:endParaRPr lang="en-US" sz="1600" dirty="0"/>
          </a:p>
        </p:txBody>
      </p:sp>
      <p:sp>
        <p:nvSpPr>
          <p:cNvPr id="5" name="bar-2"/>
          <p:cNvSpPr txBox="1"/>
          <p:nvPr/>
        </p:nvSpPr>
        <p:spPr>
          <a:xfrm>
            <a:off x="6057900" y="4617720"/>
            <a:ext cx="5440680" cy="274320"/>
          </a:xfrm>
          <a:prstGeom prst="roundRect">
            <a:avLst>
              <a:gd name="adj" fmla="val 23333"/>
            </a:avLst>
          </a:prstGeom>
          <a:solidFill>
            <a:schemeClr val="accent1"/>
          </a:solidFill>
          <a:ln>
            <a:solidFill>
              <a:schemeClr val="accent1"/>
            </a:solidFill>
          </a:ln>
        </p:spPr>
        <p:txBody>
          <a:bodyPr wrap="square" lIns="0" tIns="101600" rIns="101600" bIns="0" rtlCol="0" anchor="ctr"/>
          <a:lstStyle/>
          <a:p>
            <a:pPr algn="l" indent="0" marL="0">
              <a:buNone/>
            </a:pPr>
            <a:r>
              <a:rPr lang="en-US" sz="1200" dirty="0">
                <a:solidFill>
                  <a:schemeClr val="bg1"/>
                </a:solidFill>
              </a:rPr>
              <a:t>arch 1</a:t>
            </a:r>
            <a:endParaRPr lang="en-US" sz="1200" dirty="0"/>
          </a:p>
        </p:txBody>
      </p:sp>
      <p:sp>
        <p:nvSpPr>
          <p:cNvPr id="6" name="bar-3"/>
          <p:cNvSpPr txBox="1"/>
          <p:nvPr/>
        </p:nvSpPr>
        <p:spPr>
          <a:xfrm>
            <a:off x="6057900" y="4983480"/>
            <a:ext cx="5440680" cy="274320"/>
          </a:xfrm>
          <a:prstGeom prst="roundRect">
            <a:avLst>
              <a:gd name="adj" fmla="val 23333"/>
            </a:avLst>
          </a:prstGeom>
          <a:solidFill>
            <a:schemeClr val="accent2"/>
          </a:solidFill>
          <a:ln>
            <a:solidFill>
              <a:schemeClr val="accent2"/>
            </a:solidFill>
          </a:ln>
        </p:spPr>
        <p:txBody>
          <a:bodyPr wrap="square" lIns="0" tIns="101600" rIns="101600" bIns="0" rtlCol="0" anchor="ctr"/>
          <a:lstStyle/>
          <a:p>
            <a:pPr algn="l" indent="0" marL="0">
              <a:buNone/>
            </a:pPr>
            <a:r>
              <a:rPr lang="en-US" sz="1200" dirty="0">
                <a:solidFill>
                  <a:schemeClr val="tx1"/>
                </a:solidFill>
              </a:rPr>
              <a:t>arch 2</a:t>
            </a:r>
            <a:endParaRPr lang="en-US" sz="1200" dirty="0"/>
          </a:p>
        </p:txBody>
      </p:sp>
      <p:sp>
        <p:nvSpPr>
          <p:cNvPr id="7" name="bar-4"/>
          <p:cNvSpPr txBox="1"/>
          <p:nvPr/>
        </p:nvSpPr>
        <p:spPr>
          <a:xfrm>
            <a:off x="6835140" y="5349240"/>
            <a:ext cx="4663440" cy="274320"/>
          </a:xfrm>
          <a:prstGeom prst="roundRect">
            <a:avLst>
              <a:gd name="adj" fmla="val 23333"/>
            </a:avLst>
          </a:prstGeom>
          <a:solidFill>
            <a:schemeClr val="accent1"/>
          </a:solidFill>
          <a:ln>
            <a:solidFill>
              <a:schemeClr val="accent1"/>
            </a:solidFill>
          </a:ln>
        </p:spPr>
        <p:txBody>
          <a:bodyPr wrap="square" lIns="0" tIns="101600" rIns="101600" bIns="0" rtlCol="0" anchor="ctr"/>
          <a:lstStyle/>
          <a:p>
            <a:pPr algn="l" indent="0" marL="0">
              <a:buNone/>
            </a:pPr>
            <a:r>
              <a:rPr lang="en-US" sz="1200" dirty="0">
                <a:solidFill>
                  <a:schemeClr val="bg1"/>
                </a:solidFill>
              </a:rPr>
              <a:t>arch 3</a:t>
            </a:r>
            <a:endParaRPr lang="en-US" sz="1200" dirty="0"/>
          </a:p>
        </p:txBody>
      </p:sp>
      <p:sp>
        <p:nvSpPr>
          <p:cNvPr id="8" name="bar-5"/>
          <p:cNvSpPr txBox="1"/>
          <p:nvPr/>
        </p:nvSpPr>
        <p:spPr>
          <a:xfrm>
            <a:off x="7612380" y="5715000"/>
            <a:ext cx="3886200" cy="274320"/>
          </a:xfrm>
          <a:prstGeom prst="roundRect">
            <a:avLst>
              <a:gd name="adj" fmla="val 23333"/>
            </a:avLst>
          </a:prstGeom>
          <a:solidFill>
            <a:schemeClr val="accent2"/>
          </a:solidFill>
          <a:ln>
            <a:solidFill>
              <a:schemeClr val="accent2"/>
            </a:solidFill>
          </a:ln>
        </p:spPr>
        <p:txBody>
          <a:bodyPr wrap="square" lIns="0" tIns="101600" rIns="101600" bIns="0" rtlCol="0" anchor="ctr"/>
          <a:lstStyle/>
          <a:p>
            <a:pPr algn="l" indent="0" marL="0">
              <a:buNone/>
            </a:pPr>
            <a:r>
              <a:rPr lang="en-US" sz="1200" dirty="0">
                <a:solidFill>
                  <a:schemeClr val="tx1"/>
                </a:solidFill>
              </a:rPr>
              <a:t>arch 4</a:t>
            </a:r>
            <a:endParaRPr lang="en-US" sz="1200" dirty="0"/>
          </a:p>
        </p:txBody>
      </p:sp>
      <p:sp>
        <p:nvSpPr>
          <p:cNvPr id="9" name="bar-6"/>
          <p:cNvSpPr txBox="1"/>
          <p:nvPr/>
        </p:nvSpPr>
        <p:spPr>
          <a:xfrm>
            <a:off x="7612380" y="6080760"/>
            <a:ext cx="3886200" cy="274320"/>
          </a:xfrm>
          <a:prstGeom prst="roundRect">
            <a:avLst>
              <a:gd name="adj" fmla="val 23333"/>
            </a:avLst>
          </a:prstGeom>
          <a:solidFill>
            <a:schemeClr val="accent1"/>
          </a:solidFill>
          <a:ln>
            <a:solidFill>
              <a:schemeClr val="accent1"/>
            </a:solidFill>
          </a:ln>
        </p:spPr>
        <p:txBody>
          <a:bodyPr wrap="square" lIns="0" tIns="101600" rIns="101600" bIns="0" rtlCol="0" anchor="ctr"/>
          <a:lstStyle/>
          <a:p>
            <a:pPr algn="l" indent="0" marL="0">
              <a:buNone/>
            </a:pPr>
            <a:r>
              <a:rPr lang="en-US" sz="1200" dirty="0">
                <a:solidFill>
                  <a:schemeClr val="bg1"/>
                </a:solidFill>
              </a:rPr>
              <a:t>arch 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Two kinds of knowledge that never meet</a:t>
            </a:r>
            <a:endParaRPr lang="en-US" sz="3000" dirty="0"/>
          </a:p>
        </p:txBody>
      </p:sp>
      <p:sp>
        <p:nvSpPr>
          <p:cNvPr id="3" name="text-7"/>
          <p:cNvSpPr txBox="1"/>
          <p:nvPr/>
        </p:nvSpPr>
        <p:spPr>
          <a:xfrm>
            <a:off x="548640" y="132588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Uberon: what develops from what</a:t>
            </a:r>
            <a:endParaRPr lang="en-US" sz="1800" dirty="0"/>
          </a:p>
        </p:txBody>
      </p:sp>
      <p:sp>
        <p:nvSpPr>
          <p:cNvPr id="4" name="node-8"/>
          <p:cNvSpPr txBox="1"/>
          <p:nvPr/>
        </p:nvSpPr>
        <p:spPr>
          <a:xfrm>
            <a:off x="548640" y="1828800"/>
            <a:ext cx="2103120" cy="566928"/>
          </a:xfrm>
          <a:prstGeom prst="roundRect">
            <a:avLst>
              <a:gd name="adj" fmla="val 16129"/>
            </a:avLst>
          </a:prstGeom>
          <a:solidFill>
            <a:schemeClr val="bg2"/>
          </a:solidFill>
          <a:ln w="15875">
            <a:solidFill>
              <a:schemeClr val="accent1"/>
            </a:solidFill>
          </a:ln>
        </p:spPr>
        <p:txBody>
          <a:bodyPr wrap="square" rtlCol="0" anchor="ctr"/>
          <a:lstStyle/>
          <a:p>
            <a:pPr algn="ctr" indent="0" marL="0">
              <a:buNone/>
            </a:pPr>
            <a:r>
              <a:rPr lang="en-US" sz="1400" dirty="0">
                <a:solidFill>
                  <a:schemeClr val="tx1"/>
                </a:solidFill>
              </a:rPr>
              <a:t>intermediate mesoderm</a:t>
            </a:r>
            <a:endParaRPr lang="en-US" sz="1400" dirty="0"/>
          </a:p>
        </p:txBody>
      </p:sp>
      <p:sp>
        <p:nvSpPr>
          <p:cNvPr id="5" name="node-9"/>
          <p:cNvSpPr txBox="1"/>
          <p:nvPr/>
        </p:nvSpPr>
        <p:spPr>
          <a:xfrm>
            <a:off x="3154680" y="1828800"/>
            <a:ext cx="2103120" cy="566928"/>
          </a:xfrm>
          <a:prstGeom prst="roundRect">
            <a:avLst>
              <a:gd name="adj" fmla="val 16129"/>
            </a:avLst>
          </a:prstGeom>
          <a:solidFill>
            <a:schemeClr val="bg2"/>
          </a:solidFill>
          <a:ln w="15875">
            <a:solidFill>
              <a:schemeClr val="accent1"/>
            </a:solidFill>
          </a:ln>
        </p:spPr>
        <p:txBody>
          <a:bodyPr wrap="square" rtlCol="0" anchor="ctr"/>
          <a:lstStyle/>
          <a:p>
            <a:pPr algn="ctr" indent="0" marL="0">
              <a:buNone/>
            </a:pPr>
            <a:r>
              <a:rPr lang="en-US" sz="1400" dirty="0">
                <a:solidFill>
                  <a:schemeClr val="tx1"/>
                </a:solidFill>
              </a:rPr>
              <a:t>metanephric mesenchyme</a:t>
            </a:r>
            <a:endParaRPr lang="en-US" sz="1400" dirty="0"/>
          </a:p>
        </p:txBody>
      </p:sp>
      <p:sp>
        <p:nvSpPr>
          <p:cNvPr id="6" name="node-10"/>
          <p:cNvSpPr txBox="1"/>
          <p:nvPr/>
        </p:nvSpPr>
        <p:spPr>
          <a:xfrm>
            <a:off x="5760720" y="1828800"/>
            <a:ext cx="2103120" cy="566928"/>
          </a:xfrm>
          <a:prstGeom prst="roundRect">
            <a:avLst>
              <a:gd name="adj" fmla="val 16129"/>
            </a:avLst>
          </a:prstGeom>
          <a:solidFill>
            <a:schemeClr val="bg2"/>
          </a:solidFill>
          <a:ln w="15875">
            <a:solidFill>
              <a:schemeClr val="accent1"/>
            </a:solidFill>
          </a:ln>
        </p:spPr>
        <p:txBody>
          <a:bodyPr wrap="square" rtlCol="0" anchor="ctr"/>
          <a:lstStyle/>
          <a:p>
            <a:pPr algn="ctr" indent="0" marL="0">
              <a:buNone/>
            </a:pPr>
            <a:r>
              <a:rPr lang="en-US" sz="1400" dirty="0">
                <a:solidFill>
                  <a:schemeClr val="tx1"/>
                </a:solidFill>
              </a:rPr>
              <a:t>metanephros</a:t>
            </a:r>
            <a:endParaRPr lang="en-US" sz="1400" dirty="0"/>
          </a:p>
        </p:txBody>
      </p:sp>
      <p:sp>
        <p:nvSpPr>
          <p:cNvPr id="7" name="arrow-11"/>
          <p:cNvSpPr/>
          <p:nvPr/>
        </p:nvSpPr>
        <p:spPr>
          <a:xfrm flipH="1">
            <a:off x="2651760" y="2112264"/>
            <a:ext cx="502920" cy="914"/>
          </a:xfrm>
          <a:prstGeom prst="line">
            <a:avLst/>
          </a:prstGeom>
          <a:noFill/>
          <a:ln w="22225">
            <a:solidFill>
              <a:schemeClr val="accent1"/>
            </a:solidFill>
            <a:prstDash val="solid"/>
            <a:tailEnd type="triangle"/>
          </a:ln>
        </p:spPr>
      </p:sp>
      <p:sp>
        <p:nvSpPr>
          <p:cNvPr id="8" name="arrow-12"/>
          <p:cNvSpPr/>
          <p:nvPr/>
        </p:nvSpPr>
        <p:spPr>
          <a:xfrm flipH="1">
            <a:off x="5257800" y="2112264"/>
            <a:ext cx="502920" cy="914"/>
          </a:xfrm>
          <a:prstGeom prst="line">
            <a:avLst/>
          </a:prstGeom>
          <a:noFill/>
          <a:ln w="22225">
            <a:solidFill>
              <a:schemeClr val="accent1"/>
            </a:solidFill>
            <a:prstDash val="solid"/>
            <a:tailEnd type="triangle"/>
          </a:ln>
        </p:spPr>
      </p:sp>
      <p:sp>
        <p:nvSpPr>
          <p:cNvPr id="9" name="text-13"/>
          <p:cNvSpPr txBox="1"/>
          <p:nvPr/>
        </p:nvSpPr>
        <p:spPr>
          <a:xfrm>
            <a:off x="2377440" y="2487168"/>
            <a:ext cx="1188720" cy="274320"/>
          </a:xfrm>
          <a:prstGeom prst="rect">
            <a:avLst/>
          </a:prstGeom>
          <a:noFill/>
          <a:ln/>
        </p:spPr>
        <p:txBody>
          <a:bodyPr wrap="square" lIns="0" tIns="0" rIns="0" bIns="0" rtlCol="0" anchor="t"/>
          <a:lstStyle/>
          <a:p>
            <a:pPr algn="ctr" indent="0" marL="0">
              <a:buNone/>
            </a:pPr>
            <a:r>
              <a:rPr lang="en-US" sz="1200" dirty="0">
                <a:solidFill>
                  <a:schemeClr val="accent6"/>
                </a:solidFill>
              </a:rPr>
              <a:t>develops from</a:t>
            </a:r>
            <a:endParaRPr lang="en-US" sz="1200" dirty="0"/>
          </a:p>
        </p:txBody>
      </p:sp>
      <p:sp>
        <p:nvSpPr>
          <p:cNvPr id="10" name="text-14"/>
          <p:cNvSpPr txBox="1"/>
          <p:nvPr/>
        </p:nvSpPr>
        <p:spPr>
          <a:xfrm>
            <a:off x="4983480" y="2487168"/>
            <a:ext cx="1188720" cy="274320"/>
          </a:xfrm>
          <a:prstGeom prst="rect">
            <a:avLst/>
          </a:prstGeom>
          <a:noFill/>
          <a:ln/>
        </p:spPr>
        <p:txBody>
          <a:bodyPr wrap="square" lIns="0" tIns="0" rIns="0" bIns="0" rtlCol="0" anchor="t"/>
          <a:lstStyle/>
          <a:p>
            <a:pPr algn="ctr" indent="0" marL="0">
              <a:buNone/>
            </a:pPr>
            <a:r>
              <a:rPr lang="en-US" sz="1200" dirty="0">
                <a:solidFill>
                  <a:schemeClr val="accent6"/>
                </a:solidFill>
              </a:rPr>
              <a:t>develops from</a:t>
            </a:r>
            <a:endParaRPr lang="en-US" sz="1200" dirty="0"/>
          </a:p>
        </p:txBody>
      </p:sp>
      <p:sp>
        <p:nvSpPr>
          <p:cNvPr id="11" name="text-15"/>
          <p:cNvSpPr txBox="1"/>
          <p:nvPr/>
        </p:nvSpPr>
        <p:spPr>
          <a:xfrm>
            <a:off x="3566160" y="2880360"/>
            <a:ext cx="822960" cy="731520"/>
          </a:xfrm>
          <a:prstGeom prst="rect">
            <a:avLst/>
          </a:prstGeom>
          <a:noFill/>
          <a:ln/>
        </p:spPr>
        <p:txBody>
          <a:bodyPr wrap="square" lIns="0" tIns="0" rIns="0" bIns="0" rtlCol="0" anchor="t"/>
          <a:lstStyle/>
          <a:p>
            <a:pPr algn="ctr" indent="0" marL="0">
              <a:buNone/>
            </a:pPr>
            <a:r>
              <a:rPr lang="en-US" sz="4000" b="1" dirty="0">
                <a:solidFill>
                  <a:schemeClr val="accent3"/>
                </a:solidFill>
              </a:rPr>
              <a:t>?</a:t>
            </a:r>
            <a:endParaRPr lang="en-US" sz="4000" dirty="0"/>
          </a:p>
        </p:txBody>
      </p:sp>
      <p:sp>
        <p:nvSpPr>
          <p:cNvPr id="12" name="text-16"/>
          <p:cNvSpPr txBox="1"/>
          <p:nvPr/>
        </p:nvSpPr>
        <p:spPr>
          <a:xfrm>
            <a:off x="4389120" y="3090672"/>
            <a:ext cx="3200400" cy="365760"/>
          </a:xfrm>
          <a:prstGeom prst="rect">
            <a:avLst/>
          </a:prstGeom>
          <a:noFill/>
          <a:ln/>
        </p:spPr>
        <p:txBody>
          <a:bodyPr wrap="square" lIns="0" tIns="0" rIns="0" bIns="0" rtlCol="0" anchor="t"/>
          <a:lstStyle/>
          <a:p>
            <a:pPr indent="0" marL="0">
              <a:buNone/>
            </a:pPr>
            <a:r>
              <a:rPr lang="en-US" sz="1400" i="1" dirty="0">
                <a:solidFill>
                  <a:schemeClr val="accent3"/>
                </a:solidFill>
              </a:rPr>
              <a:t>nothing relates the two</a:t>
            </a:r>
            <a:endParaRPr lang="en-US" sz="1400" dirty="0"/>
          </a:p>
        </p:txBody>
      </p:sp>
      <p:sp>
        <p:nvSpPr>
          <p:cNvPr id="13" name="text-17"/>
          <p:cNvSpPr txBox="1"/>
          <p:nvPr/>
        </p:nvSpPr>
        <p:spPr>
          <a:xfrm>
            <a:off x="548640" y="370332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Curated table: when each exists, in Carnegie stages</a:t>
            </a:r>
            <a:endParaRPr lang="en-US" sz="1800" dirty="0"/>
          </a:p>
        </p:txBody>
      </p:sp>
      <p:sp>
        <p:nvSpPr>
          <p:cNvPr id="14" name="stage-18"/>
          <p:cNvSpPr txBox="1"/>
          <p:nvPr/>
        </p:nvSpPr>
        <p:spPr>
          <a:xfrm>
            <a:off x="548640" y="4160520"/>
            <a:ext cx="91440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CS9</a:t>
            </a:r>
            <a:endParaRPr lang="en-US" sz="1200" dirty="0"/>
          </a:p>
        </p:txBody>
      </p:sp>
      <p:sp>
        <p:nvSpPr>
          <p:cNvPr id="15" name="stage-19"/>
          <p:cNvSpPr txBox="1"/>
          <p:nvPr/>
        </p:nvSpPr>
        <p:spPr>
          <a:xfrm>
            <a:off x="1463040" y="4160520"/>
            <a:ext cx="91440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CS10</a:t>
            </a:r>
            <a:endParaRPr lang="en-US" sz="1200" dirty="0"/>
          </a:p>
        </p:txBody>
      </p:sp>
      <p:sp>
        <p:nvSpPr>
          <p:cNvPr id="16" name="stage-20"/>
          <p:cNvSpPr txBox="1"/>
          <p:nvPr/>
        </p:nvSpPr>
        <p:spPr>
          <a:xfrm>
            <a:off x="2377440" y="4160520"/>
            <a:ext cx="91440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CS11</a:t>
            </a:r>
            <a:endParaRPr lang="en-US" sz="1200" dirty="0"/>
          </a:p>
        </p:txBody>
      </p:sp>
      <p:sp>
        <p:nvSpPr>
          <p:cNvPr id="17" name="stage-21"/>
          <p:cNvSpPr txBox="1"/>
          <p:nvPr/>
        </p:nvSpPr>
        <p:spPr>
          <a:xfrm>
            <a:off x="3291840" y="4160520"/>
            <a:ext cx="91440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CS12</a:t>
            </a:r>
            <a:endParaRPr lang="en-US" sz="1200" dirty="0"/>
          </a:p>
        </p:txBody>
      </p:sp>
      <p:sp>
        <p:nvSpPr>
          <p:cNvPr id="18" name="stage-22"/>
          <p:cNvSpPr txBox="1"/>
          <p:nvPr/>
        </p:nvSpPr>
        <p:spPr>
          <a:xfrm>
            <a:off x="4206240" y="4160520"/>
            <a:ext cx="91440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CS13</a:t>
            </a:r>
            <a:endParaRPr lang="en-US" sz="1200" dirty="0"/>
          </a:p>
        </p:txBody>
      </p:sp>
      <p:sp>
        <p:nvSpPr>
          <p:cNvPr id="19" name="stage-23"/>
          <p:cNvSpPr txBox="1"/>
          <p:nvPr/>
        </p:nvSpPr>
        <p:spPr>
          <a:xfrm>
            <a:off x="5120640" y="4160520"/>
            <a:ext cx="91440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CS14</a:t>
            </a:r>
            <a:endParaRPr lang="en-US" sz="1200" dirty="0"/>
          </a:p>
        </p:txBody>
      </p:sp>
      <p:sp>
        <p:nvSpPr>
          <p:cNvPr id="20" name="stage-24"/>
          <p:cNvSpPr txBox="1"/>
          <p:nvPr/>
        </p:nvSpPr>
        <p:spPr>
          <a:xfrm>
            <a:off x="6035040" y="4160520"/>
            <a:ext cx="91440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CS15</a:t>
            </a:r>
            <a:endParaRPr lang="en-US" sz="1200" dirty="0"/>
          </a:p>
        </p:txBody>
      </p:sp>
      <p:sp>
        <p:nvSpPr>
          <p:cNvPr id="21" name="stage-25"/>
          <p:cNvSpPr txBox="1"/>
          <p:nvPr/>
        </p:nvSpPr>
        <p:spPr>
          <a:xfrm>
            <a:off x="6949440" y="4160520"/>
            <a:ext cx="91440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CS16</a:t>
            </a:r>
            <a:endParaRPr lang="en-US" sz="1200" dirty="0"/>
          </a:p>
        </p:txBody>
      </p:sp>
      <p:sp>
        <p:nvSpPr>
          <p:cNvPr id="22" name="bar-26"/>
          <p:cNvSpPr txBox="1"/>
          <p:nvPr/>
        </p:nvSpPr>
        <p:spPr>
          <a:xfrm>
            <a:off x="914400" y="4663440"/>
            <a:ext cx="6492240" cy="329184"/>
          </a:xfrm>
          <a:prstGeom prst="roundRect">
            <a:avLst>
              <a:gd name="adj" fmla="val 19444"/>
            </a:avLst>
          </a:prstGeom>
          <a:solidFill>
            <a:schemeClr val="accent1"/>
          </a:solidFill>
          <a:ln>
            <a:solidFill>
              <a:schemeClr val="accent1"/>
            </a:solidFill>
          </a:ln>
        </p:spPr>
        <p:txBody>
          <a:bodyPr wrap="square" lIns="0" tIns="101600" rIns="101600" bIns="0" rtlCol="0" anchor="ctr"/>
          <a:lstStyle/>
          <a:p>
            <a:pPr algn="l" indent="0" marL="0">
              <a:buNone/>
            </a:pPr>
            <a:r>
              <a:rPr lang="en-US" sz="1300" dirty="0">
                <a:solidFill>
                  <a:schemeClr val="bg1"/>
                </a:solidFill>
              </a:rPr>
              <a:t>intermediate mesoderm  CS9 – CS16</a:t>
            </a:r>
            <a:endParaRPr lang="en-US" sz="1300" dirty="0"/>
          </a:p>
        </p:txBody>
      </p:sp>
      <p:sp>
        <p:nvSpPr>
          <p:cNvPr id="23" name="bar-27"/>
          <p:cNvSpPr txBox="1"/>
          <p:nvPr/>
        </p:nvSpPr>
        <p:spPr>
          <a:xfrm>
            <a:off x="4572000" y="5074920"/>
            <a:ext cx="3291840" cy="329184"/>
          </a:xfrm>
          <a:prstGeom prst="roundRect">
            <a:avLst>
              <a:gd name="adj" fmla="val 19444"/>
            </a:avLst>
          </a:prstGeom>
          <a:solidFill>
            <a:schemeClr val="accent2"/>
          </a:solidFill>
          <a:ln>
            <a:solidFill>
              <a:schemeClr val="accent2"/>
            </a:solidFill>
          </a:ln>
        </p:spPr>
        <p:txBody>
          <a:bodyPr wrap="square" lIns="0" tIns="101600" rIns="101600" bIns="0" rtlCol="0" anchor="ctr"/>
          <a:lstStyle/>
          <a:p>
            <a:pPr algn="l" indent="0" marL="0">
              <a:buNone/>
            </a:pPr>
            <a:r>
              <a:rPr lang="en-US" sz="1300" dirty="0">
                <a:solidFill>
                  <a:schemeClr val="tx1"/>
                </a:solidFill>
              </a:rPr>
              <a:t>metanephric mesenchyme  from CS13</a:t>
            </a:r>
            <a:endParaRPr lang="en-US" sz="1300" dirty="0"/>
          </a:p>
        </p:txBody>
      </p:sp>
      <p:sp>
        <p:nvSpPr>
          <p:cNvPr id="24" name="bar-28"/>
          <p:cNvSpPr txBox="1"/>
          <p:nvPr/>
        </p:nvSpPr>
        <p:spPr>
          <a:xfrm>
            <a:off x="5486400" y="5486400"/>
            <a:ext cx="2377440" cy="329184"/>
          </a:xfrm>
          <a:prstGeom prst="roundRect">
            <a:avLst>
              <a:gd name="adj" fmla="val 19444"/>
            </a:avLst>
          </a:prstGeom>
          <a:solidFill>
            <a:schemeClr val="accent6"/>
          </a:solidFill>
          <a:ln>
            <a:solidFill>
              <a:schemeClr val="accent6"/>
            </a:solidFill>
          </a:ln>
        </p:spPr>
        <p:txBody>
          <a:bodyPr wrap="square" lIns="0" tIns="101600" rIns="101600" bIns="0" rtlCol="0" anchor="ctr"/>
          <a:lstStyle/>
          <a:p>
            <a:pPr algn="l" indent="0" marL="0">
              <a:buNone/>
            </a:pPr>
            <a:r>
              <a:rPr lang="en-US" sz="1300" dirty="0">
                <a:solidFill>
                  <a:schemeClr val="bg1"/>
                </a:solidFill>
              </a:rPr>
              <a:t>metanephros  from CS14</a:t>
            </a:r>
            <a:endParaRPr lang="en-US" sz="1300" dirty="0"/>
          </a:p>
        </p:txBody>
      </p:sp>
      <p:sp>
        <p:nvSpPr>
          <p:cNvPr id="25" name="box-29"/>
          <p:cNvSpPr/>
          <p:nvPr/>
        </p:nvSpPr>
        <p:spPr>
          <a:xfrm>
            <a:off x="8321040" y="1325880"/>
            <a:ext cx="3337560" cy="4800600"/>
          </a:xfrm>
          <a:prstGeom prst="roundRect">
            <a:avLst>
              <a:gd name="adj" fmla="val 2192"/>
            </a:avLst>
          </a:prstGeom>
          <a:solidFill>
            <a:schemeClr val="bg2"/>
          </a:solidFill>
          <a:ln w="12700">
            <a:solidFill>
              <a:schemeClr val="bg2"/>
            </a:solidFill>
            <a:prstDash val="solid"/>
          </a:ln>
        </p:spPr>
      </p:sp>
      <p:sp>
        <p:nvSpPr>
          <p:cNvPr id="26" name="text-30"/>
          <p:cNvSpPr txBox="1"/>
          <p:nvPr/>
        </p:nvSpPr>
        <p:spPr>
          <a:xfrm>
            <a:off x="8549640" y="1508760"/>
            <a:ext cx="2926080" cy="685800"/>
          </a:xfrm>
          <a:prstGeom prst="rect">
            <a:avLst/>
          </a:prstGeom>
          <a:noFill/>
          <a:ln/>
        </p:spPr>
        <p:txBody>
          <a:bodyPr wrap="square" lIns="0" tIns="0" rIns="0" bIns="0" rtlCol="0" anchor="t"/>
          <a:lstStyle/>
          <a:p>
            <a:pPr indent="0" marL="0">
              <a:buNone/>
            </a:pPr>
            <a:r>
              <a:rPr lang="en-US" sz="1800" b="1" dirty="0">
                <a:solidFill>
                  <a:schemeClr val="tx1"/>
                </a:solidFill>
              </a:rPr>
              <a:t>Questions we cannot answer today</a:t>
            </a:r>
            <a:endParaRPr lang="en-US" sz="1800" dirty="0"/>
          </a:p>
        </p:txBody>
      </p:sp>
      <p:sp>
        <p:nvSpPr>
          <p:cNvPr id="27" name="dot-31"/>
          <p:cNvSpPr/>
          <p:nvPr/>
        </p:nvSpPr>
        <p:spPr>
          <a:xfrm>
            <a:off x="8549640" y="2377440"/>
            <a:ext cx="384048" cy="384048"/>
          </a:xfrm>
          <a:prstGeom prst="ellipse">
            <a:avLst/>
          </a:prstGeom>
          <a:solidFill>
            <a:schemeClr val="accent1"/>
          </a:solidFill>
          <a:ln w="12700">
            <a:solidFill>
              <a:schemeClr val="accent1"/>
            </a:solidFill>
            <a:prstDash val="solid"/>
          </a:ln>
        </p:spPr>
      </p:sp>
      <p:sp>
        <p:nvSpPr>
          <p:cNvPr id="28" name="text-32"/>
          <p:cNvSpPr txBox="1"/>
          <p:nvPr/>
        </p:nvSpPr>
        <p:spPr>
          <a:xfrm>
            <a:off x="8549640" y="2377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9" name="text-33"/>
          <p:cNvSpPr txBox="1"/>
          <p:nvPr/>
        </p:nvSpPr>
        <p:spPr>
          <a:xfrm>
            <a:off x="9098280" y="2331720"/>
            <a:ext cx="2377440" cy="1005840"/>
          </a:xfrm>
          <a:prstGeom prst="rect">
            <a:avLst/>
          </a:prstGeom>
          <a:noFill/>
          <a:ln/>
        </p:spPr>
        <p:txBody>
          <a:bodyPr wrap="square" lIns="0" tIns="0" rIns="0" bIns="0" rtlCol="0" anchor="t"/>
          <a:lstStyle/>
          <a:p>
            <a:pPr indent="0" marL="0">
              <a:buNone/>
            </a:pPr>
            <a:r>
              <a:rPr lang="en-US" sz="1500" dirty="0">
                <a:solidFill>
                  <a:schemeClr val="tx1"/>
                </a:solidFill>
              </a:rPr>
              <a:t>Can a structure start before the thing it develops from?</a:t>
            </a:r>
            <a:endParaRPr lang="en-US" sz="1500" dirty="0"/>
          </a:p>
        </p:txBody>
      </p:sp>
      <p:sp>
        <p:nvSpPr>
          <p:cNvPr id="30" name="dot-34"/>
          <p:cNvSpPr/>
          <p:nvPr/>
        </p:nvSpPr>
        <p:spPr>
          <a:xfrm>
            <a:off x="8549640" y="3566160"/>
            <a:ext cx="384048" cy="384048"/>
          </a:xfrm>
          <a:prstGeom prst="ellipse">
            <a:avLst/>
          </a:prstGeom>
          <a:solidFill>
            <a:schemeClr val="accent1"/>
          </a:solidFill>
          <a:ln w="12700">
            <a:solidFill>
              <a:schemeClr val="accent1"/>
            </a:solidFill>
            <a:prstDash val="solid"/>
          </a:ln>
        </p:spPr>
      </p:sp>
      <p:sp>
        <p:nvSpPr>
          <p:cNvPr id="31" name="text-35"/>
          <p:cNvSpPr txBox="1"/>
          <p:nvPr/>
        </p:nvSpPr>
        <p:spPr>
          <a:xfrm>
            <a:off x="8549640" y="3566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2" name="text-36"/>
          <p:cNvSpPr txBox="1"/>
          <p:nvPr/>
        </p:nvSpPr>
        <p:spPr>
          <a:xfrm>
            <a:off x="9098280" y="3520440"/>
            <a:ext cx="2377440" cy="1005840"/>
          </a:xfrm>
          <a:prstGeom prst="rect">
            <a:avLst/>
          </a:prstGeom>
          <a:noFill/>
          <a:ln/>
        </p:spPr>
        <p:txBody>
          <a:bodyPr wrap="square" lIns="0" tIns="0" rIns="0" bIns="0" rtlCol="0" anchor="t"/>
          <a:lstStyle/>
          <a:p>
            <a:pPr indent="0" marL="0">
              <a:buNone/>
            </a:pPr>
            <a:r>
              <a:rPr lang="en-US" sz="1500" dirty="0">
                <a:solidFill>
                  <a:schemeClr val="tx1"/>
                </a:solidFill>
              </a:rPr>
              <a:t>A structure has no curated stages. What follows from its precursors?</a:t>
            </a:r>
            <a:endParaRPr lang="en-US" sz="1500" dirty="0"/>
          </a:p>
        </p:txBody>
      </p:sp>
      <p:sp>
        <p:nvSpPr>
          <p:cNvPr id="33" name="dot-37"/>
          <p:cNvSpPr/>
          <p:nvPr/>
        </p:nvSpPr>
        <p:spPr>
          <a:xfrm>
            <a:off x="8549640" y="4754880"/>
            <a:ext cx="384048" cy="384048"/>
          </a:xfrm>
          <a:prstGeom prst="ellipse">
            <a:avLst/>
          </a:prstGeom>
          <a:solidFill>
            <a:schemeClr val="accent1"/>
          </a:solidFill>
          <a:ln w="12700">
            <a:solidFill>
              <a:schemeClr val="accent1"/>
            </a:solidFill>
            <a:prstDash val="solid"/>
          </a:ln>
        </p:spPr>
      </p:sp>
      <p:sp>
        <p:nvSpPr>
          <p:cNvPr id="34" name="text-38"/>
          <p:cNvSpPr txBox="1"/>
          <p:nvPr/>
        </p:nvSpPr>
        <p:spPr>
          <a:xfrm>
            <a:off x="8549640" y="4754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5" name="text-39"/>
          <p:cNvSpPr txBox="1"/>
          <p:nvPr/>
        </p:nvSpPr>
        <p:spPr>
          <a:xfrm>
            <a:off x="9098280" y="4709160"/>
            <a:ext cx="2377440" cy="1005840"/>
          </a:xfrm>
          <a:prstGeom prst="rect">
            <a:avLst/>
          </a:prstGeom>
          <a:noFill/>
          <a:ln/>
        </p:spPr>
        <p:txBody>
          <a:bodyPr wrap="square" lIns="0" tIns="0" rIns="0" bIns="0" rtlCol="0" anchor="t"/>
          <a:lstStyle/>
          <a:p>
            <a:pPr indent="0" marL="0">
              <a:buNone/>
            </a:pPr>
            <a:r>
              <a:rPr lang="en-US" sz="1500" dirty="0">
                <a:solidFill>
                  <a:schemeClr val="tx1"/>
                </a:solidFill>
              </a:rPr>
              <a:t>Do two structures ever exist at the same time?</a:t>
            </a:r>
            <a:endParaRPr lang="en-US" sz="15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From ontology classes to an atlas of one idealised embryo</a:t>
            </a:r>
            <a:endParaRPr lang="en-US" sz="3000" dirty="0"/>
          </a:p>
        </p:txBody>
      </p:sp>
      <p:sp>
        <p:nvSpPr>
          <p:cNvPr id="3" name="box-40"/>
          <p:cNvSpPr/>
          <p:nvPr/>
        </p:nvSpPr>
        <p:spPr>
          <a:xfrm>
            <a:off x="548640" y="1325880"/>
            <a:ext cx="4846320" cy="4800600"/>
          </a:xfrm>
          <a:prstGeom prst="roundRect">
            <a:avLst>
              <a:gd name="adj" fmla="val 1524"/>
            </a:avLst>
          </a:prstGeom>
          <a:solidFill>
            <a:schemeClr val="bg2"/>
          </a:solidFill>
          <a:ln w="12700">
            <a:solidFill>
              <a:schemeClr val="bg2"/>
            </a:solidFill>
            <a:prstDash val="solid"/>
          </a:ln>
        </p:spPr>
      </p:sp>
      <p:sp>
        <p:nvSpPr>
          <p:cNvPr id="4" name="text-41"/>
          <p:cNvSpPr txBox="1"/>
          <p:nvPr/>
        </p:nvSpPr>
        <p:spPr>
          <a:xfrm>
            <a:off x="822960" y="1508760"/>
            <a:ext cx="4389120" cy="411480"/>
          </a:xfrm>
          <a:prstGeom prst="rect">
            <a:avLst/>
          </a:prstGeom>
          <a:noFill/>
          <a:ln/>
        </p:spPr>
        <p:txBody>
          <a:bodyPr wrap="square" lIns="0" tIns="0" rIns="0" bIns="0" rtlCol="0" anchor="t"/>
          <a:lstStyle/>
          <a:p>
            <a:pPr indent="0" marL="0">
              <a:buNone/>
            </a:pPr>
            <a:r>
              <a:rPr lang="en-US" sz="2000" b="1" dirty="0">
                <a:solidFill>
                  <a:schemeClr val="accent1"/>
                </a:solidFill>
              </a:rPr>
              <a:t>An ontology class</a:t>
            </a:r>
            <a:endParaRPr lang="en-US" sz="2000" dirty="0"/>
          </a:p>
        </p:txBody>
      </p:sp>
      <p:sp>
        <p:nvSpPr>
          <p:cNvPr id="5" name="embryo-42"/>
          <p:cNvSpPr/>
          <p:nvPr/>
        </p:nvSpPr>
        <p:spPr>
          <a:xfrm>
            <a:off x="914400" y="2148840"/>
            <a:ext cx="868680" cy="640080"/>
          </a:xfrm>
          <a:prstGeom prst="ellipse">
            <a:avLst/>
          </a:prstGeom>
          <a:solidFill>
            <a:schemeClr val="bg1"/>
          </a:solidFill>
          <a:ln w="12700">
            <a:solidFill>
              <a:schemeClr val="accent4"/>
            </a:solidFill>
            <a:prstDash val="solid"/>
          </a:ln>
        </p:spPr>
      </p:sp>
      <p:sp>
        <p:nvSpPr>
          <p:cNvPr id="6" name="arch-43"/>
          <p:cNvSpPr/>
          <p:nvPr/>
        </p:nvSpPr>
        <p:spPr>
          <a:xfrm>
            <a:off x="1261872" y="2377440"/>
            <a:ext cx="182880" cy="182880"/>
          </a:xfrm>
          <a:prstGeom prst="ellipse">
            <a:avLst/>
          </a:prstGeom>
          <a:solidFill>
            <a:schemeClr val="accent2"/>
          </a:solidFill>
          <a:ln w="12700">
            <a:solidFill>
              <a:schemeClr val="accent2"/>
            </a:solidFill>
            <a:prstDash val="solid"/>
          </a:ln>
        </p:spPr>
      </p:sp>
      <p:sp>
        <p:nvSpPr>
          <p:cNvPr id="7" name="embryo-44"/>
          <p:cNvSpPr/>
          <p:nvPr/>
        </p:nvSpPr>
        <p:spPr>
          <a:xfrm>
            <a:off x="1993392" y="2148840"/>
            <a:ext cx="868680" cy="640080"/>
          </a:xfrm>
          <a:prstGeom prst="ellipse">
            <a:avLst/>
          </a:prstGeom>
          <a:solidFill>
            <a:schemeClr val="bg1"/>
          </a:solidFill>
          <a:ln w="12700">
            <a:solidFill>
              <a:schemeClr val="accent4"/>
            </a:solidFill>
            <a:prstDash val="solid"/>
          </a:ln>
        </p:spPr>
      </p:sp>
      <p:sp>
        <p:nvSpPr>
          <p:cNvPr id="8" name="arch-45"/>
          <p:cNvSpPr/>
          <p:nvPr/>
        </p:nvSpPr>
        <p:spPr>
          <a:xfrm>
            <a:off x="2340864" y="2377440"/>
            <a:ext cx="182880" cy="182880"/>
          </a:xfrm>
          <a:prstGeom prst="ellipse">
            <a:avLst/>
          </a:prstGeom>
          <a:solidFill>
            <a:schemeClr val="accent2"/>
          </a:solidFill>
          <a:ln w="12700">
            <a:solidFill>
              <a:schemeClr val="accent2"/>
            </a:solidFill>
            <a:prstDash val="solid"/>
          </a:ln>
        </p:spPr>
      </p:sp>
      <p:sp>
        <p:nvSpPr>
          <p:cNvPr id="9" name="embryo-46"/>
          <p:cNvSpPr/>
          <p:nvPr/>
        </p:nvSpPr>
        <p:spPr>
          <a:xfrm>
            <a:off x="3072384" y="2148840"/>
            <a:ext cx="868680" cy="640080"/>
          </a:xfrm>
          <a:prstGeom prst="ellipse">
            <a:avLst/>
          </a:prstGeom>
          <a:solidFill>
            <a:schemeClr val="bg1"/>
          </a:solidFill>
          <a:ln w="12700">
            <a:solidFill>
              <a:schemeClr val="accent4"/>
            </a:solidFill>
            <a:prstDash val="solid"/>
          </a:ln>
        </p:spPr>
      </p:sp>
      <p:sp>
        <p:nvSpPr>
          <p:cNvPr id="10" name="arch-47"/>
          <p:cNvSpPr/>
          <p:nvPr/>
        </p:nvSpPr>
        <p:spPr>
          <a:xfrm>
            <a:off x="3419856" y="2377440"/>
            <a:ext cx="182880" cy="182880"/>
          </a:xfrm>
          <a:prstGeom prst="ellipse">
            <a:avLst/>
          </a:prstGeom>
          <a:solidFill>
            <a:schemeClr val="accent2"/>
          </a:solidFill>
          <a:ln w="12700">
            <a:solidFill>
              <a:schemeClr val="accent2"/>
            </a:solidFill>
            <a:prstDash val="solid"/>
          </a:ln>
        </p:spPr>
      </p:sp>
      <p:sp>
        <p:nvSpPr>
          <p:cNvPr id="11" name="embryo-48"/>
          <p:cNvSpPr/>
          <p:nvPr/>
        </p:nvSpPr>
        <p:spPr>
          <a:xfrm>
            <a:off x="4151376" y="2148840"/>
            <a:ext cx="868680" cy="640080"/>
          </a:xfrm>
          <a:prstGeom prst="ellipse">
            <a:avLst/>
          </a:prstGeom>
          <a:solidFill>
            <a:schemeClr val="bg1"/>
          </a:solidFill>
          <a:ln w="12700">
            <a:solidFill>
              <a:schemeClr val="accent4"/>
            </a:solidFill>
            <a:prstDash val="solid"/>
          </a:ln>
        </p:spPr>
      </p:sp>
      <p:sp>
        <p:nvSpPr>
          <p:cNvPr id="12" name="arch-49"/>
          <p:cNvSpPr/>
          <p:nvPr/>
        </p:nvSpPr>
        <p:spPr>
          <a:xfrm>
            <a:off x="4498848" y="2377440"/>
            <a:ext cx="182880" cy="182880"/>
          </a:xfrm>
          <a:prstGeom prst="ellipse">
            <a:avLst/>
          </a:prstGeom>
          <a:solidFill>
            <a:schemeClr val="accent2"/>
          </a:solidFill>
          <a:ln w="12700">
            <a:solidFill>
              <a:schemeClr val="accent2"/>
            </a:solidFill>
            <a:prstDash val="solid"/>
          </a:ln>
        </p:spPr>
      </p:sp>
      <p:sp>
        <p:nvSpPr>
          <p:cNvPr id="13" name="embryo-50"/>
          <p:cNvSpPr/>
          <p:nvPr/>
        </p:nvSpPr>
        <p:spPr>
          <a:xfrm>
            <a:off x="914400" y="3017520"/>
            <a:ext cx="868680" cy="640080"/>
          </a:xfrm>
          <a:prstGeom prst="ellipse">
            <a:avLst/>
          </a:prstGeom>
          <a:solidFill>
            <a:schemeClr val="bg1"/>
          </a:solidFill>
          <a:ln w="12700">
            <a:solidFill>
              <a:schemeClr val="accent4"/>
            </a:solidFill>
            <a:prstDash val="solid"/>
          </a:ln>
        </p:spPr>
      </p:sp>
      <p:sp>
        <p:nvSpPr>
          <p:cNvPr id="14" name="arch-51"/>
          <p:cNvSpPr/>
          <p:nvPr/>
        </p:nvSpPr>
        <p:spPr>
          <a:xfrm>
            <a:off x="1261872" y="3246120"/>
            <a:ext cx="182880" cy="182880"/>
          </a:xfrm>
          <a:prstGeom prst="ellipse">
            <a:avLst/>
          </a:prstGeom>
          <a:solidFill>
            <a:schemeClr val="accent2"/>
          </a:solidFill>
          <a:ln w="12700">
            <a:solidFill>
              <a:schemeClr val="accent2"/>
            </a:solidFill>
            <a:prstDash val="solid"/>
          </a:ln>
        </p:spPr>
      </p:sp>
      <p:sp>
        <p:nvSpPr>
          <p:cNvPr id="15" name="embryo-52"/>
          <p:cNvSpPr/>
          <p:nvPr/>
        </p:nvSpPr>
        <p:spPr>
          <a:xfrm>
            <a:off x="1993392" y="3017520"/>
            <a:ext cx="868680" cy="640080"/>
          </a:xfrm>
          <a:prstGeom prst="ellipse">
            <a:avLst/>
          </a:prstGeom>
          <a:solidFill>
            <a:schemeClr val="bg1"/>
          </a:solidFill>
          <a:ln w="12700">
            <a:solidFill>
              <a:schemeClr val="accent4"/>
            </a:solidFill>
            <a:prstDash val="solid"/>
          </a:ln>
        </p:spPr>
      </p:sp>
      <p:sp>
        <p:nvSpPr>
          <p:cNvPr id="16" name="arch-53"/>
          <p:cNvSpPr/>
          <p:nvPr/>
        </p:nvSpPr>
        <p:spPr>
          <a:xfrm>
            <a:off x="2340864" y="3246120"/>
            <a:ext cx="182880" cy="182880"/>
          </a:xfrm>
          <a:prstGeom prst="ellipse">
            <a:avLst/>
          </a:prstGeom>
          <a:solidFill>
            <a:schemeClr val="accent2"/>
          </a:solidFill>
          <a:ln w="12700">
            <a:solidFill>
              <a:schemeClr val="accent2"/>
            </a:solidFill>
            <a:prstDash val="solid"/>
          </a:ln>
        </p:spPr>
      </p:sp>
      <p:sp>
        <p:nvSpPr>
          <p:cNvPr id="17" name="embryo-54"/>
          <p:cNvSpPr/>
          <p:nvPr/>
        </p:nvSpPr>
        <p:spPr>
          <a:xfrm>
            <a:off x="3072384" y="3017520"/>
            <a:ext cx="868680" cy="640080"/>
          </a:xfrm>
          <a:prstGeom prst="ellipse">
            <a:avLst/>
          </a:prstGeom>
          <a:solidFill>
            <a:schemeClr val="bg1"/>
          </a:solidFill>
          <a:ln w="12700">
            <a:solidFill>
              <a:schemeClr val="accent4"/>
            </a:solidFill>
            <a:prstDash val="solid"/>
          </a:ln>
        </p:spPr>
      </p:sp>
      <p:sp>
        <p:nvSpPr>
          <p:cNvPr id="18" name="arch-55"/>
          <p:cNvSpPr/>
          <p:nvPr/>
        </p:nvSpPr>
        <p:spPr>
          <a:xfrm>
            <a:off x="3419856" y="3246120"/>
            <a:ext cx="182880" cy="182880"/>
          </a:xfrm>
          <a:prstGeom prst="ellipse">
            <a:avLst/>
          </a:prstGeom>
          <a:solidFill>
            <a:schemeClr val="accent2"/>
          </a:solidFill>
          <a:ln w="12700">
            <a:solidFill>
              <a:schemeClr val="accent2"/>
            </a:solidFill>
            <a:prstDash val="solid"/>
          </a:ln>
        </p:spPr>
      </p:sp>
      <p:sp>
        <p:nvSpPr>
          <p:cNvPr id="19" name="embryo-56"/>
          <p:cNvSpPr/>
          <p:nvPr/>
        </p:nvSpPr>
        <p:spPr>
          <a:xfrm>
            <a:off x="4151376" y="3017520"/>
            <a:ext cx="868680" cy="640080"/>
          </a:xfrm>
          <a:prstGeom prst="ellipse">
            <a:avLst/>
          </a:prstGeom>
          <a:solidFill>
            <a:schemeClr val="bg1"/>
          </a:solidFill>
          <a:ln w="12700">
            <a:solidFill>
              <a:schemeClr val="accent4"/>
            </a:solidFill>
            <a:prstDash val="solid"/>
          </a:ln>
        </p:spPr>
      </p:sp>
      <p:sp>
        <p:nvSpPr>
          <p:cNvPr id="20" name="arch-57"/>
          <p:cNvSpPr/>
          <p:nvPr/>
        </p:nvSpPr>
        <p:spPr>
          <a:xfrm>
            <a:off x="4498848" y="3246120"/>
            <a:ext cx="182880" cy="182880"/>
          </a:xfrm>
          <a:prstGeom prst="ellipse">
            <a:avLst/>
          </a:prstGeom>
          <a:solidFill>
            <a:schemeClr val="accent2"/>
          </a:solidFill>
          <a:ln w="12700">
            <a:solidFill>
              <a:schemeClr val="accent2"/>
            </a:solidFill>
            <a:prstDash val="solid"/>
          </a:ln>
        </p:spPr>
      </p:sp>
      <p:sp>
        <p:nvSpPr>
          <p:cNvPr id="21" name="embryo-58"/>
          <p:cNvSpPr/>
          <p:nvPr/>
        </p:nvSpPr>
        <p:spPr>
          <a:xfrm>
            <a:off x="914400" y="3886200"/>
            <a:ext cx="868680" cy="640080"/>
          </a:xfrm>
          <a:prstGeom prst="ellipse">
            <a:avLst/>
          </a:prstGeom>
          <a:solidFill>
            <a:schemeClr val="bg1"/>
          </a:solidFill>
          <a:ln w="12700">
            <a:solidFill>
              <a:schemeClr val="accent4"/>
            </a:solidFill>
            <a:prstDash val="solid"/>
          </a:ln>
        </p:spPr>
      </p:sp>
      <p:sp>
        <p:nvSpPr>
          <p:cNvPr id="22" name="arch-59"/>
          <p:cNvSpPr/>
          <p:nvPr/>
        </p:nvSpPr>
        <p:spPr>
          <a:xfrm>
            <a:off x="1261872" y="4114800"/>
            <a:ext cx="182880" cy="182880"/>
          </a:xfrm>
          <a:prstGeom prst="ellipse">
            <a:avLst/>
          </a:prstGeom>
          <a:solidFill>
            <a:schemeClr val="accent2"/>
          </a:solidFill>
          <a:ln w="12700">
            <a:solidFill>
              <a:schemeClr val="accent2"/>
            </a:solidFill>
            <a:prstDash val="solid"/>
          </a:ln>
        </p:spPr>
      </p:sp>
      <p:sp>
        <p:nvSpPr>
          <p:cNvPr id="23" name="embryo-60"/>
          <p:cNvSpPr/>
          <p:nvPr/>
        </p:nvSpPr>
        <p:spPr>
          <a:xfrm>
            <a:off x="1993392" y="3886200"/>
            <a:ext cx="868680" cy="640080"/>
          </a:xfrm>
          <a:prstGeom prst="ellipse">
            <a:avLst/>
          </a:prstGeom>
          <a:solidFill>
            <a:schemeClr val="bg1"/>
          </a:solidFill>
          <a:ln w="12700">
            <a:solidFill>
              <a:schemeClr val="accent4"/>
            </a:solidFill>
            <a:prstDash val="solid"/>
          </a:ln>
        </p:spPr>
      </p:sp>
      <p:sp>
        <p:nvSpPr>
          <p:cNvPr id="24" name="arch-61"/>
          <p:cNvSpPr/>
          <p:nvPr/>
        </p:nvSpPr>
        <p:spPr>
          <a:xfrm>
            <a:off x="2340864" y="4114800"/>
            <a:ext cx="182880" cy="182880"/>
          </a:xfrm>
          <a:prstGeom prst="ellipse">
            <a:avLst/>
          </a:prstGeom>
          <a:solidFill>
            <a:schemeClr val="accent2"/>
          </a:solidFill>
          <a:ln w="12700">
            <a:solidFill>
              <a:schemeClr val="accent2"/>
            </a:solidFill>
            <a:prstDash val="solid"/>
          </a:ln>
        </p:spPr>
      </p:sp>
      <p:sp>
        <p:nvSpPr>
          <p:cNvPr id="25" name="embryo-62"/>
          <p:cNvSpPr/>
          <p:nvPr/>
        </p:nvSpPr>
        <p:spPr>
          <a:xfrm>
            <a:off x="3072384" y="3886200"/>
            <a:ext cx="868680" cy="640080"/>
          </a:xfrm>
          <a:prstGeom prst="ellipse">
            <a:avLst/>
          </a:prstGeom>
          <a:solidFill>
            <a:schemeClr val="bg1"/>
          </a:solidFill>
          <a:ln w="12700">
            <a:solidFill>
              <a:schemeClr val="accent4"/>
            </a:solidFill>
            <a:prstDash val="solid"/>
          </a:ln>
        </p:spPr>
      </p:sp>
      <p:sp>
        <p:nvSpPr>
          <p:cNvPr id="26" name="arch-63"/>
          <p:cNvSpPr/>
          <p:nvPr/>
        </p:nvSpPr>
        <p:spPr>
          <a:xfrm>
            <a:off x="3419856" y="4114800"/>
            <a:ext cx="182880" cy="182880"/>
          </a:xfrm>
          <a:prstGeom prst="ellipse">
            <a:avLst/>
          </a:prstGeom>
          <a:solidFill>
            <a:schemeClr val="accent2"/>
          </a:solidFill>
          <a:ln w="12700">
            <a:solidFill>
              <a:schemeClr val="accent2"/>
            </a:solidFill>
            <a:prstDash val="solid"/>
          </a:ln>
        </p:spPr>
      </p:sp>
      <p:sp>
        <p:nvSpPr>
          <p:cNvPr id="27" name="embryo-64"/>
          <p:cNvSpPr/>
          <p:nvPr/>
        </p:nvSpPr>
        <p:spPr>
          <a:xfrm>
            <a:off x="4151376" y="3886200"/>
            <a:ext cx="868680" cy="640080"/>
          </a:xfrm>
          <a:prstGeom prst="ellipse">
            <a:avLst/>
          </a:prstGeom>
          <a:solidFill>
            <a:schemeClr val="bg1"/>
          </a:solidFill>
          <a:ln w="12700">
            <a:solidFill>
              <a:schemeClr val="accent4"/>
            </a:solidFill>
            <a:prstDash val="solid"/>
          </a:ln>
        </p:spPr>
      </p:sp>
      <p:sp>
        <p:nvSpPr>
          <p:cNvPr id="28" name="arch-65"/>
          <p:cNvSpPr/>
          <p:nvPr/>
        </p:nvSpPr>
        <p:spPr>
          <a:xfrm>
            <a:off x="4498848" y="4114800"/>
            <a:ext cx="182880" cy="182880"/>
          </a:xfrm>
          <a:prstGeom prst="ellipse">
            <a:avLst/>
          </a:prstGeom>
          <a:solidFill>
            <a:schemeClr val="accent2"/>
          </a:solidFill>
          <a:ln w="12700">
            <a:solidFill>
              <a:schemeClr val="accent2"/>
            </a:solidFill>
            <a:prstDash val="solid"/>
          </a:ln>
        </p:spPr>
      </p:sp>
      <p:sp>
        <p:nvSpPr>
          <p:cNvPr id="29" name="text-66"/>
          <p:cNvSpPr txBox="1"/>
          <p:nvPr/>
        </p:nvSpPr>
        <p:spPr>
          <a:xfrm>
            <a:off x="822960" y="4846320"/>
            <a:ext cx="4389120" cy="1097280"/>
          </a:xfrm>
          <a:prstGeom prst="rect">
            <a:avLst/>
          </a:prstGeom>
          <a:noFill/>
          <a:ln/>
        </p:spPr>
        <p:txBody>
          <a:bodyPr wrap="square" lIns="0" tIns="0" rIns="0" bIns="0" rtlCol="0" anchor="t"/>
          <a:lstStyle/>
          <a:p>
            <a:pPr indent="0" marL="0">
              <a:buNone/>
            </a:pPr>
            <a:r>
              <a:rPr lang="en-US" sz="1500" dirty="0">
                <a:solidFill>
                  <a:schemeClr val="tx1"/>
                </a:solidFill>
              </a:rPr>
              <a:t>pharyngeal arch 3 stands for every arch 3, in every embryo, at every time. Axioms quantify over all of them.</a:t>
            </a:r>
            <a:endParaRPr lang="en-US" sz="1500" dirty="0"/>
          </a:p>
        </p:txBody>
      </p:sp>
      <p:sp>
        <p:nvSpPr>
          <p:cNvPr id="30" name="arrow-67"/>
          <p:cNvSpPr/>
          <p:nvPr/>
        </p:nvSpPr>
        <p:spPr>
          <a:xfrm>
            <a:off x="5532120" y="3291840"/>
            <a:ext cx="1097280" cy="914"/>
          </a:xfrm>
          <a:prstGeom prst="line">
            <a:avLst/>
          </a:prstGeom>
          <a:noFill/>
          <a:ln w="31750">
            <a:solidFill>
              <a:schemeClr val="accent1"/>
            </a:solidFill>
            <a:prstDash val="solid"/>
            <a:tailEnd type="triangle"/>
          </a:ln>
        </p:spPr>
      </p:sp>
      <p:sp>
        <p:nvSpPr>
          <p:cNvPr id="31" name="text-68"/>
          <p:cNvSpPr txBox="1"/>
          <p:nvPr/>
        </p:nvSpPr>
        <p:spPr>
          <a:xfrm>
            <a:off x="5440680" y="3429000"/>
            <a:ext cx="1325880" cy="914400"/>
          </a:xfrm>
          <a:prstGeom prst="rect">
            <a:avLst/>
          </a:prstGeom>
          <a:noFill/>
          <a:ln/>
        </p:spPr>
        <p:txBody>
          <a:bodyPr wrap="square" lIns="0" tIns="0" rIns="0" bIns="0" rtlCol="0" anchor="t"/>
          <a:lstStyle/>
          <a:p>
            <a:pPr algn="ctr" indent="0" marL="0">
              <a:buNone/>
            </a:pPr>
            <a:r>
              <a:rPr lang="en-US" sz="1200" dirty="0">
                <a:solidFill>
                  <a:schemeClr val="accent6"/>
                </a:solidFill>
              </a:rPr>
              <a:t>generated from the OWL by macro expansion</a:t>
            </a:r>
            <a:endParaRPr lang="en-US" sz="1200" dirty="0"/>
          </a:p>
        </p:txBody>
      </p:sp>
      <p:sp>
        <p:nvSpPr>
          <p:cNvPr id="32" name="box-69"/>
          <p:cNvSpPr/>
          <p:nvPr/>
        </p:nvSpPr>
        <p:spPr>
          <a:xfrm>
            <a:off x="6812280" y="1325880"/>
            <a:ext cx="4846320" cy="4800600"/>
          </a:xfrm>
          <a:prstGeom prst="roundRect">
            <a:avLst>
              <a:gd name="adj" fmla="val 1524"/>
            </a:avLst>
          </a:prstGeom>
          <a:solidFill>
            <a:schemeClr val="bg2"/>
          </a:solidFill>
          <a:ln w="12700">
            <a:solidFill>
              <a:schemeClr val="bg2"/>
            </a:solidFill>
            <a:prstDash val="solid"/>
          </a:ln>
        </p:spPr>
      </p:sp>
      <p:sp>
        <p:nvSpPr>
          <p:cNvPr id="33" name="text-70"/>
          <p:cNvSpPr txBox="1"/>
          <p:nvPr/>
        </p:nvSpPr>
        <p:spPr>
          <a:xfrm>
            <a:off x="7086600" y="1508760"/>
            <a:ext cx="4389120" cy="411480"/>
          </a:xfrm>
          <a:prstGeom prst="rect">
            <a:avLst/>
          </a:prstGeom>
          <a:noFill/>
          <a:ln/>
        </p:spPr>
        <p:txBody>
          <a:bodyPr wrap="square" lIns="0" tIns="0" rIns="0" bIns="0" rtlCol="0" anchor="t"/>
          <a:lstStyle/>
          <a:p>
            <a:pPr indent="0" marL="0">
              <a:buNone/>
            </a:pPr>
            <a:r>
              <a:rPr lang="en-US" sz="2000" b="1" dirty="0">
                <a:solidFill>
                  <a:schemeClr val="accent1"/>
                </a:solidFill>
              </a:rPr>
              <a:t>An atlas individual</a:t>
            </a:r>
            <a:endParaRPr lang="en-US" sz="2000" dirty="0"/>
          </a:p>
        </p:txBody>
      </p:sp>
      <p:sp>
        <p:nvSpPr>
          <p:cNvPr id="34" name="embryo-71"/>
          <p:cNvSpPr/>
          <p:nvPr/>
        </p:nvSpPr>
        <p:spPr>
          <a:xfrm>
            <a:off x="7498080" y="2103120"/>
            <a:ext cx="3474720" cy="2514600"/>
          </a:xfrm>
          <a:prstGeom prst="ellipse">
            <a:avLst/>
          </a:prstGeom>
          <a:solidFill>
            <a:schemeClr val="bg1"/>
          </a:solidFill>
          <a:ln w="19050">
            <a:solidFill>
              <a:schemeClr val="accent4"/>
            </a:solidFill>
            <a:prstDash val="solid"/>
          </a:ln>
        </p:spPr>
      </p:sp>
      <p:sp>
        <p:nvSpPr>
          <p:cNvPr id="35" name="part-72"/>
          <p:cNvSpPr/>
          <p:nvPr/>
        </p:nvSpPr>
        <p:spPr>
          <a:xfrm>
            <a:off x="8092440" y="2514600"/>
            <a:ext cx="237744" cy="237744"/>
          </a:xfrm>
          <a:prstGeom prst="ellipse">
            <a:avLst/>
          </a:prstGeom>
          <a:solidFill>
            <a:schemeClr val="accent1"/>
          </a:solidFill>
          <a:ln w="12700">
            <a:solidFill>
              <a:schemeClr val="accent1"/>
            </a:solidFill>
            <a:prstDash val="solid"/>
          </a:ln>
        </p:spPr>
      </p:sp>
      <p:sp>
        <p:nvSpPr>
          <p:cNvPr id="36" name="text-73"/>
          <p:cNvSpPr txBox="1"/>
          <p:nvPr/>
        </p:nvSpPr>
        <p:spPr>
          <a:xfrm>
            <a:off x="8403336" y="2478024"/>
            <a:ext cx="1280160" cy="310896"/>
          </a:xfrm>
          <a:prstGeom prst="rect">
            <a:avLst/>
          </a:prstGeom>
          <a:noFill/>
          <a:ln/>
        </p:spPr>
        <p:txBody>
          <a:bodyPr wrap="square" lIns="0" tIns="0" rIns="0" bIns="0" rtlCol="0" anchor="t"/>
          <a:lstStyle/>
          <a:p>
            <a:pPr indent="0" marL="0">
              <a:buNone/>
            </a:pPr>
            <a:r>
              <a:rPr lang="en-US" sz="1300" dirty="0">
                <a:solidFill>
                  <a:schemeClr val="tx1"/>
                </a:solidFill>
              </a:rPr>
              <a:t>arch 1</a:t>
            </a:r>
            <a:endParaRPr lang="en-US" sz="1300" dirty="0"/>
          </a:p>
        </p:txBody>
      </p:sp>
      <p:sp>
        <p:nvSpPr>
          <p:cNvPr id="37" name="part-74"/>
          <p:cNvSpPr/>
          <p:nvPr/>
        </p:nvSpPr>
        <p:spPr>
          <a:xfrm>
            <a:off x="8092440" y="2971800"/>
            <a:ext cx="237744" cy="237744"/>
          </a:xfrm>
          <a:prstGeom prst="ellipse">
            <a:avLst/>
          </a:prstGeom>
          <a:solidFill>
            <a:schemeClr val="accent1"/>
          </a:solidFill>
          <a:ln w="12700">
            <a:solidFill>
              <a:schemeClr val="accent1"/>
            </a:solidFill>
            <a:prstDash val="solid"/>
          </a:ln>
        </p:spPr>
      </p:sp>
      <p:sp>
        <p:nvSpPr>
          <p:cNvPr id="38" name="text-75"/>
          <p:cNvSpPr txBox="1"/>
          <p:nvPr/>
        </p:nvSpPr>
        <p:spPr>
          <a:xfrm>
            <a:off x="8403336" y="2935224"/>
            <a:ext cx="1280160" cy="310896"/>
          </a:xfrm>
          <a:prstGeom prst="rect">
            <a:avLst/>
          </a:prstGeom>
          <a:noFill/>
          <a:ln/>
        </p:spPr>
        <p:txBody>
          <a:bodyPr wrap="square" lIns="0" tIns="0" rIns="0" bIns="0" rtlCol="0" anchor="t"/>
          <a:lstStyle/>
          <a:p>
            <a:pPr indent="0" marL="0">
              <a:buNone/>
            </a:pPr>
            <a:r>
              <a:rPr lang="en-US" sz="1300" dirty="0">
                <a:solidFill>
                  <a:schemeClr val="tx1"/>
                </a:solidFill>
              </a:rPr>
              <a:t>arch 2</a:t>
            </a:r>
            <a:endParaRPr lang="en-US" sz="1300" dirty="0"/>
          </a:p>
        </p:txBody>
      </p:sp>
      <p:sp>
        <p:nvSpPr>
          <p:cNvPr id="39" name="part-76"/>
          <p:cNvSpPr/>
          <p:nvPr/>
        </p:nvSpPr>
        <p:spPr>
          <a:xfrm>
            <a:off x="8092440" y="3429000"/>
            <a:ext cx="237744" cy="237744"/>
          </a:xfrm>
          <a:prstGeom prst="ellipse">
            <a:avLst/>
          </a:prstGeom>
          <a:solidFill>
            <a:schemeClr val="accent2"/>
          </a:solidFill>
          <a:ln w="12700">
            <a:solidFill>
              <a:schemeClr val="accent2"/>
            </a:solidFill>
            <a:prstDash val="solid"/>
          </a:ln>
        </p:spPr>
      </p:sp>
      <p:sp>
        <p:nvSpPr>
          <p:cNvPr id="40" name="text-77"/>
          <p:cNvSpPr txBox="1"/>
          <p:nvPr/>
        </p:nvSpPr>
        <p:spPr>
          <a:xfrm>
            <a:off x="8403336" y="3392424"/>
            <a:ext cx="1280160" cy="310896"/>
          </a:xfrm>
          <a:prstGeom prst="rect">
            <a:avLst/>
          </a:prstGeom>
          <a:noFill/>
          <a:ln/>
        </p:spPr>
        <p:txBody>
          <a:bodyPr wrap="square" lIns="0" tIns="0" rIns="0" bIns="0" rtlCol="0" anchor="t"/>
          <a:lstStyle/>
          <a:p>
            <a:pPr indent="0" marL="0">
              <a:buNone/>
            </a:pPr>
            <a:r>
              <a:rPr lang="en-US" sz="1300" b="1" dirty="0">
                <a:solidFill>
                  <a:schemeClr val="tx1"/>
                </a:solidFill>
              </a:rPr>
              <a:t>arch 3</a:t>
            </a:r>
            <a:endParaRPr lang="en-US" sz="1300" dirty="0"/>
          </a:p>
        </p:txBody>
      </p:sp>
      <p:sp>
        <p:nvSpPr>
          <p:cNvPr id="41" name="part-78"/>
          <p:cNvSpPr/>
          <p:nvPr/>
        </p:nvSpPr>
        <p:spPr>
          <a:xfrm>
            <a:off x="9464040" y="2697480"/>
            <a:ext cx="237744" cy="237744"/>
          </a:xfrm>
          <a:prstGeom prst="ellipse">
            <a:avLst/>
          </a:prstGeom>
          <a:solidFill>
            <a:schemeClr val="accent1"/>
          </a:solidFill>
          <a:ln w="12700">
            <a:solidFill>
              <a:schemeClr val="accent1"/>
            </a:solidFill>
            <a:prstDash val="solid"/>
          </a:ln>
        </p:spPr>
      </p:sp>
      <p:sp>
        <p:nvSpPr>
          <p:cNvPr id="42" name="text-79"/>
          <p:cNvSpPr txBox="1"/>
          <p:nvPr/>
        </p:nvSpPr>
        <p:spPr>
          <a:xfrm>
            <a:off x="9774936" y="2660904"/>
            <a:ext cx="1280160" cy="310896"/>
          </a:xfrm>
          <a:prstGeom prst="rect">
            <a:avLst/>
          </a:prstGeom>
          <a:noFill/>
          <a:ln/>
        </p:spPr>
        <p:txBody>
          <a:bodyPr wrap="square" lIns="0" tIns="0" rIns="0" bIns="0" rtlCol="0" anchor="t"/>
          <a:lstStyle/>
          <a:p>
            <a:pPr indent="0" marL="0">
              <a:buNone/>
            </a:pPr>
            <a:r>
              <a:rPr lang="en-US" sz="1300" dirty="0">
                <a:solidFill>
                  <a:schemeClr val="tx1"/>
                </a:solidFill>
              </a:rPr>
              <a:t>heart</a:t>
            </a:r>
            <a:endParaRPr lang="en-US" sz="1300" dirty="0"/>
          </a:p>
        </p:txBody>
      </p:sp>
      <p:sp>
        <p:nvSpPr>
          <p:cNvPr id="43" name="part-80"/>
          <p:cNvSpPr/>
          <p:nvPr/>
        </p:nvSpPr>
        <p:spPr>
          <a:xfrm>
            <a:off x="9464040" y="3291840"/>
            <a:ext cx="237744" cy="237744"/>
          </a:xfrm>
          <a:prstGeom prst="ellipse">
            <a:avLst/>
          </a:prstGeom>
          <a:solidFill>
            <a:schemeClr val="accent1"/>
          </a:solidFill>
          <a:ln w="12700">
            <a:solidFill>
              <a:schemeClr val="accent1"/>
            </a:solidFill>
            <a:prstDash val="solid"/>
          </a:ln>
        </p:spPr>
      </p:sp>
      <p:sp>
        <p:nvSpPr>
          <p:cNvPr id="44" name="text-81"/>
          <p:cNvSpPr txBox="1"/>
          <p:nvPr/>
        </p:nvSpPr>
        <p:spPr>
          <a:xfrm>
            <a:off x="9774936" y="3255264"/>
            <a:ext cx="1280160" cy="310896"/>
          </a:xfrm>
          <a:prstGeom prst="rect">
            <a:avLst/>
          </a:prstGeom>
          <a:noFill/>
          <a:ln/>
        </p:spPr>
        <p:txBody>
          <a:bodyPr wrap="square" lIns="0" tIns="0" rIns="0" bIns="0" rtlCol="0" anchor="t"/>
          <a:lstStyle/>
          <a:p>
            <a:pPr indent="0" marL="0">
              <a:buNone/>
            </a:pPr>
            <a:r>
              <a:rPr lang="en-US" sz="1300" dirty="0">
                <a:solidFill>
                  <a:schemeClr val="tx1"/>
                </a:solidFill>
              </a:rPr>
              <a:t>liver</a:t>
            </a:r>
            <a:endParaRPr lang="en-US" sz="1300" dirty="0"/>
          </a:p>
        </p:txBody>
      </p:sp>
      <p:sp>
        <p:nvSpPr>
          <p:cNvPr id="45" name="part-82"/>
          <p:cNvSpPr/>
          <p:nvPr/>
        </p:nvSpPr>
        <p:spPr>
          <a:xfrm>
            <a:off x="8778240" y="3977640"/>
            <a:ext cx="237744" cy="237744"/>
          </a:xfrm>
          <a:prstGeom prst="ellipse">
            <a:avLst/>
          </a:prstGeom>
          <a:solidFill>
            <a:schemeClr val="accent1"/>
          </a:solidFill>
          <a:ln w="12700">
            <a:solidFill>
              <a:schemeClr val="accent1"/>
            </a:solidFill>
            <a:prstDash val="solid"/>
          </a:ln>
        </p:spPr>
      </p:sp>
      <p:sp>
        <p:nvSpPr>
          <p:cNvPr id="46" name="text-83"/>
          <p:cNvSpPr txBox="1"/>
          <p:nvPr/>
        </p:nvSpPr>
        <p:spPr>
          <a:xfrm>
            <a:off x="9089136" y="3941064"/>
            <a:ext cx="1280160" cy="310896"/>
          </a:xfrm>
          <a:prstGeom prst="rect">
            <a:avLst/>
          </a:prstGeom>
          <a:noFill/>
          <a:ln/>
        </p:spPr>
        <p:txBody>
          <a:bodyPr wrap="square" lIns="0" tIns="0" rIns="0" bIns="0" rtlCol="0" anchor="t"/>
          <a:lstStyle/>
          <a:p>
            <a:pPr indent="0" marL="0">
              <a:buNone/>
            </a:pPr>
            <a:r>
              <a:rPr lang="en-US" sz="1300" dirty="0">
                <a:solidFill>
                  <a:schemeClr val="tx1"/>
                </a:solidFill>
              </a:rPr>
              <a:t>metanephros</a:t>
            </a:r>
            <a:endParaRPr lang="en-US" sz="1300" dirty="0"/>
          </a:p>
        </p:txBody>
      </p:sp>
      <p:sp>
        <p:nvSpPr>
          <p:cNvPr id="47" name="text-84"/>
          <p:cNvSpPr txBox="1"/>
          <p:nvPr/>
        </p:nvSpPr>
        <p:spPr>
          <a:xfrm>
            <a:off x="7086600" y="4846320"/>
            <a:ext cx="4389120" cy="1097280"/>
          </a:xfrm>
          <a:prstGeom prst="rect">
            <a:avLst/>
          </a:prstGeom>
          <a:noFill/>
          <a:ln/>
        </p:spPr>
        <p:txBody>
          <a:bodyPr wrap="square" lIns="0" tIns="0" rIns="0" bIns="0" rtlCol="0" anchor="t"/>
          <a:lstStyle/>
          <a:p>
            <a:pPr indent="0" marL="0">
              <a:buNone/>
            </a:pPr>
            <a:r>
              <a:rPr lang="en-US" sz="1500" dirty="0">
                <a:solidFill>
                  <a:schemeClr val="tx1"/>
                </a:solidFill>
              </a:rPr>
              <a:t>the arch 3 of one canonical human embryo: a single node where every fact about it meets.</a:t>
            </a:r>
            <a:endParaRPr lang="en-US" sz="15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Every structure is an existence window</a:t>
            </a:r>
            <a:endParaRPr lang="en-US" sz="3000" dirty="0"/>
          </a:p>
        </p:txBody>
      </p:sp>
      <p:sp>
        <p:nvSpPr>
          <p:cNvPr id="3" name="text-85"/>
          <p:cNvSpPr txBox="1"/>
          <p:nvPr/>
        </p:nvSpPr>
        <p:spPr>
          <a:xfrm>
            <a:off x="548640" y="132588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One structure: two time points</a:t>
            </a:r>
            <a:endParaRPr lang="en-US" sz="1800" dirty="0"/>
          </a:p>
        </p:txBody>
      </p:sp>
      <p:sp>
        <p:nvSpPr>
          <p:cNvPr id="4" name="bar-86"/>
          <p:cNvSpPr txBox="1"/>
          <p:nvPr/>
        </p:nvSpPr>
        <p:spPr>
          <a:xfrm>
            <a:off x="1828800" y="1920240"/>
            <a:ext cx="4206240" cy="384048"/>
          </a:xfrm>
          <a:prstGeom prst="roundRect">
            <a:avLst>
              <a:gd name="adj" fmla="val 16667"/>
            </a:avLst>
          </a:prstGeom>
          <a:solidFill>
            <a:schemeClr val="accent1"/>
          </a:solidFill>
          <a:ln>
            <a:solidFill>
              <a:schemeClr val="accent1"/>
            </a:solidFill>
          </a:ln>
        </p:spPr>
        <p:txBody>
          <a:bodyPr wrap="square" lIns="0" tIns="101600" rIns="101600" bIns="0" rtlCol="0" anchor="ctr"/>
          <a:lstStyle/>
          <a:p>
            <a:pPr algn="l" indent="0" marL="0">
              <a:buNone/>
            </a:pPr>
            <a:r>
              <a:rPr lang="en-US" sz="1400" dirty="0">
                <a:solidFill>
                  <a:schemeClr val="bg1"/>
                </a:solidFill>
              </a:rPr>
              <a:t>otic placode</a:t>
            </a:r>
            <a:endParaRPr lang="en-US" sz="1400" dirty="0"/>
          </a:p>
        </p:txBody>
      </p:sp>
      <p:sp>
        <p:nvSpPr>
          <p:cNvPr id="5" name="tick-87"/>
          <p:cNvSpPr/>
          <p:nvPr/>
        </p:nvSpPr>
        <p:spPr>
          <a:xfrm>
            <a:off x="1828800" y="1783080"/>
            <a:ext cx="914" cy="685800"/>
          </a:xfrm>
          <a:prstGeom prst="line">
            <a:avLst/>
          </a:prstGeom>
          <a:noFill/>
          <a:ln w="25400">
            <a:solidFill>
              <a:schemeClr val="accent3"/>
            </a:solidFill>
            <a:prstDash val="solid"/>
          </a:ln>
        </p:spPr>
      </p:sp>
      <p:sp>
        <p:nvSpPr>
          <p:cNvPr id="6" name="tick-88"/>
          <p:cNvSpPr/>
          <p:nvPr/>
        </p:nvSpPr>
        <p:spPr>
          <a:xfrm>
            <a:off x="6035040" y="1783080"/>
            <a:ext cx="914" cy="685800"/>
          </a:xfrm>
          <a:prstGeom prst="line">
            <a:avLst/>
          </a:prstGeom>
          <a:noFill/>
          <a:ln w="25400">
            <a:solidFill>
              <a:schemeClr val="accent3"/>
            </a:solidFill>
            <a:prstDash val="solid"/>
          </a:ln>
        </p:spPr>
      </p:sp>
      <p:sp>
        <p:nvSpPr>
          <p:cNvPr id="7" name="text-89"/>
          <p:cNvSpPr txBox="1"/>
          <p:nvPr/>
        </p:nvSpPr>
        <p:spPr>
          <a:xfrm>
            <a:off x="548640" y="2514600"/>
            <a:ext cx="2377440" cy="320040"/>
          </a:xfrm>
          <a:prstGeom prst="rect">
            <a:avLst/>
          </a:prstGeom>
          <a:noFill/>
          <a:ln/>
        </p:spPr>
        <p:txBody>
          <a:bodyPr wrap="square" lIns="0" tIns="0" rIns="0" bIns="0" rtlCol="0" anchor="t"/>
          <a:lstStyle/>
          <a:p>
            <a:pPr indent="0" marL="0">
              <a:buNone/>
            </a:pPr>
            <a:r>
              <a:rPr lang="en-US" sz="1400" dirty="0">
                <a:solidFill>
                  <a:schemeClr val="accent3"/>
                </a:solidFill>
              </a:rPr>
              <a:t>s(X)  starts to exist</a:t>
            </a:r>
            <a:endParaRPr lang="en-US" sz="1400" dirty="0"/>
          </a:p>
        </p:txBody>
      </p:sp>
      <p:sp>
        <p:nvSpPr>
          <p:cNvPr id="8" name="text-90"/>
          <p:cNvSpPr txBox="1"/>
          <p:nvPr/>
        </p:nvSpPr>
        <p:spPr>
          <a:xfrm>
            <a:off x="5486400" y="2514600"/>
            <a:ext cx="2377440" cy="320040"/>
          </a:xfrm>
          <a:prstGeom prst="rect">
            <a:avLst/>
          </a:prstGeom>
          <a:noFill/>
          <a:ln/>
        </p:spPr>
        <p:txBody>
          <a:bodyPr wrap="square" lIns="0" tIns="0" rIns="0" bIns="0" rtlCol="0" anchor="t"/>
          <a:lstStyle/>
          <a:p>
            <a:pPr indent="0" marL="0">
              <a:buNone/>
            </a:pPr>
            <a:r>
              <a:rPr lang="en-US" sz="1400" dirty="0">
                <a:solidFill>
                  <a:schemeClr val="accent3"/>
                </a:solidFill>
              </a:rPr>
              <a:t>e(X)  ceases</a:t>
            </a:r>
            <a:endParaRPr lang="en-US" sz="1400" dirty="0"/>
          </a:p>
        </p:txBody>
      </p:sp>
      <p:sp>
        <p:nvSpPr>
          <p:cNvPr id="9" name="text-91"/>
          <p:cNvSpPr txBox="1"/>
          <p:nvPr/>
        </p:nvSpPr>
        <p:spPr>
          <a:xfrm>
            <a:off x="548640" y="306324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A series: the window spans all members</a:t>
            </a:r>
            <a:endParaRPr lang="en-US" sz="1800" dirty="0"/>
          </a:p>
        </p:txBody>
      </p:sp>
      <p:sp>
        <p:nvSpPr>
          <p:cNvPr id="10" name="stage-92"/>
          <p:cNvSpPr txBox="1"/>
          <p:nvPr/>
        </p:nvSpPr>
        <p:spPr>
          <a:xfrm>
            <a:off x="548640" y="3520440"/>
            <a:ext cx="91440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CS10</a:t>
            </a:r>
            <a:endParaRPr lang="en-US" sz="1200" dirty="0"/>
          </a:p>
        </p:txBody>
      </p:sp>
      <p:sp>
        <p:nvSpPr>
          <p:cNvPr id="11" name="stage-93"/>
          <p:cNvSpPr txBox="1"/>
          <p:nvPr/>
        </p:nvSpPr>
        <p:spPr>
          <a:xfrm>
            <a:off x="1463040" y="3520440"/>
            <a:ext cx="91440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CS11</a:t>
            </a:r>
            <a:endParaRPr lang="en-US" sz="1200" dirty="0"/>
          </a:p>
        </p:txBody>
      </p:sp>
      <p:sp>
        <p:nvSpPr>
          <p:cNvPr id="12" name="stage-94"/>
          <p:cNvSpPr txBox="1"/>
          <p:nvPr/>
        </p:nvSpPr>
        <p:spPr>
          <a:xfrm>
            <a:off x="2377440" y="3520440"/>
            <a:ext cx="91440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CS12</a:t>
            </a:r>
            <a:endParaRPr lang="en-US" sz="1200" dirty="0"/>
          </a:p>
        </p:txBody>
      </p:sp>
      <p:sp>
        <p:nvSpPr>
          <p:cNvPr id="13" name="stage-95"/>
          <p:cNvSpPr txBox="1"/>
          <p:nvPr/>
        </p:nvSpPr>
        <p:spPr>
          <a:xfrm>
            <a:off x="3291840" y="3520440"/>
            <a:ext cx="91440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CS13</a:t>
            </a:r>
            <a:endParaRPr lang="en-US" sz="1200" dirty="0"/>
          </a:p>
        </p:txBody>
      </p:sp>
      <p:sp>
        <p:nvSpPr>
          <p:cNvPr id="14" name="stage-96"/>
          <p:cNvSpPr txBox="1"/>
          <p:nvPr/>
        </p:nvSpPr>
        <p:spPr>
          <a:xfrm>
            <a:off x="4206240" y="3520440"/>
            <a:ext cx="91440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CS14</a:t>
            </a:r>
            <a:endParaRPr lang="en-US" sz="1200" dirty="0"/>
          </a:p>
        </p:txBody>
      </p:sp>
      <p:sp>
        <p:nvSpPr>
          <p:cNvPr id="15" name="stage-97"/>
          <p:cNvSpPr txBox="1"/>
          <p:nvPr/>
        </p:nvSpPr>
        <p:spPr>
          <a:xfrm>
            <a:off x="5120640" y="3520440"/>
            <a:ext cx="91440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CS15</a:t>
            </a:r>
            <a:endParaRPr lang="en-US" sz="1200" dirty="0"/>
          </a:p>
        </p:txBody>
      </p:sp>
      <p:sp>
        <p:nvSpPr>
          <p:cNvPr id="16" name="stage-98"/>
          <p:cNvSpPr txBox="1"/>
          <p:nvPr/>
        </p:nvSpPr>
        <p:spPr>
          <a:xfrm>
            <a:off x="6035040" y="3520440"/>
            <a:ext cx="91440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CS16</a:t>
            </a:r>
            <a:endParaRPr lang="en-US" sz="1200" dirty="0"/>
          </a:p>
        </p:txBody>
      </p:sp>
      <p:sp>
        <p:nvSpPr>
          <p:cNvPr id="17" name="stage-99"/>
          <p:cNvSpPr txBox="1"/>
          <p:nvPr/>
        </p:nvSpPr>
        <p:spPr>
          <a:xfrm>
            <a:off x="6949440" y="3520440"/>
            <a:ext cx="91440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CS17</a:t>
            </a:r>
            <a:endParaRPr lang="en-US" sz="1200" dirty="0"/>
          </a:p>
        </p:txBody>
      </p:sp>
      <p:sp>
        <p:nvSpPr>
          <p:cNvPr id="18" name="bar-100"/>
          <p:cNvSpPr txBox="1"/>
          <p:nvPr/>
        </p:nvSpPr>
        <p:spPr>
          <a:xfrm>
            <a:off x="914400" y="4023360"/>
            <a:ext cx="6583680" cy="274320"/>
          </a:xfrm>
          <a:prstGeom prst="roundRect">
            <a:avLst>
              <a:gd name="adj" fmla="val 23333"/>
            </a:avLst>
          </a:prstGeom>
          <a:solidFill>
            <a:schemeClr val="accent1"/>
          </a:solidFill>
          <a:ln>
            <a:solidFill>
              <a:schemeClr val="accent1"/>
            </a:solidFill>
          </a:ln>
        </p:spPr>
        <p:txBody>
          <a:bodyPr wrap="square" lIns="0" tIns="101600" rIns="101600" bIns="0" rtlCol="0" anchor="ctr"/>
          <a:lstStyle/>
          <a:p>
            <a:pPr algn="l" indent="0" marL="0">
              <a:buNone/>
            </a:pPr>
            <a:r>
              <a:rPr lang="en-US" sz="1200" dirty="0">
                <a:solidFill>
                  <a:schemeClr val="bg1"/>
                </a:solidFill>
              </a:rPr>
              <a:t>arch 1</a:t>
            </a:r>
            <a:endParaRPr lang="en-US" sz="1200" dirty="0"/>
          </a:p>
        </p:txBody>
      </p:sp>
      <p:sp>
        <p:nvSpPr>
          <p:cNvPr id="19" name="bar-101"/>
          <p:cNvSpPr txBox="1"/>
          <p:nvPr/>
        </p:nvSpPr>
        <p:spPr>
          <a:xfrm>
            <a:off x="914400" y="4370832"/>
            <a:ext cx="6583680" cy="274320"/>
          </a:xfrm>
          <a:prstGeom prst="roundRect">
            <a:avLst>
              <a:gd name="adj" fmla="val 23333"/>
            </a:avLst>
          </a:prstGeom>
          <a:solidFill>
            <a:schemeClr val="accent1"/>
          </a:solidFill>
          <a:ln>
            <a:solidFill>
              <a:schemeClr val="accent1"/>
            </a:solidFill>
          </a:ln>
        </p:spPr>
        <p:txBody>
          <a:bodyPr wrap="square" lIns="0" tIns="101600" rIns="101600" bIns="0" rtlCol="0" anchor="ctr"/>
          <a:lstStyle/>
          <a:p>
            <a:pPr algn="l" indent="0" marL="0">
              <a:buNone/>
            </a:pPr>
            <a:r>
              <a:rPr lang="en-US" sz="1200" dirty="0">
                <a:solidFill>
                  <a:schemeClr val="bg1"/>
                </a:solidFill>
              </a:rPr>
              <a:t>arch 2</a:t>
            </a:r>
            <a:endParaRPr lang="en-US" sz="1200" dirty="0"/>
          </a:p>
        </p:txBody>
      </p:sp>
      <p:sp>
        <p:nvSpPr>
          <p:cNvPr id="20" name="bar-102"/>
          <p:cNvSpPr txBox="1"/>
          <p:nvPr/>
        </p:nvSpPr>
        <p:spPr>
          <a:xfrm>
            <a:off x="1828800" y="4718304"/>
            <a:ext cx="5669280" cy="274320"/>
          </a:xfrm>
          <a:prstGeom prst="roundRect">
            <a:avLst>
              <a:gd name="adj" fmla="val 23333"/>
            </a:avLst>
          </a:prstGeom>
          <a:solidFill>
            <a:schemeClr val="accent1"/>
          </a:solidFill>
          <a:ln>
            <a:solidFill>
              <a:schemeClr val="accent1"/>
            </a:solidFill>
          </a:ln>
        </p:spPr>
        <p:txBody>
          <a:bodyPr wrap="square" lIns="0" tIns="101600" rIns="101600" bIns="0" rtlCol="0" anchor="ctr"/>
          <a:lstStyle/>
          <a:p>
            <a:pPr algn="l" indent="0" marL="0">
              <a:buNone/>
            </a:pPr>
            <a:r>
              <a:rPr lang="en-US" sz="1200" dirty="0">
                <a:solidFill>
                  <a:schemeClr val="bg1"/>
                </a:solidFill>
              </a:rPr>
              <a:t>arch 3</a:t>
            </a:r>
            <a:endParaRPr lang="en-US" sz="1200" dirty="0"/>
          </a:p>
        </p:txBody>
      </p:sp>
      <p:sp>
        <p:nvSpPr>
          <p:cNvPr id="21" name="bar-103"/>
          <p:cNvSpPr txBox="1"/>
          <p:nvPr/>
        </p:nvSpPr>
        <p:spPr>
          <a:xfrm>
            <a:off x="2743200" y="5065776"/>
            <a:ext cx="4754880" cy="274320"/>
          </a:xfrm>
          <a:prstGeom prst="roundRect">
            <a:avLst>
              <a:gd name="adj" fmla="val 23333"/>
            </a:avLst>
          </a:prstGeom>
          <a:solidFill>
            <a:schemeClr val="accent1"/>
          </a:solidFill>
          <a:ln>
            <a:solidFill>
              <a:schemeClr val="accent1"/>
            </a:solidFill>
          </a:ln>
        </p:spPr>
        <p:txBody>
          <a:bodyPr wrap="square" lIns="0" tIns="101600" rIns="101600" bIns="0" rtlCol="0" anchor="ctr"/>
          <a:lstStyle/>
          <a:p>
            <a:pPr algn="l" indent="0" marL="0">
              <a:buNone/>
            </a:pPr>
            <a:r>
              <a:rPr lang="en-US" sz="1200" dirty="0">
                <a:solidFill>
                  <a:schemeClr val="bg1"/>
                </a:solidFill>
              </a:rPr>
              <a:t>arch 4</a:t>
            </a:r>
            <a:endParaRPr lang="en-US" sz="1200" dirty="0"/>
          </a:p>
        </p:txBody>
      </p:sp>
      <p:sp>
        <p:nvSpPr>
          <p:cNvPr id="22" name="bar-104"/>
          <p:cNvSpPr txBox="1"/>
          <p:nvPr/>
        </p:nvSpPr>
        <p:spPr>
          <a:xfrm>
            <a:off x="2743200" y="5413248"/>
            <a:ext cx="4754880" cy="274320"/>
          </a:xfrm>
          <a:prstGeom prst="roundRect">
            <a:avLst>
              <a:gd name="adj" fmla="val 23333"/>
            </a:avLst>
          </a:prstGeom>
          <a:solidFill>
            <a:schemeClr val="accent1"/>
          </a:solidFill>
          <a:ln>
            <a:solidFill>
              <a:schemeClr val="accent1"/>
            </a:solidFill>
          </a:ln>
        </p:spPr>
        <p:txBody>
          <a:bodyPr wrap="square" lIns="0" tIns="101600" rIns="101600" bIns="0" rtlCol="0" anchor="ctr"/>
          <a:lstStyle/>
          <a:p>
            <a:pPr algn="l" indent="0" marL="0">
              <a:buNone/>
            </a:pPr>
            <a:r>
              <a:rPr lang="en-US" sz="1200" dirty="0">
                <a:solidFill>
                  <a:schemeClr val="bg1"/>
                </a:solidFill>
              </a:rPr>
              <a:t>arch 6</a:t>
            </a:r>
            <a:endParaRPr lang="en-US" sz="1200" dirty="0"/>
          </a:p>
        </p:txBody>
      </p:sp>
      <p:sp>
        <p:nvSpPr>
          <p:cNvPr id="23" name="bar-105"/>
          <p:cNvSpPr txBox="1"/>
          <p:nvPr/>
        </p:nvSpPr>
        <p:spPr>
          <a:xfrm>
            <a:off x="914400" y="5806440"/>
            <a:ext cx="6583680" cy="310896"/>
          </a:xfrm>
          <a:prstGeom prst="roundRect">
            <a:avLst>
              <a:gd name="adj" fmla="val 20588"/>
            </a:avLst>
          </a:prstGeom>
          <a:solidFill>
            <a:schemeClr val="accent2"/>
          </a:solidFill>
          <a:ln>
            <a:solidFill>
              <a:schemeClr val="accent2"/>
            </a:solidFill>
          </a:ln>
        </p:spPr>
        <p:txBody>
          <a:bodyPr wrap="square" lIns="0" tIns="101600" rIns="101600" bIns="0" rtlCol="0" anchor="ctr"/>
          <a:lstStyle/>
          <a:p>
            <a:pPr algn="l" indent="0" marL="0">
              <a:buNone/>
            </a:pPr>
            <a:r>
              <a:rPr lang="en-US" sz="1300" b="1" dirty="0">
                <a:solidFill>
                  <a:schemeClr val="tx1"/>
                </a:solidFill>
              </a:rPr>
              <a:t>pharyngeal arch (generic): first start to last end</a:t>
            </a:r>
            <a:endParaRPr lang="en-US" sz="1300" dirty="0"/>
          </a:p>
        </p:txBody>
      </p:sp>
      <p:sp>
        <p:nvSpPr>
          <p:cNvPr id="24" name="box-106"/>
          <p:cNvSpPr/>
          <p:nvPr/>
        </p:nvSpPr>
        <p:spPr>
          <a:xfrm>
            <a:off x="8321040" y="1325880"/>
            <a:ext cx="3337560" cy="4800600"/>
          </a:xfrm>
          <a:prstGeom prst="roundRect">
            <a:avLst>
              <a:gd name="adj" fmla="val 2192"/>
            </a:avLst>
          </a:prstGeom>
          <a:solidFill>
            <a:schemeClr val="bg2"/>
          </a:solidFill>
          <a:ln w="12700">
            <a:solidFill>
              <a:schemeClr val="bg2"/>
            </a:solidFill>
            <a:prstDash val="solid"/>
          </a:ln>
        </p:spPr>
      </p:sp>
      <p:sp>
        <p:nvSpPr>
          <p:cNvPr id="25" name="text-107"/>
          <p:cNvSpPr txBox="1"/>
          <p:nvPr/>
        </p:nvSpPr>
        <p:spPr>
          <a:xfrm>
            <a:off x="8549640" y="1554480"/>
            <a:ext cx="2926080" cy="365760"/>
          </a:xfrm>
          <a:prstGeom prst="rect">
            <a:avLst/>
          </a:prstGeom>
          <a:noFill/>
          <a:ln/>
        </p:spPr>
        <p:txBody>
          <a:bodyPr wrap="square" lIns="0" tIns="0" rIns="0" bIns="0" rtlCol="0" anchor="t"/>
          <a:lstStyle/>
          <a:p>
            <a:pPr indent="0" marL="0">
              <a:buNone/>
            </a:pPr>
            <a:r>
              <a:rPr lang="en-US" sz="1600" b="1" dirty="0">
                <a:solidFill>
                  <a:schemeClr val="tx1"/>
                </a:solidFill>
              </a:rPr>
              <a:t>One per embryo</a:t>
            </a:r>
            <a:endParaRPr lang="en-US" sz="1600" dirty="0"/>
          </a:p>
        </p:txBody>
      </p:sp>
      <p:sp>
        <p:nvSpPr>
          <p:cNvPr id="26" name="text-108"/>
          <p:cNvSpPr txBox="1"/>
          <p:nvPr/>
        </p:nvSpPr>
        <p:spPr>
          <a:xfrm>
            <a:off x="8549640" y="1920240"/>
            <a:ext cx="2926080" cy="1051560"/>
          </a:xfrm>
          <a:prstGeom prst="rect">
            <a:avLst/>
          </a:prstGeom>
          <a:noFill/>
          <a:ln/>
        </p:spPr>
        <p:txBody>
          <a:bodyPr wrap="square" lIns="0" tIns="0" rIns="0" bIns="0" rtlCol="0" anchor="t"/>
          <a:lstStyle/>
          <a:p>
            <a:pPr indent="0" marL="0">
              <a:buNone/>
            </a:pPr>
            <a:r>
              <a:rPr lang="en-US" sz="1400" dirty="0">
                <a:solidFill>
                  <a:schemeClr val="tx1"/>
                </a:solidFill>
              </a:rPr>
              <a:t>liver, arch 3: the window is that structure's lifetime.</a:t>
            </a:r>
            <a:endParaRPr lang="en-US" sz="1400" dirty="0"/>
          </a:p>
        </p:txBody>
      </p:sp>
      <p:sp>
        <p:nvSpPr>
          <p:cNvPr id="27" name="text-109"/>
          <p:cNvSpPr txBox="1"/>
          <p:nvPr/>
        </p:nvSpPr>
        <p:spPr>
          <a:xfrm>
            <a:off x="8549640" y="3063240"/>
            <a:ext cx="2926080" cy="365760"/>
          </a:xfrm>
          <a:prstGeom prst="rect">
            <a:avLst/>
          </a:prstGeom>
          <a:noFill/>
          <a:ln/>
        </p:spPr>
        <p:txBody>
          <a:bodyPr wrap="square" lIns="0" tIns="0" rIns="0" bIns="0" rtlCol="0" anchor="t"/>
          <a:lstStyle/>
          <a:p>
            <a:pPr indent="0" marL="0">
              <a:buNone/>
            </a:pPr>
            <a:r>
              <a:rPr lang="en-US" sz="1600" b="1" dirty="0">
                <a:solidFill>
                  <a:schemeClr val="tx1"/>
                </a:solidFill>
              </a:rPr>
              <a:t>A series or population</a:t>
            </a:r>
            <a:endParaRPr lang="en-US" sz="1600" dirty="0"/>
          </a:p>
        </p:txBody>
      </p:sp>
      <p:sp>
        <p:nvSpPr>
          <p:cNvPr id="28" name="text-110"/>
          <p:cNvSpPr txBox="1"/>
          <p:nvPr/>
        </p:nvSpPr>
        <p:spPr>
          <a:xfrm>
            <a:off x="8549640" y="3429000"/>
            <a:ext cx="2926080" cy="1051560"/>
          </a:xfrm>
          <a:prstGeom prst="rect">
            <a:avLst/>
          </a:prstGeom>
          <a:noFill/>
          <a:ln/>
        </p:spPr>
        <p:txBody>
          <a:bodyPr wrap="square" lIns="0" tIns="0" rIns="0" bIns="0" rtlCol="0" anchor="t"/>
          <a:lstStyle/>
          <a:p>
            <a:pPr indent="0" marL="0">
              <a:buNone/>
            </a:pPr>
            <a:r>
              <a:rPr lang="en-US" sz="1400" dirty="0">
                <a:solidFill>
                  <a:schemeClr val="tx1"/>
                </a:solidFill>
              </a:rPr>
              <a:t>pharyngeal arch, somite, haemangioblast: the window runs from the first member's start to the last member's end.</a:t>
            </a:r>
            <a:endParaRPr lang="en-US" sz="1400" dirty="0"/>
          </a:p>
        </p:txBody>
      </p:sp>
      <p:sp>
        <p:nvSpPr>
          <p:cNvPr id="29" name="text-111"/>
          <p:cNvSpPr txBox="1"/>
          <p:nvPr/>
        </p:nvSpPr>
        <p:spPr>
          <a:xfrm>
            <a:off x="8549640" y="4572000"/>
            <a:ext cx="2926080" cy="365760"/>
          </a:xfrm>
          <a:prstGeom prst="rect">
            <a:avLst/>
          </a:prstGeom>
          <a:noFill/>
          <a:ln/>
        </p:spPr>
        <p:txBody>
          <a:bodyPr wrap="square" lIns="0" tIns="0" rIns="0" bIns="0" rtlCol="0" anchor="t"/>
          <a:lstStyle/>
          <a:p>
            <a:pPr indent="0" marL="0">
              <a:buNone/>
            </a:pPr>
            <a:r>
              <a:rPr lang="en-US" sz="1600" b="1" dirty="0">
                <a:solidFill>
                  <a:schemeClr val="tx1"/>
                </a:solidFill>
              </a:rPr>
              <a:t>Every term can join</a:t>
            </a:r>
            <a:endParaRPr lang="en-US" sz="1600" dirty="0"/>
          </a:p>
        </p:txBody>
      </p:sp>
      <p:sp>
        <p:nvSpPr>
          <p:cNvPr id="30" name="text-112"/>
          <p:cNvSpPr txBox="1"/>
          <p:nvPr/>
        </p:nvSpPr>
        <p:spPr>
          <a:xfrm>
            <a:off x="8549640" y="4937760"/>
            <a:ext cx="2926080" cy="1051560"/>
          </a:xfrm>
          <a:prstGeom prst="rect">
            <a:avLst/>
          </a:prstGeom>
          <a:noFill/>
          <a:ln/>
        </p:spPr>
        <p:txBody>
          <a:bodyPr wrap="square" lIns="0" tIns="0" rIns="0" bIns="0" rtlCol="0" anchor="t"/>
          <a:lstStyle/>
          <a:p>
            <a:pPr indent="0" marL="0">
              <a:buNone/>
            </a:pPr>
            <a:r>
              <a:rPr lang="en-US" sz="1400" dirty="0">
                <a:solidFill>
                  <a:schemeClr val="tx1"/>
                </a:solidFill>
              </a:rPr>
              <a:t>Windows keep every relation sound. Knowing a term is one per embryo only adds precision.</a:t>
            </a:r>
            <a:endParaRPr lang="en-US" sz="14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Stages are individuals too</a:t>
            </a:r>
            <a:endParaRPr lang="en-US" sz="3000" dirty="0"/>
          </a:p>
        </p:txBody>
      </p:sp>
      <p:sp>
        <p:nvSpPr>
          <p:cNvPr id="3" name="text-113"/>
          <p:cNvSpPr txBox="1"/>
          <p:nvPr/>
        </p:nvSpPr>
        <p:spPr>
          <a:xfrm>
            <a:off x="548640" y="132588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A series: consecutive stages share a boundary</a:t>
            </a:r>
            <a:endParaRPr lang="en-US" sz="1800" dirty="0"/>
          </a:p>
        </p:txBody>
      </p:sp>
      <p:sp>
        <p:nvSpPr>
          <p:cNvPr id="4" name="bar-114"/>
          <p:cNvSpPr txBox="1"/>
          <p:nvPr/>
        </p:nvSpPr>
        <p:spPr>
          <a:xfrm>
            <a:off x="566928" y="1828800"/>
            <a:ext cx="1152144" cy="438912"/>
          </a:xfrm>
          <a:prstGeom prst="roundRect">
            <a:avLst>
              <a:gd name="adj" fmla="val 14583"/>
            </a:avLst>
          </a:prstGeom>
          <a:solidFill>
            <a:schemeClr val="accent6"/>
          </a:solidFill>
          <a:ln>
            <a:solidFill>
              <a:schemeClr val="accent6"/>
            </a:solidFill>
          </a:ln>
        </p:spPr>
        <p:txBody>
          <a:bodyPr wrap="square" lIns="0" tIns="101600" rIns="101600" bIns="0" rtlCol="0" anchor="ctr"/>
          <a:lstStyle/>
          <a:p>
            <a:pPr algn="l" indent="0" marL="0">
              <a:buNone/>
            </a:pPr>
            <a:r>
              <a:rPr lang="en-US" sz="1400" b="1" dirty="0">
                <a:solidFill>
                  <a:schemeClr val="bg1"/>
                </a:solidFill>
              </a:rPr>
              <a:t>CS9</a:t>
            </a:r>
            <a:endParaRPr lang="en-US" sz="1400" dirty="0"/>
          </a:p>
        </p:txBody>
      </p:sp>
      <p:sp>
        <p:nvSpPr>
          <p:cNvPr id="5" name="bar-115"/>
          <p:cNvSpPr txBox="1"/>
          <p:nvPr/>
        </p:nvSpPr>
        <p:spPr>
          <a:xfrm>
            <a:off x="1755648" y="1828800"/>
            <a:ext cx="1152144" cy="438912"/>
          </a:xfrm>
          <a:prstGeom prst="roundRect">
            <a:avLst>
              <a:gd name="adj" fmla="val 14583"/>
            </a:avLst>
          </a:prstGeom>
          <a:solidFill>
            <a:schemeClr val="accent4"/>
          </a:solidFill>
          <a:ln>
            <a:solidFill>
              <a:schemeClr val="accent4"/>
            </a:solidFill>
          </a:ln>
        </p:spPr>
        <p:txBody>
          <a:bodyPr wrap="square" lIns="0" tIns="101600" rIns="101600" bIns="0" rtlCol="0" anchor="ctr"/>
          <a:lstStyle/>
          <a:p>
            <a:pPr algn="l" indent="0" marL="0">
              <a:buNone/>
            </a:pPr>
            <a:r>
              <a:rPr lang="en-US" sz="1400" b="1" dirty="0">
                <a:solidFill>
                  <a:schemeClr val="bg1"/>
                </a:solidFill>
              </a:rPr>
              <a:t>CS10</a:t>
            </a:r>
            <a:endParaRPr lang="en-US" sz="1400" dirty="0"/>
          </a:p>
        </p:txBody>
      </p:sp>
      <p:sp>
        <p:nvSpPr>
          <p:cNvPr id="6" name="bar-116"/>
          <p:cNvSpPr txBox="1"/>
          <p:nvPr/>
        </p:nvSpPr>
        <p:spPr>
          <a:xfrm>
            <a:off x="2944368" y="1828800"/>
            <a:ext cx="1152144" cy="438912"/>
          </a:xfrm>
          <a:prstGeom prst="roundRect">
            <a:avLst>
              <a:gd name="adj" fmla="val 14583"/>
            </a:avLst>
          </a:prstGeom>
          <a:solidFill>
            <a:schemeClr val="accent6"/>
          </a:solidFill>
          <a:ln>
            <a:solidFill>
              <a:schemeClr val="accent6"/>
            </a:solidFill>
          </a:ln>
        </p:spPr>
        <p:txBody>
          <a:bodyPr wrap="square" lIns="0" tIns="101600" rIns="101600" bIns="0" rtlCol="0" anchor="ctr"/>
          <a:lstStyle/>
          <a:p>
            <a:pPr algn="l" indent="0" marL="0">
              <a:buNone/>
            </a:pPr>
            <a:r>
              <a:rPr lang="en-US" sz="1400" b="1" dirty="0">
                <a:solidFill>
                  <a:schemeClr val="bg1"/>
                </a:solidFill>
              </a:rPr>
              <a:t>CS11</a:t>
            </a:r>
            <a:endParaRPr lang="en-US" sz="1400" dirty="0"/>
          </a:p>
        </p:txBody>
      </p:sp>
      <p:sp>
        <p:nvSpPr>
          <p:cNvPr id="7" name="bar-117"/>
          <p:cNvSpPr txBox="1"/>
          <p:nvPr/>
        </p:nvSpPr>
        <p:spPr>
          <a:xfrm>
            <a:off x="4133088" y="1828800"/>
            <a:ext cx="1152144" cy="438912"/>
          </a:xfrm>
          <a:prstGeom prst="roundRect">
            <a:avLst>
              <a:gd name="adj" fmla="val 14583"/>
            </a:avLst>
          </a:prstGeom>
          <a:solidFill>
            <a:schemeClr val="accent4"/>
          </a:solidFill>
          <a:ln>
            <a:solidFill>
              <a:schemeClr val="accent4"/>
            </a:solidFill>
          </a:ln>
        </p:spPr>
        <p:txBody>
          <a:bodyPr wrap="square" lIns="0" tIns="101600" rIns="101600" bIns="0" rtlCol="0" anchor="ctr"/>
          <a:lstStyle/>
          <a:p>
            <a:pPr algn="l" indent="0" marL="0">
              <a:buNone/>
            </a:pPr>
            <a:r>
              <a:rPr lang="en-US" sz="1400" b="1" dirty="0">
                <a:solidFill>
                  <a:schemeClr val="bg1"/>
                </a:solidFill>
              </a:rPr>
              <a:t>CS12</a:t>
            </a:r>
            <a:endParaRPr lang="en-US" sz="1400" dirty="0"/>
          </a:p>
        </p:txBody>
      </p:sp>
      <p:sp>
        <p:nvSpPr>
          <p:cNvPr id="8" name="bar-118"/>
          <p:cNvSpPr txBox="1"/>
          <p:nvPr/>
        </p:nvSpPr>
        <p:spPr>
          <a:xfrm>
            <a:off x="5321808" y="1828800"/>
            <a:ext cx="1152144" cy="438912"/>
          </a:xfrm>
          <a:prstGeom prst="roundRect">
            <a:avLst>
              <a:gd name="adj" fmla="val 14583"/>
            </a:avLst>
          </a:prstGeom>
          <a:solidFill>
            <a:schemeClr val="accent6"/>
          </a:solidFill>
          <a:ln>
            <a:solidFill>
              <a:schemeClr val="accent6"/>
            </a:solidFill>
          </a:ln>
        </p:spPr>
        <p:txBody>
          <a:bodyPr wrap="square" lIns="0" tIns="101600" rIns="101600" bIns="0" rtlCol="0" anchor="ctr"/>
          <a:lstStyle/>
          <a:p>
            <a:pPr algn="l" indent="0" marL="0">
              <a:buNone/>
            </a:pPr>
            <a:r>
              <a:rPr lang="en-US" sz="1400" b="1" dirty="0">
                <a:solidFill>
                  <a:schemeClr val="bg1"/>
                </a:solidFill>
              </a:rPr>
              <a:t>CS13</a:t>
            </a:r>
            <a:endParaRPr lang="en-US" sz="1400" dirty="0"/>
          </a:p>
        </p:txBody>
      </p:sp>
      <p:sp>
        <p:nvSpPr>
          <p:cNvPr id="9" name="bar-119"/>
          <p:cNvSpPr txBox="1"/>
          <p:nvPr/>
        </p:nvSpPr>
        <p:spPr>
          <a:xfrm>
            <a:off x="6510528" y="1828800"/>
            <a:ext cx="1152144" cy="438912"/>
          </a:xfrm>
          <a:prstGeom prst="roundRect">
            <a:avLst>
              <a:gd name="adj" fmla="val 14583"/>
            </a:avLst>
          </a:prstGeom>
          <a:solidFill>
            <a:schemeClr val="accent4"/>
          </a:solidFill>
          <a:ln>
            <a:solidFill>
              <a:schemeClr val="accent4"/>
            </a:solidFill>
          </a:ln>
        </p:spPr>
        <p:txBody>
          <a:bodyPr wrap="square" lIns="0" tIns="101600" rIns="101600" bIns="0" rtlCol="0" anchor="ctr"/>
          <a:lstStyle/>
          <a:p>
            <a:pPr algn="l" indent="0" marL="0">
              <a:buNone/>
            </a:pPr>
            <a:r>
              <a:rPr lang="en-US" sz="1400" b="1" dirty="0">
                <a:solidFill>
                  <a:schemeClr val="bg1"/>
                </a:solidFill>
              </a:rPr>
              <a:t>CS14</a:t>
            </a:r>
            <a:endParaRPr lang="en-US" sz="1400" dirty="0"/>
          </a:p>
        </p:txBody>
      </p:sp>
      <p:sp>
        <p:nvSpPr>
          <p:cNvPr id="10" name="arrow-120"/>
          <p:cNvSpPr/>
          <p:nvPr/>
        </p:nvSpPr>
        <p:spPr>
          <a:xfrm flipV="1">
            <a:off x="4114800" y="2331720"/>
            <a:ext cx="914" cy="457200"/>
          </a:xfrm>
          <a:prstGeom prst="line">
            <a:avLst/>
          </a:prstGeom>
          <a:noFill/>
          <a:ln w="25400">
            <a:solidFill>
              <a:schemeClr val="accent3"/>
            </a:solidFill>
            <a:prstDash val="solid"/>
            <a:tailEnd type="triangle"/>
          </a:ln>
        </p:spPr>
      </p:sp>
      <p:sp>
        <p:nvSpPr>
          <p:cNvPr id="11" name="text-121"/>
          <p:cNvSpPr txBox="1"/>
          <p:nvPr/>
        </p:nvSpPr>
        <p:spPr>
          <a:xfrm>
            <a:off x="2651760" y="2834640"/>
            <a:ext cx="2926080" cy="320040"/>
          </a:xfrm>
          <a:prstGeom prst="rect">
            <a:avLst/>
          </a:prstGeom>
          <a:noFill/>
          <a:ln/>
        </p:spPr>
        <p:txBody>
          <a:bodyPr wrap="square" lIns="0" tIns="0" rIns="0" bIns="0" rtlCol="0" anchor="t"/>
          <a:lstStyle/>
          <a:p>
            <a:pPr algn="ctr" indent="0" marL="0">
              <a:buNone/>
            </a:pPr>
            <a:r>
              <a:rPr lang="en-US" sz="1500" b="1" dirty="0">
                <a:solidFill>
                  <a:schemeClr val="accent3"/>
                </a:solidFill>
              </a:rPr>
              <a:t>end(CS11) = start(CS12)</a:t>
            </a:r>
            <a:endParaRPr lang="en-US" sz="1500" dirty="0"/>
          </a:p>
        </p:txBody>
      </p:sp>
      <p:sp>
        <p:nvSpPr>
          <p:cNvPr id="12" name="text-122"/>
          <p:cNvSpPr txBox="1"/>
          <p:nvPr/>
        </p:nvSpPr>
        <p:spPr>
          <a:xfrm>
            <a:off x="2103120" y="3154680"/>
            <a:ext cx="4023360" cy="320040"/>
          </a:xfrm>
          <a:prstGeom prst="rect">
            <a:avLst/>
          </a:prstGeom>
          <a:noFill/>
          <a:ln/>
        </p:spPr>
        <p:txBody>
          <a:bodyPr wrap="square" lIns="0" tIns="0" rIns="0" bIns="0" rtlCol="0" anchor="t"/>
          <a:lstStyle/>
          <a:p>
            <a:pPr algn="ctr" indent="0" marL="0">
              <a:buNone/>
            </a:pPr>
            <a:r>
              <a:rPr lang="en-US" sz="1300" dirty="0">
                <a:solidFill>
                  <a:schemeClr val="accent6"/>
                </a:solidFill>
              </a:rPr>
              <a:t>HsapDv: CS12 immediately_preceded_by CS11</a:t>
            </a:r>
            <a:endParaRPr lang="en-US" sz="1300" dirty="0"/>
          </a:p>
        </p:txBody>
      </p:sp>
      <p:sp>
        <p:nvSpPr>
          <p:cNvPr id="13" name="text-123"/>
          <p:cNvSpPr txBox="1"/>
          <p:nvPr/>
        </p:nvSpPr>
        <p:spPr>
          <a:xfrm>
            <a:off x="548640" y="370332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Nesting: part_of between stages</a:t>
            </a:r>
            <a:endParaRPr lang="en-US" sz="1800" dirty="0"/>
          </a:p>
        </p:txBody>
      </p:sp>
      <p:sp>
        <p:nvSpPr>
          <p:cNvPr id="14" name="bar-124"/>
          <p:cNvSpPr txBox="1"/>
          <p:nvPr/>
        </p:nvSpPr>
        <p:spPr>
          <a:xfrm>
            <a:off x="548640" y="4206240"/>
            <a:ext cx="4480560" cy="384048"/>
          </a:xfrm>
          <a:prstGeom prst="roundRect">
            <a:avLst>
              <a:gd name="adj" fmla="val 16667"/>
            </a:avLst>
          </a:prstGeom>
          <a:solidFill>
            <a:schemeClr val="accent6"/>
          </a:solidFill>
          <a:ln>
            <a:solidFill>
              <a:schemeClr val="accent6"/>
            </a:solidFill>
          </a:ln>
        </p:spPr>
        <p:txBody>
          <a:bodyPr wrap="square" lIns="0" tIns="101600" rIns="101600" bIns="0" rtlCol="0" anchor="ctr"/>
          <a:lstStyle/>
          <a:p>
            <a:pPr algn="l" indent="0" marL="0">
              <a:buNone/>
            </a:pPr>
            <a:r>
              <a:rPr lang="en-US" sz="1400" b="1" dirty="0">
                <a:solidFill>
                  <a:schemeClr val="bg1"/>
                </a:solidFill>
              </a:rPr>
              <a:t>embryonic stage</a:t>
            </a:r>
            <a:endParaRPr lang="en-US" sz="1400" dirty="0"/>
          </a:p>
        </p:txBody>
      </p:sp>
      <p:sp>
        <p:nvSpPr>
          <p:cNvPr id="15" name="bar-125"/>
          <p:cNvSpPr txBox="1"/>
          <p:nvPr/>
        </p:nvSpPr>
        <p:spPr>
          <a:xfrm>
            <a:off x="5084064" y="4206240"/>
            <a:ext cx="2779776" cy="384048"/>
          </a:xfrm>
          <a:prstGeom prst="roundRect">
            <a:avLst>
              <a:gd name="adj" fmla="val 16667"/>
            </a:avLst>
          </a:prstGeom>
          <a:solidFill>
            <a:schemeClr val="accent6"/>
          </a:solidFill>
          <a:ln>
            <a:solidFill>
              <a:schemeClr val="accent6"/>
            </a:solidFill>
          </a:ln>
        </p:spPr>
        <p:txBody>
          <a:bodyPr wrap="square" lIns="0" tIns="101600" rIns="101600" bIns="0" rtlCol="0" anchor="ctr"/>
          <a:lstStyle/>
          <a:p>
            <a:pPr algn="l" indent="0" marL="0">
              <a:buNone/>
            </a:pPr>
            <a:r>
              <a:rPr lang="en-US" sz="1400" b="1" dirty="0">
                <a:solidFill>
                  <a:schemeClr val="bg1"/>
                </a:solidFill>
              </a:rPr>
              <a:t>fetal stage</a:t>
            </a:r>
            <a:endParaRPr lang="en-US" sz="1400" dirty="0"/>
          </a:p>
        </p:txBody>
      </p:sp>
      <p:sp>
        <p:nvSpPr>
          <p:cNvPr id="16" name="bar-126"/>
          <p:cNvSpPr txBox="1"/>
          <p:nvPr/>
        </p:nvSpPr>
        <p:spPr>
          <a:xfrm>
            <a:off x="548640" y="4663440"/>
            <a:ext cx="1078992" cy="347472"/>
          </a:xfrm>
          <a:prstGeom prst="roundRect">
            <a:avLst>
              <a:gd name="adj" fmla="val 18421"/>
            </a:avLst>
          </a:prstGeom>
          <a:solidFill>
            <a:schemeClr val="accent4"/>
          </a:solidFill>
          <a:ln>
            <a:solidFill>
              <a:schemeClr val="accent4"/>
            </a:solidFill>
          </a:ln>
        </p:spPr>
        <p:txBody>
          <a:bodyPr wrap="square" lIns="0" tIns="101600" rIns="101600" bIns="0" rtlCol="0" anchor="ctr"/>
          <a:lstStyle/>
          <a:p>
            <a:pPr algn="l" indent="0" marL="0">
              <a:buNone/>
            </a:pPr>
            <a:r>
              <a:rPr lang="en-US" sz="1200" dirty="0">
                <a:solidFill>
                  <a:schemeClr val="bg1"/>
                </a:solidFill>
              </a:rPr>
              <a:t>CS1</a:t>
            </a:r>
            <a:endParaRPr lang="en-US" sz="1200" dirty="0"/>
          </a:p>
        </p:txBody>
      </p:sp>
      <p:sp>
        <p:nvSpPr>
          <p:cNvPr id="17" name="bar-127"/>
          <p:cNvSpPr txBox="1"/>
          <p:nvPr/>
        </p:nvSpPr>
        <p:spPr>
          <a:xfrm>
            <a:off x="1682496" y="4663440"/>
            <a:ext cx="1078992" cy="347472"/>
          </a:xfrm>
          <a:prstGeom prst="roundRect">
            <a:avLst>
              <a:gd name="adj" fmla="val 18421"/>
            </a:avLst>
          </a:prstGeom>
          <a:solidFill>
            <a:schemeClr val="accent4"/>
          </a:solidFill>
          <a:ln>
            <a:solidFill>
              <a:schemeClr val="accent4"/>
            </a:solidFill>
          </a:ln>
        </p:spPr>
        <p:txBody>
          <a:bodyPr wrap="square" lIns="0" tIns="101600" rIns="101600" bIns="0" rtlCol="0" anchor="ctr"/>
          <a:lstStyle/>
          <a:p>
            <a:pPr algn="l" indent="0" marL="0">
              <a:buNone/>
            </a:pPr>
            <a:r>
              <a:rPr lang="en-US" sz="1200" dirty="0">
                <a:solidFill>
                  <a:schemeClr val="bg1"/>
                </a:solidFill>
              </a:rPr>
              <a:t>…</a:t>
            </a:r>
            <a:endParaRPr lang="en-US" sz="1200" dirty="0"/>
          </a:p>
        </p:txBody>
      </p:sp>
      <p:sp>
        <p:nvSpPr>
          <p:cNvPr id="18" name="bar-128"/>
          <p:cNvSpPr txBox="1"/>
          <p:nvPr/>
        </p:nvSpPr>
        <p:spPr>
          <a:xfrm>
            <a:off x="2816352" y="4663440"/>
            <a:ext cx="1078992" cy="347472"/>
          </a:xfrm>
          <a:prstGeom prst="roundRect">
            <a:avLst>
              <a:gd name="adj" fmla="val 18421"/>
            </a:avLst>
          </a:prstGeom>
          <a:solidFill>
            <a:schemeClr val="accent4"/>
          </a:solidFill>
          <a:ln>
            <a:solidFill>
              <a:schemeClr val="accent4"/>
            </a:solidFill>
          </a:ln>
        </p:spPr>
        <p:txBody>
          <a:bodyPr wrap="square" lIns="0" tIns="101600" rIns="101600" bIns="0" rtlCol="0" anchor="ctr"/>
          <a:lstStyle/>
          <a:p>
            <a:pPr algn="l" indent="0" marL="0">
              <a:buNone/>
            </a:pPr>
            <a:r>
              <a:rPr lang="en-US" sz="1200" dirty="0">
                <a:solidFill>
                  <a:schemeClr val="bg1"/>
                </a:solidFill>
              </a:rPr>
              <a:t>CS22</a:t>
            </a:r>
            <a:endParaRPr lang="en-US" sz="1200" dirty="0"/>
          </a:p>
        </p:txBody>
      </p:sp>
      <p:sp>
        <p:nvSpPr>
          <p:cNvPr id="19" name="bar-129"/>
          <p:cNvSpPr txBox="1"/>
          <p:nvPr/>
        </p:nvSpPr>
        <p:spPr>
          <a:xfrm>
            <a:off x="3950208" y="4663440"/>
            <a:ext cx="1078992" cy="347472"/>
          </a:xfrm>
          <a:prstGeom prst="roundRect">
            <a:avLst>
              <a:gd name="adj" fmla="val 18421"/>
            </a:avLst>
          </a:prstGeom>
          <a:solidFill>
            <a:schemeClr val="accent4"/>
          </a:solidFill>
          <a:ln>
            <a:solidFill>
              <a:schemeClr val="accent4"/>
            </a:solidFill>
          </a:ln>
        </p:spPr>
        <p:txBody>
          <a:bodyPr wrap="square" lIns="0" tIns="101600" rIns="101600" bIns="0" rtlCol="0" anchor="ctr"/>
          <a:lstStyle/>
          <a:p>
            <a:pPr algn="l" indent="0" marL="0">
              <a:buNone/>
            </a:pPr>
            <a:r>
              <a:rPr lang="en-US" sz="1200" dirty="0">
                <a:solidFill>
                  <a:schemeClr val="bg1"/>
                </a:solidFill>
              </a:rPr>
              <a:t>CS23</a:t>
            </a:r>
            <a:endParaRPr lang="en-US" sz="1200" dirty="0"/>
          </a:p>
        </p:txBody>
      </p:sp>
      <p:sp>
        <p:nvSpPr>
          <p:cNvPr id="20" name="bar-130"/>
          <p:cNvSpPr txBox="1"/>
          <p:nvPr/>
        </p:nvSpPr>
        <p:spPr>
          <a:xfrm>
            <a:off x="5084064" y="4663440"/>
            <a:ext cx="896112" cy="347472"/>
          </a:xfrm>
          <a:prstGeom prst="roundRect">
            <a:avLst>
              <a:gd name="adj" fmla="val 18421"/>
            </a:avLst>
          </a:prstGeom>
          <a:solidFill>
            <a:schemeClr val="accent4"/>
          </a:solidFill>
          <a:ln>
            <a:solidFill>
              <a:schemeClr val="accent4"/>
            </a:solidFill>
          </a:ln>
        </p:spPr>
        <p:txBody>
          <a:bodyPr wrap="square" lIns="0" tIns="101600" rIns="101600" bIns="0" rtlCol="0" anchor="ctr"/>
          <a:lstStyle/>
          <a:p>
            <a:pPr algn="l" indent="0" marL="0">
              <a:buNone/>
            </a:pPr>
            <a:r>
              <a:rPr lang="en-US" sz="1200" dirty="0">
                <a:solidFill>
                  <a:schemeClr val="bg1"/>
                </a:solidFill>
              </a:rPr>
              <a:t>week 9</a:t>
            </a:r>
            <a:endParaRPr lang="en-US" sz="1200" dirty="0"/>
          </a:p>
        </p:txBody>
      </p:sp>
      <p:sp>
        <p:nvSpPr>
          <p:cNvPr id="21" name="bar-131"/>
          <p:cNvSpPr txBox="1"/>
          <p:nvPr/>
        </p:nvSpPr>
        <p:spPr>
          <a:xfrm>
            <a:off x="6016752" y="4663440"/>
            <a:ext cx="896112" cy="347472"/>
          </a:xfrm>
          <a:prstGeom prst="roundRect">
            <a:avLst>
              <a:gd name="adj" fmla="val 18421"/>
            </a:avLst>
          </a:prstGeom>
          <a:solidFill>
            <a:schemeClr val="accent4"/>
          </a:solidFill>
          <a:ln>
            <a:solidFill>
              <a:schemeClr val="accent4"/>
            </a:solidFill>
          </a:ln>
        </p:spPr>
        <p:txBody>
          <a:bodyPr wrap="square" lIns="0" tIns="101600" rIns="101600" bIns="0" rtlCol="0" anchor="ctr"/>
          <a:lstStyle/>
          <a:p>
            <a:pPr algn="l" indent="0" marL="0">
              <a:buNone/>
            </a:pPr>
            <a:r>
              <a:rPr lang="en-US" sz="1200" dirty="0">
                <a:solidFill>
                  <a:schemeClr val="bg1"/>
                </a:solidFill>
              </a:rPr>
              <a:t>week 10</a:t>
            </a:r>
            <a:endParaRPr lang="en-US" sz="1200" dirty="0"/>
          </a:p>
        </p:txBody>
      </p:sp>
      <p:sp>
        <p:nvSpPr>
          <p:cNvPr id="22" name="bar-132"/>
          <p:cNvSpPr txBox="1"/>
          <p:nvPr/>
        </p:nvSpPr>
        <p:spPr>
          <a:xfrm>
            <a:off x="6949440" y="4663440"/>
            <a:ext cx="896112" cy="347472"/>
          </a:xfrm>
          <a:prstGeom prst="roundRect">
            <a:avLst>
              <a:gd name="adj" fmla="val 18421"/>
            </a:avLst>
          </a:prstGeom>
          <a:solidFill>
            <a:schemeClr val="accent4"/>
          </a:solidFill>
          <a:ln>
            <a:solidFill>
              <a:schemeClr val="accent4"/>
            </a:solidFill>
          </a:ln>
        </p:spPr>
        <p:txBody>
          <a:bodyPr wrap="square" lIns="0" tIns="101600" rIns="101600" bIns="0" rtlCol="0" anchor="ctr"/>
          <a:lstStyle/>
          <a:p>
            <a:pPr algn="l" indent="0" marL="0">
              <a:buNone/>
            </a:pPr>
            <a:r>
              <a:rPr lang="en-US" sz="1200" dirty="0">
                <a:solidFill>
                  <a:schemeClr val="bg1"/>
                </a:solidFill>
              </a:rPr>
              <a:t>…</a:t>
            </a:r>
            <a:endParaRPr lang="en-US" sz="1200" dirty="0"/>
          </a:p>
        </p:txBody>
      </p:sp>
      <p:sp>
        <p:nvSpPr>
          <p:cNvPr id="23" name="text-133"/>
          <p:cNvSpPr txBox="1"/>
          <p:nvPr/>
        </p:nvSpPr>
        <p:spPr>
          <a:xfrm>
            <a:off x="548640" y="5257800"/>
            <a:ext cx="7315200" cy="868680"/>
          </a:xfrm>
          <a:prstGeom prst="rect">
            <a:avLst/>
          </a:prstGeom>
          <a:noFill/>
          <a:ln/>
        </p:spPr>
        <p:txBody>
          <a:bodyPr wrap="square" lIns="0" tIns="0" rIns="0" bIns="0" rtlCol="0" anchor="t"/>
          <a:lstStyle/>
          <a:p>
            <a:pPr indent="0" marL="0">
              <a:buNone/>
            </a:pPr>
            <a:r>
              <a:rPr lang="en-US" sz="1400" dirty="0">
                <a:solidFill>
                  <a:schemeClr val="accent6"/>
                </a:solidFill>
              </a:rPr>
              <a:t>No HsapDv edge says CS23 is followed by week 9. The order is still derived: CS23 ends within the embryonic stage, which immediately precedes the fetal stage, which contains week 9.</a:t>
            </a:r>
            <a:endParaRPr lang="en-US" sz="1400" dirty="0"/>
          </a:p>
        </p:txBody>
      </p:sp>
      <p:sp>
        <p:nvSpPr>
          <p:cNvPr id="24" name="box-134"/>
          <p:cNvSpPr/>
          <p:nvPr/>
        </p:nvSpPr>
        <p:spPr>
          <a:xfrm>
            <a:off x="8321040" y="1325880"/>
            <a:ext cx="3337560" cy="4800600"/>
          </a:xfrm>
          <a:prstGeom prst="roundRect">
            <a:avLst>
              <a:gd name="adj" fmla="val 2192"/>
            </a:avLst>
          </a:prstGeom>
          <a:solidFill>
            <a:schemeClr val="bg2"/>
          </a:solidFill>
          <a:ln w="12700">
            <a:solidFill>
              <a:schemeClr val="bg2"/>
            </a:solidFill>
            <a:prstDash val="solid"/>
          </a:ln>
        </p:spPr>
      </p:sp>
      <p:sp>
        <p:nvSpPr>
          <p:cNvPr id="25" name="text-135"/>
          <p:cNvSpPr txBox="1"/>
          <p:nvPr/>
        </p:nvSpPr>
        <p:spPr>
          <a:xfrm>
            <a:off x="8549640" y="1554480"/>
            <a:ext cx="2926080" cy="365760"/>
          </a:xfrm>
          <a:prstGeom prst="rect">
            <a:avLst/>
          </a:prstGeom>
          <a:noFill/>
          <a:ln/>
        </p:spPr>
        <p:txBody>
          <a:bodyPr wrap="square" lIns="0" tIns="0" rIns="0" bIns="0" rtlCol="0" anchor="t"/>
          <a:lstStyle/>
          <a:p>
            <a:pPr indent="0" marL="0">
              <a:buNone/>
            </a:pPr>
            <a:r>
              <a:rPr lang="en-US" sz="1600" b="1" dirty="0">
                <a:solidFill>
                  <a:schemeClr val="tx1"/>
                </a:solidFill>
              </a:rPr>
              <a:t>No stage numbers</a:t>
            </a:r>
            <a:endParaRPr lang="en-US" sz="1600" dirty="0"/>
          </a:p>
        </p:txBody>
      </p:sp>
      <p:sp>
        <p:nvSpPr>
          <p:cNvPr id="26" name="text-136"/>
          <p:cNvSpPr txBox="1"/>
          <p:nvPr/>
        </p:nvSpPr>
        <p:spPr>
          <a:xfrm>
            <a:off x="8549640" y="1920240"/>
            <a:ext cx="2926080" cy="1737360"/>
          </a:xfrm>
          <a:prstGeom prst="rect">
            <a:avLst/>
          </a:prstGeom>
          <a:noFill/>
          <a:ln/>
        </p:spPr>
        <p:txBody>
          <a:bodyPr wrap="square" lIns="0" tIns="0" rIns="0" bIns="0" rtlCol="0" anchor="t"/>
          <a:lstStyle/>
          <a:p>
            <a:pPr indent="0" marL="0">
              <a:buNone/>
            </a:pPr>
            <a:r>
              <a:rPr lang="en-US" sz="1400" dirty="0">
                <a:solidFill>
                  <a:schemeClr val="tx1"/>
                </a:solidFill>
              </a:rPr>
              <a:t>Each stage is an interval with a start and an end. HsapDv's own relations order them, so sub-stages and nested stages need no special handling.</a:t>
            </a:r>
            <a:endParaRPr lang="en-US" sz="1400" dirty="0"/>
          </a:p>
        </p:txBody>
      </p:sp>
      <p:sp>
        <p:nvSpPr>
          <p:cNvPr id="27" name="badge-137"/>
          <p:cNvSpPr/>
          <p:nvPr/>
        </p:nvSpPr>
        <p:spPr>
          <a:xfrm>
            <a:off x="8549640" y="3749040"/>
            <a:ext cx="502920" cy="502920"/>
          </a:xfrm>
          <a:prstGeom prst="ellipse">
            <a:avLst/>
          </a:prstGeom>
          <a:solidFill>
            <a:schemeClr val="accent3"/>
          </a:solidFill>
          <a:ln w="12700">
            <a:solidFill>
              <a:schemeClr val="accent3"/>
            </a:solidFill>
            <a:prstDash val="solid"/>
          </a:ln>
        </p:spPr>
      </p:sp>
      <p:pic>
        <p:nvPicPr>
          <p:cNvPr id="28" name="icon-138" descr="preencoded.png">    </p:cNvPr>
          <p:cNvPicPr>
            <a:picLocks noChangeAspect="1"/>
          </p:cNvPicPr>
          <p:nvPr/>
        </p:nvPicPr>
        <p:blipFill>
          <a:blip r:embed="rId1"/>
          <a:stretch>
            <a:fillRect/>
          </a:stretch>
        </p:blipFill>
        <p:spPr>
          <a:xfrm>
            <a:off x="8670341" y="3869741"/>
            <a:ext cx="261518" cy="261518"/>
          </a:xfrm>
          <a:prstGeom prst="rect">
            <a:avLst/>
          </a:prstGeom>
        </p:spPr>
      </p:pic>
      <p:sp>
        <p:nvSpPr>
          <p:cNvPr id="29" name="text-139"/>
          <p:cNvSpPr txBox="1"/>
          <p:nvPr/>
        </p:nvSpPr>
        <p:spPr>
          <a:xfrm>
            <a:off x="9144000" y="3794760"/>
            <a:ext cx="2377440" cy="457200"/>
          </a:xfrm>
          <a:prstGeom prst="rect">
            <a:avLst/>
          </a:prstGeom>
          <a:noFill/>
          <a:ln/>
        </p:spPr>
        <p:txBody>
          <a:bodyPr wrap="square" lIns="0" tIns="0" rIns="0" bIns="0" rtlCol="0" anchor="t"/>
          <a:lstStyle/>
          <a:p>
            <a:pPr indent="0" marL="0">
              <a:buNone/>
            </a:pPr>
            <a:r>
              <a:rPr lang="en-US" sz="1500" b="1" dirty="0">
                <a:solidFill>
                  <a:schemeClr val="accent3"/>
                </a:solidFill>
              </a:rPr>
              <a:t>The check found an HsapDv error</a:t>
            </a:r>
            <a:endParaRPr lang="en-US" sz="1500" dirty="0"/>
          </a:p>
        </p:txBody>
      </p:sp>
      <p:sp>
        <p:nvSpPr>
          <p:cNvPr id="30" name="text-140"/>
          <p:cNvSpPr txBox="1"/>
          <p:nvPr/>
        </p:nvSpPr>
        <p:spPr>
          <a:xfrm>
            <a:off x="8549640" y="4389120"/>
            <a:ext cx="2926080" cy="1554480"/>
          </a:xfrm>
          <a:prstGeom prst="rect">
            <a:avLst/>
          </a:prstGeom>
          <a:noFill/>
          <a:ln/>
        </p:spPr>
        <p:txBody>
          <a:bodyPr wrap="square" lIns="0" tIns="0" rIns="0" bIns="0" rtlCol="0" anchor="t"/>
          <a:lstStyle/>
          <a:p>
            <a:pPr indent="0" marL="0">
              <a:buNone/>
            </a:pPr>
            <a:r>
              <a:rPr lang="en-US" sz="1400" dirty="0">
                <a:solidFill>
                  <a:schemeClr val="tx1"/>
                </a:solidFill>
              </a:rPr>
              <a:t>Carnegie stage 05a is asserted both part of stage 05 and immediately after it. A part cannot begin when its whole ends.</a:t>
            </a:r>
            <a:endParaRPr lang="en-US" sz="14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Limits: an idealised atlas only works for countable structures</a:t>
            </a:r>
            <a:endParaRPr lang="en-US" sz="3000" dirty="0"/>
          </a:p>
        </p:txBody>
      </p:sp>
      <p:sp>
        <p:nvSpPr>
          <p:cNvPr id="3" name="box-141"/>
          <p:cNvSpPr/>
          <p:nvPr/>
        </p:nvSpPr>
        <p:spPr>
          <a:xfrm>
            <a:off x="548640" y="1371600"/>
            <a:ext cx="7406640" cy="1417320"/>
          </a:xfrm>
          <a:prstGeom prst="roundRect">
            <a:avLst>
              <a:gd name="adj" fmla="val 5161"/>
            </a:avLst>
          </a:prstGeom>
          <a:solidFill>
            <a:schemeClr val="bg2"/>
          </a:solidFill>
          <a:ln w="12700">
            <a:solidFill>
              <a:schemeClr val="bg2"/>
            </a:solidFill>
            <a:prstDash val="solid"/>
          </a:ln>
        </p:spPr>
      </p:sp>
      <p:sp>
        <p:nvSpPr>
          <p:cNvPr id="4" name="text-142"/>
          <p:cNvSpPr txBox="1"/>
          <p:nvPr/>
        </p:nvSpPr>
        <p:spPr>
          <a:xfrm>
            <a:off x="777240" y="1554480"/>
            <a:ext cx="3017520" cy="365760"/>
          </a:xfrm>
          <a:prstGeom prst="rect">
            <a:avLst/>
          </a:prstGeom>
          <a:noFill/>
          <a:ln/>
        </p:spPr>
        <p:txBody>
          <a:bodyPr wrap="square" lIns="0" tIns="0" rIns="0" bIns="0" rtlCol="0" anchor="t"/>
          <a:lstStyle/>
          <a:p>
            <a:pPr indent="0" marL="0">
              <a:buNone/>
            </a:pPr>
            <a:r>
              <a:rPr lang="en-US" sz="1700" b="1" dirty="0">
                <a:solidFill>
                  <a:schemeClr val="tx1"/>
                </a:solidFill>
              </a:rPr>
              <a:t>One per embryo</a:t>
            </a:r>
            <a:endParaRPr lang="en-US" sz="1700" dirty="0"/>
          </a:p>
        </p:txBody>
      </p:sp>
      <p:sp>
        <p:nvSpPr>
          <p:cNvPr id="5" name="text-143"/>
          <p:cNvSpPr txBox="1"/>
          <p:nvPr/>
        </p:nvSpPr>
        <p:spPr>
          <a:xfrm>
            <a:off x="777240" y="1965960"/>
            <a:ext cx="3017520" cy="685800"/>
          </a:xfrm>
          <a:prstGeom prst="rect">
            <a:avLst/>
          </a:prstGeom>
          <a:noFill/>
          <a:ln/>
        </p:spPr>
        <p:txBody>
          <a:bodyPr wrap="square" lIns="0" tIns="0" rIns="0" bIns="0" rtlCol="0" anchor="t"/>
          <a:lstStyle/>
          <a:p>
            <a:pPr indent="0" marL="0">
              <a:buNone/>
            </a:pPr>
            <a:r>
              <a:rPr lang="en-US" sz="1400" dirty="0">
                <a:solidFill>
                  <a:schemeClr val="accent6"/>
                </a:solidFill>
              </a:rPr>
              <a:t>liver, notochord, pharyngeal arch 3</a:t>
            </a:r>
            <a:endParaRPr lang="en-US" sz="1400" dirty="0"/>
          </a:p>
        </p:txBody>
      </p:sp>
      <p:sp>
        <p:nvSpPr>
          <p:cNvPr id="6" name="bar-144"/>
          <p:cNvSpPr txBox="1"/>
          <p:nvPr/>
        </p:nvSpPr>
        <p:spPr>
          <a:xfrm>
            <a:off x="4251960" y="1901952"/>
            <a:ext cx="1737360" cy="329184"/>
          </a:xfrm>
          <a:prstGeom prst="roundRect">
            <a:avLst>
              <a:gd name="adj" fmla="val 19444"/>
            </a:avLst>
          </a:prstGeom>
          <a:solidFill>
            <a:schemeClr val="accent1"/>
          </a:solidFill>
          <a:ln>
            <a:solidFill>
              <a:schemeClr val="accent1"/>
            </a:solidFill>
          </a:ln>
        </p:spPr>
        <p:txBody>
          <a:bodyPr wrap="square" lIns="0" tIns="101600" rIns="101600" bIns="0" rtlCol="0" anchor="ctr"/>
          <a:lstStyle/>
          <a:p>
            <a:pPr algn="l" indent="0" marL="0">
              <a:buNone/>
            </a:pPr>
            <a:r>
              <a:rPr lang="en-US" sz="1200" dirty="0">
                <a:solidFill>
                  <a:schemeClr val="bg1"/>
                </a:solidFill>
              </a:rPr>
              <a:t>arch 3</a:t>
            </a:r>
            <a:endParaRPr lang="en-US" sz="1200" dirty="0"/>
          </a:p>
        </p:txBody>
      </p:sp>
      <p:sp>
        <p:nvSpPr>
          <p:cNvPr id="7" name="chip-145"/>
          <p:cNvSpPr txBox="1"/>
          <p:nvPr/>
        </p:nvSpPr>
        <p:spPr>
          <a:xfrm>
            <a:off x="6400800" y="1901952"/>
            <a:ext cx="1371600" cy="347472"/>
          </a:xfrm>
          <a:prstGeom prst="roundRect">
            <a:avLst>
              <a:gd name="adj" fmla="val 31579"/>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exact</a:t>
            </a:r>
            <a:endParaRPr lang="en-US" sz="1300" dirty="0"/>
          </a:p>
        </p:txBody>
      </p:sp>
      <p:sp>
        <p:nvSpPr>
          <p:cNvPr id="8" name="box-146"/>
          <p:cNvSpPr/>
          <p:nvPr/>
        </p:nvSpPr>
        <p:spPr>
          <a:xfrm>
            <a:off x="548640" y="2971800"/>
            <a:ext cx="7406640" cy="1417320"/>
          </a:xfrm>
          <a:prstGeom prst="roundRect">
            <a:avLst>
              <a:gd name="adj" fmla="val 5161"/>
            </a:avLst>
          </a:prstGeom>
          <a:solidFill>
            <a:schemeClr val="bg2"/>
          </a:solidFill>
          <a:ln w="12700">
            <a:solidFill>
              <a:schemeClr val="bg2"/>
            </a:solidFill>
            <a:prstDash val="solid"/>
          </a:ln>
        </p:spPr>
      </p:sp>
      <p:sp>
        <p:nvSpPr>
          <p:cNvPr id="9" name="text-147"/>
          <p:cNvSpPr txBox="1"/>
          <p:nvPr/>
        </p:nvSpPr>
        <p:spPr>
          <a:xfrm>
            <a:off x="777240" y="3154680"/>
            <a:ext cx="3017520" cy="365760"/>
          </a:xfrm>
          <a:prstGeom prst="rect">
            <a:avLst/>
          </a:prstGeom>
          <a:noFill/>
          <a:ln/>
        </p:spPr>
        <p:txBody>
          <a:bodyPr wrap="square" lIns="0" tIns="0" rIns="0" bIns="0" rtlCol="0" anchor="t"/>
          <a:lstStyle/>
          <a:p>
            <a:pPr indent="0" marL="0">
              <a:buNone/>
            </a:pPr>
            <a:r>
              <a:rPr lang="en-US" sz="1700" b="1" dirty="0">
                <a:solidFill>
                  <a:schemeClr val="tx1"/>
                </a:solidFill>
              </a:rPr>
              <a:t>A series, each member named</a:t>
            </a:r>
            <a:endParaRPr lang="en-US" sz="1700" dirty="0"/>
          </a:p>
        </p:txBody>
      </p:sp>
      <p:sp>
        <p:nvSpPr>
          <p:cNvPr id="10" name="text-148"/>
          <p:cNvSpPr txBox="1"/>
          <p:nvPr/>
        </p:nvSpPr>
        <p:spPr>
          <a:xfrm>
            <a:off x="777240" y="3566160"/>
            <a:ext cx="3017520" cy="685800"/>
          </a:xfrm>
          <a:prstGeom prst="rect">
            <a:avLst/>
          </a:prstGeom>
          <a:noFill/>
          <a:ln/>
        </p:spPr>
        <p:txBody>
          <a:bodyPr wrap="square" lIns="0" tIns="0" rIns="0" bIns="0" rtlCol="0" anchor="t"/>
          <a:lstStyle/>
          <a:p>
            <a:pPr indent="0" marL="0">
              <a:buNone/>
            </a:pPr>
            <a:r>
              <a:rPr lang="en-US" sz="1400" dirty="0">
                <a:solidFill>
                  <a:schemeClr val="accent6"/>
                </a:solidFill>
              </a:rPr>
              <a:t>pharyngeal arches 1, 2, 3, 4, 6</a:t>
            </a:r>
            <a:endParaRPr lang="en-US" sz="1400" dirty="0"/>
          </a:p>
        </p:txBody>
      </p:sp>
      <p:sp>
        <p:nvSpPr>
          <p:cNvPr id="11" name="bar-149"/>
          <p:cNvSpPr txBox="1"/>
          <p:nvPr/>
        </p:nvSpPr>
        <p:spPr>
          <a:xfrm>
            <a:off x="3977640" y="3154680"/>
            <a:ext cx="2286000" cy="164592"/>
          </a:xfrm>
          <a:prstGeom prst="roundRect">
            <a:avLst>
              <a:gd name="adj" fmla="val 38889"/>
            </a:avLst>
          </a:prstGeom>
          <a:solidFill>
            <a:schemeClr val="accent1"/>
          </a:solidFill>
          <a:ln>
            <a:solidFill>
              <a:schemeClr val="accent1"/>
            </a:solidFill>
          </a:ln>
        </p:spPr>
        <p:txBody>
          <a:bodyPr wrap="square" lIns="0" tIns="101600" rIns="101600" bIns="0" rtlCol="0" anchor="ctr"/>
          <a:lstStyle/>
          <a:p>
            <a:pPr algn="l" indent="0" marL="0">
              <a:buNone/>
            </a:pPr>
            <a:endParaRPr lang="en-US" sz="1300" dirty="0"/>
          </a:p>
        </p:txBody>
      </p:sp>
      <p:sp>
        <p:nvSpPr>
          <p:cNvPr id="12" name="bar-150"/>
          <p:cNvSpPr txBox="1"/>
          <p:nvPr/>
        </p:nvSpPr>
        <p:spPr>
          <a:xfrm>
            <a:off x="3977640" y="3374136"/>
            <a:ext cx="2286000" cy="164592"/>
          </a:xfrm>
          <a:prstGeom prst="roundRect">
            <a:avLst>
              <a:gd name="adj" fmla="val 38889"/>
            </a:avLst>
          </a:prstGeom>
          <a:solidFill>
            <a:schemeClr val="accent1"/>
          </a:solidFill>
          <a:ln>
            <a:solidFill>
              <a:schemeClr val="accent1"/>
            </a:solidFill>
          </a:ln>
        </p:spPr>
        <p:txBody>
          <a:bodyPr wrap="square" lIns="0" tIns="101600" rIns="101600" bIns="0" rtlCol="0" anchor="ctr"/>
          <a:lstStyle/>
          <a:p>
            <a:pPr algn="l" indent="0" marL="0">
              <a:buNone/>
            </a:pPr>
            <a:endParaRPr lang="en-US" sz="1300" dirty="0"/>
          </a:p>
        </p:txBody>
      </p:sp>
      <p:sp>
        <p:nvSpPr>
          <p:cNvPr id="13" name="bar-151"/>
          <p:cNvSpPr txBox="1"/>
          <p:nvPr/>
        </p:nvSpPr>
        <p:spPr>
          <a:xfrm>
            <a:off x="4251960" y="3593592"/>
            <a:ext cx="2011680" cy="164592"/>
          </a:xfrm>
          <a:prstGeom prst="roundRect">
            <a:avLst>
              <a:gd name="adj" fmla="val 38889"/>
            </a:avLst>
          </a:prstGeom>
          <a:solidFill>
            <a:schemeClr val="accent1"/>
          </a:solidFill>
          <a:ln>
            <a:solidFill>
              <a:schemeClr val="accent1"/>
            </a:solidFill>
          </a:ln>
        </p:spPr>
        <p:txBody>
          <a:bodyPr wrap="square" lIns="0" tIns="101600" rIns="101600" bIns="0" rtlCol="0" anchor="ctr"/>
          <a:lstStyle/>
          <a:p>
            <a:pPr algn="l" indent="0" marL="0">
              <a:buNone/>
            </a:pPr>
            <a:endParaRPr lang="en-US" sz="1300" dirty="0"/>
          </a:p>
        </p:txBody>
      </p:sp>
      <p:sp>
        <p:nvSpPr>
          <p:cNvPr id="14" name="bar-152"/>
          <p:cNvSpPr txBox="1"/>
          <p:nvPr/>
        </p:nvSpPr>
        <p:spPr>
          <a:xfrm>
            <a:off x="4526280" y="3813048"/>
            <a:ext cx="1737360" cy="164592"/>
          </a:xfrm>
          <a:prstGeom prst="roundRect">
            <a:avLst>
              <a:gd name="adj" fmla="val 38889"/>
            </a:avLst>
          </a:prstGeom>
          <a:solidFill>
            <a:schemeClr val="accent1"/>
          </a:solidFill>
          <a:ln>
            <a:solidFill>
              <a:schemeClr val="accent1"/>
            </a:solidFill>
          </a:ln>
        </p:spPr>
        <p:txBody>
          <a:bodyPr wrap="square" lIns="0" tIns="101600" rIns="101600" bIns="0" rtlCol="0" anchor="ctr"/>
          <a:lstStyle/>
          <a:p>
            <a:pPr algn="l" indent="0" marL="0">
              <a:buNone/>
            </a:pPr>
            <a:endParaRPr lang="en-US" sz="1300" dirty="0"/>
          </a:p>
        </p:txBody>
      </p:sp>
      <p:sp>
        <p:nvSpPr>
          <p:cNvPr id="15" name="bar-153"/>
          <p:cNvSpPr txBox="1"/>
          <p:nvPr/>
        </p:nvSpPr>
        <p:spPr>
          <a:xfrm>
            <a:off x="4526280" y="4032504"/>
            <a:ext cx="1737360" cy="164592"/>
          </a:xfrm>
          <a:prstGeom prst="roundRect">
            <a:avLst>
              <a:gd name="adj" fmla="val 38889"/>
            </a:avLst>
          </a:prstGeom>
          <a:solidFill>
            <a:schemeClr val="accent1"/>
          </a:solidFill>
          <a:ln>
            <a:solidFill>
              <a:schemeClr val="accent1"/>
            </a:solidFill>
          </a:ln>
        </p:spPr>
        <p:txBody>
          <a:bodyPr wrap="square" lIns="0" tIns="101600" rIns="101600" bIns="0" rtlCol="0" anchor="ctr"/>
          <a:lstStyle/>
          <a:p>
            <a:pPr algn="l" indent="0" marL="0">
              <a:buNone/>
            </a:pPr>
            <a:endParaRPr lang="en-US" sz="1300" dirty="0"/>
          </a:p>
        </p:txBody>
      </p:sp>
      <p:sp>
        <p:nvSpPr>
          <p:cNvPr id="16" name="chip-154"/>
          <p:cNvSpPr txBox="1"/>
          <p:nvPr/>
        </p:nvSpPr>
        <p:spPr>
          <a:xfrm>
            <a:off x="6400800" y="3502152"/>
            <a:ext cx="1371600" cy="347472"/>
          </a:xfrm>
          <a:prstGeom prst="roundRect">
            <a:avLst>
              <a:gd name="adj" fmla="val 31579"/>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exact per member</a:t>
            </a:r>
            <a:endParaRPr lang="en-US" sz="1300" dirty="0"/>
          </a:p>
        </p:txBody>
      </p:sp>
      <p:sp>
        <p:nvSpPr>
          <p:cNvPr id="17" name="box-155"/>
          <p:cNvSpPr/>
          <p:nvPr/>
        </p:nvSpPr>
        <p:spPr>
          <a:xfrm>
            <a:off x="548640" y="4572000"/>
            <a:ext cx="7406640" cy="1417320"/>
          </a:xfrm>
          <a:prstGeom prst="roundRect">
            <a:avLst>
              <a:gd name="adj" fmla="val 5161"/>
            </a:avLst>
          </a:prstGeom>
          <a:solidFill>
            <a:schemeClr val="bg2"/>
          </a:solidFill>
          <a:ln w="12700">
            <a:solidFill>
              <a:schemeClr val="bg2"/>
            </a:solidFill>
            <a:prstDash val="solid"/>
          </a:ln>
        </p:spPr>
      </p:sp>
      <p:sp>
        <p:nvSpPr>
          <p:cNvPr id="18" name="text-156"/>
          <p:cNvSpPr txBox="1"/>
          <p:nvPr/>
        </p:nvSpPr>
        <p:spPr>
          <a:xfrm>
            <a:off x="777240" y="4754880"/>
            <a:ext cx="3017520" cy="365760"/>
          </a:xfrm>
          <a:prstGeom prst="rect">
            <a:avLst/>
          </a:prstGeom>
          <a:noFill/>
          <a:ln/>
        </p:spPr>
        <p:txBody>
          <a:bodyPr wrap="square" lIns="0" tIns="0" rIns="0" bIns="0" rtlCol="0" anchor="t"/>
          <a:lstStyle/>
          <a:p>
            <a:pPr indent="0" marL="0">
              <a:buNone/>
            </a:pPr>
            <a:r>
              <a:rPr lang="en-US" sz="1700" b="1" dirty="0">
                <a:solidFill>
                  <a:schemeClr val="tx1"/>
                </a:solidFill>
              </a:rPr>
              <a:t>Uncountable or variable</a:t>
            </a:r>
            <a:endParaRPr lang="en-US" sz="1700" dirty="0"/>
          </a:p>
        </p:txBody>
      </p:sp>
      <p:sp>
        <p:nvSpPr>
          <p:cNvPr id="19" name="text-157"/>
          <p:cNvSpPr txBox="1"/>
          <p:nvPr/>
        </p:nvSpPr>
        <p:spPr>
          <a:xfrm>
            <a:off x="777240" y="5166360"/>
            <a:ext cx="3017520" cy="685800"/>
          </a:xfrm>
          <a:prstGeom prst="rect">
            <a:avLst/>
          </a:prstGeom>
          <a:noFill/>
          <a:ln/>
        </p:spPr>
        <p:txBody>
          <a:bodyPr wrap="square" lIns="0" tIns="0" rIns="0" bIns="0" rtlCol="0" anchor="t"/>
          <a:lstStyle/>
          <a:p>
            <a:pPr indent="0" marL="0">
              <a:buNone/>
            </a:pPr>
            <a:r>
              <a:rPr lang="en-US" sz="1400" dirty="0">
                <a:solidFill>
                  <a:schemeClr val="accent6"/>
                </a:solidFill>
              </a:rPr>
              <a:t>haemangioblasts, chorionic villi, nephrons</a:t>
            </a:r>
            <a:endParaRPr lang="en-US" sz="1400" dirty="0"/>
          </a:p>
        </p:txBody>
      </p:sp>
      <p:sp>
        <p:nvSpPr>
          <p:cNvPr id="20" name="member-158"/>
          <p:cNvSpPr/>
          <p:nvPr/>
        </p:nvSpPr>
        <p:spPr>
          <a:xfrm>
            <a:off x="3977640" y="4736592"/>
            <a:ext cx="640080" cy="73152"/>
          </a:xfrm>
          <a:prstGeom prst="roundRect">
            <a:avLst>
              <a:gd name="adj" fmla="val 37500"/>
            </a:avLst>
          </a:prstGeom>
          <a:solidFill>
            <a:schemeClr val="accent4">
              <a:alpha val="60000"/>
            </a:schemeClr>
          </a:solidFill>
          <a:ln w="12700">
            <a:solidFill>
              <a:schemeClr val="accent4"/>
            </a:solidFill>
            <a:prstDash val="solid"/>
          </a:ln>
        </p:spPr>
      </p:sp>
      <p:sp>
        <p:nvSpPr>
          <p:cNvPr id="21" name="member-159"/>
          <p:cNvSpPr/>
          <p:nvPr/>
        </p:nvSpPr>
        <p:spPr>
          <a:xfrm>
            <a:off x="4297680" y="4837176"/>
            <a:ext cx="822960" cy="73152"/>
          </a:xfrm>
          <a:prstGeom prst="roundRect">
            <a:avLst>
              <a:gd name="adj" fmla="val 37500"/>
            </a:avLst>
          </a:prstGeom>
          <a:solidFill>
            <a:schemeClr val="accent4">
              <a:alpha val="60000"/>
            </a:schemeClr>
          </a:solidFill>
          <a:ln w="12700">
            <a:solidFill>
              <a:schemeClr val="accent4"/>
            </a:solidFill>
            <a:prstDash val="solid"/>
          </a:ln>
        </p:spPr>
      </p:sp>
      <p:sp>
        <p:nvSpPr>
          <p:cNvPr id="22" name="member-160"/>
          <p:cNvSpPr/>
          <p:nvPr/>
        </p:nvSpPr>
        <p:spPr>
          <a:xfrm>
            <a:off x="4160520" y="4937760"/>
            <a:ext cx="1097280" cy="73152"/>
          </a:xfrm>
          <a:prstGeom prst="roundRect">
            <a:avLst>
              <a:gd name="adj" fmla="val 37500"/>
            </a:avLst>
          </a:prstGeom>
          <a:solidFill>
            <a:schemeClr val="accent4">
              <a:alpha val="60000"/>
            </a:schemeClr>
          </a:solidFill>
          <a:ln w="12700">
            <a:solidFill>
              <a:schemeClr val="accent4"/>
            </a:solidFill>
            <a:prstDash val="solid"/>
          </a:ln>
        </p:spPr>
      </p:sp>
      <p:sp>
        <p:nvSpPr>
          <p:cNvPr id="23" name="member-161"/>
          <p:cNvSpPr/>
          <p:nvPr/>
        </p:nvSpPr>
        <p:spPr>
          <a:xfrm>
            <a:off x="4800600" y="5038344"/>
            <a:ext cx="731520" cy="73152"/>
          </a:xfrm>
          <a:prstGeom prst="roundRect">
            <a:avLst>
              <a:gd name="adj" fmla="val 37500"/>
            </a:avLst>
          </a:prstGeom>
          <a:solidFill>
            <a:schemeClr val="accent4">
              <a:alpha val="60000"/>
            </a:schemeClr>
          </a:solidFill>
          <a:ln w="12700">
            <a:solidFill>
              <a:schemeClr val="accent4"/>
            </a:solidFill>
            <a:prstDash val="solid"/>
          </a:ln>
        </p:spPr>
      </p:sp>
      <p:sp>
        <p:nvSpPr>
          <p:cNvPr id="24" name="member-162"/>
          <p:cNvSpPr/>
          <p:nvPr/>
        </p:nvSpPr>
        <p:spPr>
          <a:xfrm>
            <a:off x="5074920" y="5138928"/>
            <a:ext cx="914400" cy="73152"/>
          </a:xfrm>
          <a:prstGeom prst="roundRect">
            <a:avLst>
              <a:gd name="adj" fmla="val 37500"/>
            </a:avLst>
          </a:prstGeom>
          <a:solidFill>
            <a:schemeClr val="accent4">
              <a:alpha val="60000"/>
            </a:schemeClr>
          </a:solidFill>
          <a:ln w="12700">
            <a:solidFill>
              <a:schemeClr val="accent4"/>
            </a:solidFill>
            <a:prstDash val="solid"/>
          </a:ln>
        </p:spPr>
      </p:sp>
      <p:sp>
        <p:nvSpPr>
          <p:cNvPr id="25" name="member-163"/>
          <p:cNvSpPr/>
          <p:nvPr/>
        </p:nvSpPr>
        <p:spPr>
          <a:xfrm>
            <a:off x="4617720" y="5239512"/>
            <a:ext cx="1371600" cy="73152"/>
          </a:xfrm>
          <a:prstGeom prst="roundRect">
            <a:avLst>
              <a:gd name="adj" fmla="val 37500"/>
            </a:avLst>
          </a:prstGeom>
          <a:solidFill>
            <a:schemeClr val="accent4">
              <a:alpha val="60000"/>
            </a:schemeClr>
          </a:solidFill>
          <a:ln w="12700">
            <a:solidFill>
              <a:schemeClr val="accent4"/>
            </a:solidFill>
            <a:prstDash val="solid"/>
          </a:ln>
        </p:spPr>
      </p:sp>
      <p:sp>
        <p:nvSpPr>
          <p:cNvPr id="26" name="bar-164"/>
          <p:cNvSpPr txBox="1"/>
          <p:nvPr/>
        </p:nvSpPr>
        <p:spPr>
          <a:xfrm>
            <a:off x="3977640" y="5440680"/>
            <a:ext cx="2286000" cy="310896"/>
          </a:xfrm>
          <a:prstGeom prst="roundRect">
            <a:avLst>
              <a:gd name="adj" fmla="val 20588"/>
            </a:avLst>
          </a:prstGeom>
          <a:solidFill>
            <a:schemeClr val="accent2"/>
          </a:solidFill>
          <a:ln>
            <a:solidFill>
              <a:schemeClr val="accent2"/>
            </a:solidFill>
          </a:ln>
        </p:spPr>
        <p:txBody>
          <a:bodyPr wrap="square" lIns="0" tIns="101600" rIns="101600" bIns="0" rtlCol="0" anchor="ctr"/>
          <a:lstStyle/>
          <a:p>
            <a:pPr algn="l" indent="0" marL="0">
              <a:buNone/>
            </a:pPr>
            <a:r>
              <a:rPr lang="en-US" sz="1200" dirty="0">
                <a:solidFill>
                  <a:schemeClr val="tx1"/>
                </a:solidFill>
              </a:rPr>
              <a:t>one window</a:t>
            </a:r>
            <a:endParaRPr lang="en-US" sz="1200" dirty="0"/>
          </a:p>
        </p:txBody>
      </p:sp>
      <p:sp>
        <p:nvSpPr>
          <p:cNvPr id="27" name="chip-165"/>
          <p:cNvSpPr txBox="1"/>
          <p:nvPr/>
        </p:nvSpPr>
        <p:spPr>
          <a:xfrm>
            <a:off x="6400800" y="5102352"/>
            <a:ext cx="1371600" cy="347472"/>
          </a:xfrm>
          <a:prstGeom prst="roundRect">
            <a:avLst>
              <a:gd name="adj" fmla="val 31579"/>
            </a:avLst>
          </a:prstGeom>
          <a:solidFill>
            <a:schemeClr val="accent2"/>
          </a:solidFill>
          <a:ln>
            <a:solidFill>
              <a:schemeClr val="accent2"/>
            </a:solidFill>
          </a:ln>
        </p:spPr>
        <p:txBody>
          <a:bodyPr wrap="square" lIns="0" tIns="0" rIns="0" bIns="0" rtlCol="0" anchor="ctr"/>
          <a:lstStyle/>
          <a:p>
            <a:pPr algn="ctr" indent="0" marL="0">
              <a:buNone/>
            </a:pPr>
            <a:r>
              <a:rPr lang="en-US" sz="1300" b="1" dirty="0">
                <a:solidFill>
                  <a:schemeClr val="bg1"/>
                </a:solidFill>
              </a:rPr>
              <a:t>window only</a:t>
            </a:r>
            <a:endParaRPr lang="en-US" sz="1300" dirty="0"/>
          </a:p>
        </p:txBody>
      </p:sp>
      <p:sp>
        <p:nvSpPr>
          <p:cNvPr id="28" name="box-166"/>
          <p:cNvSpPr/>
          <p:nvPr/>
        </p:nvSpPr>
        <p:spPr>
          <a:xfrm>
            <a:off x="8321040" y="1371600"/>
            <a:ext cx="3337560" cy="4617720"/>
          </a:xfrm>
          <a:prstGeom prst="roundRect">
            <a:avLst>
              <a:gd name="adj" fmla="val 2192"/>
            </a:avLst>
          </a:prstGeom>
          <a:solidFill>
            <a:schemeClr val="bg2"/>
          </a:solidFill>
          <a:ln w="12700">
            <a:solidFill>
              <a:schemeClr val="bg2"/>
            </a:solidFill>
            <a:prstDash val="solid"/>
          </a:ln>
        </p:spPr>
      </p:sp>
      <p:sp>
        <p:nvSpPr>
          <p:cNvPr id="29" name="text-167"/>
          <p:cNvSpPr txBox="1"/>
          <p:nvPr/>
        </p:nvSpPr>
        <p:spPr>
          <a:xfrm>
            <a:off x="8549640" y="1554480"/>
            <a:ext cx="2926080" cy="685800"/>
          </a:xfrm>
          <a:prstGeom prst="rect">
            <a:avLst/>
          </a:prstGeom>
          <a:noFill/>
          <a:ln/>
        </p:spPr>
        <p:txBody>
          <a:bodyPr wrap="square" lIns="0" tIns="0" rIns="0" bIns="0" rtlCol="0" anchor="t"/>
          <a:lstStyle/>
          <a:p>
            <a:pPr indent="0" marL="0">
              <a:buNone/>
            </a:pPr>
            <a:r>
              <a:rPr lang="en-US" sz="1700" b="1" dirty="0">
                <a:solidFill>
                  <a:schemeClr val="tx1"/>
                </a:solidFill>
              </a:rPr>
              <a:t>What else the model assumes away</a:t>
            </a:r>
            <a:endParaRPr lang="en-US" sz="1700" dirty="0"/>
          </a:p>
        </p:txBody>
      </p:sp>
      <p:sp>
        <p:nvSpPr>
          <p:cNvPr id="30" name="text-168"/>
          <p:cNvSpPr txBox="1"/>
          <p:nvPr/>
        </p:nvSpPr>
        <p:spPr>
          <a:xfrm>
            <a:off x="8549640" y="2331720"/>
            <a:ext cx="292608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Variation between embryos: absorbed into the width of the stage bounds</a:t>
            </a:r>
            <a:endParaRPr lang="en-US" sz="1400" dirty="0"/>
          </a:p>
          <a:p>
            <a:pPr marL="342900" indent="-342900">
              <a:spcAft>
                <a:spcPts val="800"/>
              </a:spcAft>
              <a:buSzPct val="100000"/>
              <a:buChar char="•"/>
            </a:pPr>
            <a:r>
              <a:rPr lang="en-US" sz="1400" dirty="0">
                <a:solidFill>
                  <a:schemeClr val="tx1"/>
                </a:solidFill>
              </a:rPr>
              <a:t>One sex and one anatomical variant per atlas</a:t>
            </a:r>
            <a:endParaRPr lang="en-US" sz="1400" dirty="0"/>
          </a:p>
          <a:p>
            <a:pPr marL="342900" indent="-342900">
              <a:spcAft>
                <a:spcPts val="800"/>
              </a:spcAft>
              <a:buSzPct val="100000"/>
              <a:buChar char="•"/>
            </a:pPr>
            <a:r>
              <a:rPr lang="en-US" sz="1400" dirty="0">
                <a:solidFill>
                  <a:schemeClr val="tx1"/>
                </a:solidFill>
              </a:rPr>
              <a:t>One taxon per atlas</a:t>
            </a:r>
            <a:endParaRPr lang="en-US" sz="1400" dirty="0"/>
          </a:p>
          <a:p>
            <a:pPr marL="342900" indent="-342900">
              <a:spcAft>
                <a:spcPts val="800"/>
              </a:spcAft>
              <a:buSzPct val="100000"/>
              <a:buChar char="•"/>
            </a:pPr>
            <a:r>
              <a:rPr lang="en-US" sz="1400" dirty="0">
                <a:solidFill>
                  <a:schemeClr val="tx1"/>
                </a:solidFill>
              </a:rPr>
              <a:t>Counts that grow over time (somites added one by one) need a term and bounds per member</a:t>
            </a:r>
            <a:endParaRPr lang="en-US" sz="1400" dirty="0"/>
          </a:p>
        </p:txBody>
      </p:sp>
      <p:sp>
        <p:nvSpPr>
          <p:cNvPr id="31" name="text-169"/>
          <p:cNvSpPr txBox="1"/>
          <p:nvPr/>
        </p:nvSpPr>
        <p:spPr>
          <a:xfrm>
            <a:off x="548640" y="6172200"/>
            <a:ext cx="10607040" cy="411480"/>
          </a:xfrm>
          <a:prstGeom prst="rect">
            <a:avLst/>
          </a:prstGeom>
          <a:noFill/>
          <a:ln/>
        </p:spPr>
        <p:txBody>
          <a:bodyPr wrap="square" lIns="0" tIns="0" rIns="0" bIns="0" rtlCol="0" anchor="t"/>
          <a:lstStyle/>
          <a:p>
            <a:pPr indent="0" marL="0">
              <a:buNone/>
            </a:pPr>
            <a:r>
              <a:rPr lang="en-US" sz="1400" i="1" dirty="0">
                <a:solidFill>
                  <a:schemeClr val="accent6"/>
                </a:solidFill>
              </a:rPr>
              <a:t>Uncountable terms still take part, but only as a window from first appearance to last disappearance. Timing per member is lost.</a:t>
            </a:r>
            <a:endParaRPr lang="en-US" sz="14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How much developmental anatomy is countable?</a:t>
            </a:r>
            <a:endParaRPr lang="en-US" sz="3000" dirty="0"/>
          </a:p>
        </p:txBody>
      </p:sp>
      <p:graphicFrame>
        <p:nvGraphicFramePr>
          <p:cNvPr id="3" name="chart-170" descr=""/>
          <p:cNvGraphicFramePr/>
          <p:nvPr/>
        </p:nvGraphicFramePr>
        <p:xfrm>
          <a:off x="548640" y="1371600"/>
          <a:ext cx="7406640" cy="3291840"/>
        </p:xfrm>
        <a:graphic xmlns:a="http://schemas.openxmlformats.org/drawingml/2006/main">
          <a:graphicData uri="http://schemas.openxmlformats.org/drawingml/2006/chart">
            <c:chart xmlns:c="http://schemas.openxmlformats.org/drawingml/2006/chart" r:id="rId1"/>
          </a:graphicData>
        </a:graphic>
      </p:graphicFrame>
      <p:sp>
        <p:nvSpPr>
          <p:cNvPr id="4" name="text-171"/>
          <p:cNvSpPr txBox="1"/>
          <p:nvPr/>
        </p:nvSpPr>
        <p:spPr>
          <a:xfrm>
            <a:off x="548640" y="4754880"/>
            <a:ext cx="7406640" cy="320040"/>
          </a:xfrm>
          <a:prstGeom prst="rect">
            <a:avLst/>
          </a:prstGeom>
          <a:noFill/>
          <a:ln/>
        </p:spPr>
        <p:txBody>
          <a:bodyPr wrap="square" lIns="0" tIns="0" rIns="0" bIns="0" rtlCol="0" anchor="t"/>
          <a:lstStyle/>
          <a:p>
            <a:pPr algn="ctr" indent="0" marL="0">
              <a:buNone/>
            </a:pPr>
            <a:r>
              <a:rPr lang="en-US" sz="1300" b="1" dirty="0">
                <a:solidFill>
                  <a:schemeClr val="accent1"/>
                </a:solidFill>
              </a:rPr>
              <a:t>Teal: countable.  </a:t>
            </a:r>
            <a:pPr algn="ctr" indent="0" marL="0">
              <a:buNone/>
            </a:pPr>
            <a:r>
              <a:rPr lang="en-US" sz="1300" b="1" dirty="0">
                <a:solidFill>
                  <a:schemeClr val="accent6"/>
                </a:solidFill>
              </a:rPr>
              <a:t>Amber and grey: not countable.</a:t>
            </a:r>
            <a:endParaRPr lang="en-US" sz="1300" dirty="0"/>
          </a:p>
        </p:txBody>
      </p:sp>
      <p:sp>
        <p:nvSpPr>
          <p:cNvPr id="5" name="text-172"/>
          <p:cNvSpPr txBox="1"/>
          <p:nvPr/>
        </p:nvSpPr>
        <p:spPr>
          <a:xfrm>
            <a:off x="8321040" y="1371600"/>
            <a:ext cx="141732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96%</a:t>
            </a:r>
            <a:endParaRPr lang="en-US" sz="3600" dirty="0"/>
          </a:p>
        </p:txBody>
      </p:sp>
      <p:sp>
        <p:nvSpPr>
          <p:cNvPr id="6" name="text-173"/>
          <p:cNvSpPr txBox="1"/>
          <p:nvPr/>
        </p:nvSpPr>
        <p:spPr>
          <a:xfrm>
            <a:off x="9784080" y="1417320"/>
            <a:ext cx="1874520" cy="1051560"/>
          </a:xfrm>
          <a:prstGeom prst="rect">
            <a:avLst/>
          </a:prstGeom>
          <a:noFill/>
          <a:ln/>
        </p:spPr>
        <p:txBody>
          <a:bodyPr wrap="square" lIns="0" tIns="0" rIns="0" bIns="0" rtlCol="0" anchor="t"/>
          <a:lstStyle/>
          <a:p>
            <a:pPr indent="0" marL="0">
              <a:buNone/>
            </a:pPr>
            <a:r>
              <a:rPr lang="en-US" sz="1400" dirty="0">
                <a:solidFill>
                  <a:schemeClr val="tx1"/>
                </a:solidFill>
              </a:rPr>
              <a:t>of EHDAA2 classes are countable</a:t>
            </a:r>
            <a:endParaRPr lang="en-US" sz="1400" dirty="0"/>
          </a:p>
        </p:txBody>
      </p:sp>
      <p:sp>
        <p:nvSpPr>
          <p:cNvPr id="7" name="text-174"/>
          <p:cNvSpPr txBox="1"/>
          <p:nvPr/>
        </p:nvSpPr>
        <p:spPr>
          <a:xfrm>
            <a:off x="8321040" y="2560320"/>
            <a:ext cx="141732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92%</a:t>
            </a:r>
            <a:endParaRPr lang="en-US" sz="3600" dirty="0"/>
          </a:p>
        </p:txBody>
      </p:sp>
      <p:sp>
        <p:nvSpPr>
          <p:cNvPr id="8" name="text-175"/>
          <p:cNvSpPr txBox="1"/>
          <p:nvPr/>
        </p:nvSpPr>
        <p:spPr>
          <a:xfrm>
            <a:off x="9784080" y="2606040"/>
            <a:ext cx="1874520" cy="1051560"/>
          </a:xfrm>
          <a:prstGeom prst="rect">
            <a:avLst/>
          </a:prstGeom>
          <a:noFill/>
          <a:ln/>
        </p:spPr>
        <p:txBody>
          <a:bodyPr wrap="square" lIns="0" tIns="0" rIns="0" bIns="0" rtlCol="0" anchor="t"/>
          <a:lstStyle/>
          <a:p>
            <a:pPr indent="0" marL="0">
              <a:buNone/>
            </a:pPr>
            <a:r>
              <a:rPr lang="en-US" sz="1400" dirty="0">
                <a:solidFill>
                  <a:schemeClr val="tx1"/>
                </a:solidFill>
              </a:rPr>
              <a:t>of EHDAA2's 2,125 develops_from edges have both ends countable</a:t>
            </a:r>
            <a:endParaRPr lang="en-US" sz="1400" dirty="0"/>
          </a:p>
        </p:txBody>
      </p:sp>
      <p:sp>
        <p:nvSpPr>
          <p:cNvPr id="9" name="text-176"/>
          <p:cNvSpPr txBox="1"/>
          <p:nvPr/>
        </p:nvSpPr>
        <p:spPr>
          <a:xfrm>
            <a:off x="8321040" y="3749040"/>
            <a:ext cx="1417320" cy="685800"/>
          </a:xfrm>
          <a:prstGeom prst="rect">
            <a:avLst/>
          </a:prstGeom>
          <a:noFill/>
          <a:ln/>
        </p:spPr>
        <p:txBody>
          <a:bodyPr wrap="square" lIns="0" tIns="0" rIns="0" bIns="0" rtlCol="0" anchor="t"/>
          <a:lstStyle/>
          <a:p>
            <a:pPr indent="0" marL="0">
              <a:buNone/>
            </a:pPr>
            <a:r>
              <a:rPr lang="en-US" sz="3600" b="1" dirty="0">
                <a:solidFill>
                  <a:schemeClr val="accent6"/>
                </a:solidFill>
                <a:latin typeface="Cambria" pitchFamily="34" charset="0"/>
                <a:ea typeface="Cambria" pitchFamily="34" charset="-122"/>
                <a:cs typeface="Cambria" pitchFamily="34" charset="-120"/>
              </a:rPr>
              <a:t>50%</a:t>
            </a:r>
            <a:endParaRPr lang="en-US" sz="3600" dirty="0"/>
          </a:p>
        </p:txBody>
      </p:sp>
      <p:sp>
        <p:nvSpPr>
          <p:cNvPr id="10" name="text-177"/>
          <p:cNvSpPr txBox="1"/>
          <p:nvPr/>
        </p:nvSpPr>
        <p:spPr>
          <a:xfrm>
            <a:off x="9784080" y="3794760"/>
            <a:ext cx="1874520" cy="1051560"/>
          </a:xfrm>
          <a:prstGeom prst="rect">
            <a:avLst/>
          </a:prstGeom>
          <a:noFill/>
          <a:ln/>
        </p:spPr>
        <p:txBody>
          <a:bodyPr wrap="square" lIns="0" tIns="0" rIns="0" bIns="0" rtlCol="0" anchor="t"/>
          <a:lstStyle/>
          <a:p>
            <a:pPr indent="0" marL="0">
              <a:buNone/>
            </a:pPr>
            <a:r>
              <a:rPr lang="en-US" sz="1400" dirty="0">
                <a:solidFill>
                  <a:schemeClr val="tx1"/>
                </a:solidFill>
              </a:rPr>
              <a:t>are left/right pairs: usually fine as one window, since the sides develop together</a:t>
            </a:r>
            <a:endParaRPr lang="en-US" sz="1400" dirty="0"/>
          </a:p>
        </p:txBody>
      </p:sp>
      <p:sp>
        <p:nvSpPr>
          <p:cNvPr id="11" name="box-178"/>
          <p:cNvSpPr/>
          <p:nvPr/>
        </p:nvSpPr>
        <p:spPr>
          <a:xfrm>
            <a:off x="548640" y="5166360"/>
            <a:ext cx="11109960" cy="1005840"/>
          </a:xfrm>
          <a:prstGeom prst="roundRect">
            <a:avLst>
              <a:gd name="adj" fmla="val 7273"/>
            </a:avLst>
          </a:prstGeom>
          <a:solidFill>
            <a:schemeClr val="bg2"/>
          </a:solidFill>
          <a:ln w="12700">
            <a:solidFill>
              <a:schemeClr val="bg2"/>
            </a:solidFill>
            <a:prstDash val="solid"/>
          </a:ln>
        </p:spPr>
      </p:sp>
      <p:sp>
        <p:nvSpPr>
          <p:cNvPr id="12" name="text-179"/>
          <p:cNvSpPr txBox="1"/>
          <p:nvPr/>
        </p:nvSpPr>
        <p:spPr>
          <a:xfrm>
            <a:off x="777240" y="5257800"/>
            <a:ext cx="10698480" cy="868680"/>
          </a:xfrm>
          <a:prstGeom prst="rect">
            <a:avLst/>
          </a:prstGeom>
          <a:noFill/>
          <a:ln/>
        </p:spPr>
        <p:txBody>
          <a:bodyPr wrap="square" lIns="0" tIns="0" rIns="0" bIns="0" rtlCol="0" anchor="ctr"/>
          <a:lstStyle/>
          <a:p>
            <a:pPr indent="0" marL="0">
              <a:buNone/>
            </a:pPr>
            <a:r>
              <a:rPr lang="en-US" sz="1400" b="1" dirty="0">
                <a:solidFill>
                  <a:schemeClr val="tx1"/>
                </a:solidFill>
              </a:rPr>
              <a:t>Uberon scores lower mostly because of abstract classes </a:t>
            </a:r>
            <a:pPr indent="0" marL="0">
              <a:buNone/>
            </a:pPr>
            <a:r>
              <a:rPr lang="en-US" sz="1400" dirty="0">
                <a:solidFill>
                  <a:schemeClr val="tx1"/>
                </a:solidFill>
              </a:rPr>
              <a:t>(organ, primordium), which enter the network only as superclass windows; without them it is 92% countable. Each term was classified from latent knowledge, by eight parallel model instances that agreed 100% on countable vs not over 50 shared terms. A Wikipedia check comes next.</a:t>
            </a:r>
            <a:endParaRPr lang="en-US" sz="14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The atlas is generated from Uberon by templates</a:t>
            </a:r>
            <a:endParaRPr lang="en-US" sz="3000" dirty="0"/>
          </a:p>
        </p:txBody>
      </p:sp>
      <p:sp>
        <p:nvSpPr>
          <p:cNvPr id="3" name="text-180"/>
          <p:cNvSpPr txBox="1"/>
          <p:nvPr/>
        </p:nvSpPr>
        <p:spPr>
          <a:xfrm>
            <a:off x="548640" y="1325880"/>
            <a:ext cx="4846320" cy="365760"/>
          </a:xfrm>
          <a:prstGeom prst="rect">
            <a:avLst/>
          </a:prstGeom>
          <a:noFill/>
          <a:ln/>
        </p:spPr>
        <p:txBody>
          <a:bodyPr wrap="square" lIns="0" tIns="0" rIns="0" bIns="0" rtlCol="0" anchor="t"/>
          <a:lstStyle/>
          <a:p>
            <a:pPr indent="0" marL="0">
              <a:buNone/>
            </a:pPr>
            <a:r>
              <a:rPr lang="en-US" sz="1600" b="1" dirty="0">
                <a:solidFill>
                  <a:schemeClr val="accent1"/>
                </a:solidFill>
              </a:rPr>
              <a:t>Uberon pattern</a:t>
            </a:r>
            <a:endParaRPr lang="en-US" sz="1600" dirty="0"/>
          </a:p>
        </p:txBody>
      </p:sp>
      <p:sp>
        <p:nvSpPr>
          <p:cNvPr id="4" name="text-181"/>
          <p:cNvSpPr txBox="1"/>
          <p:nvPr/>
        </p:nvSpPr>
        <p:spPr>
          <a:xfrm>
            <a:off x="6537960" y="1325880"/>
            <a:ext cx="5120640" cy="365760"/>
          </a:xfrm>
          <a:prstGeom prst="rect">
            <a:avLst/>
          </a:prstGeom>
          <a:noFill/>
          <a:ln/>
        </p:spPr>
        <p:txBody>
          <a:bodyPr wrap="square" lIns="0" tIns="0" rIns="0" bIns="0" rtlCol="0" anchor="t"/>
          <a:lstStyle/>
          <a:p>
            <a:pPr indent="0" marL="0">
              <a:buNone/>
            </a:pPr>
            <a:r>
              <a:rPr lang="en-US" sz="1600" b="1" dirty="0">
                <a:solidFill>
                  <a:schemeClr val="accent1"/>
                </a:solidFill>
              </a:rPr>
              <a:t>Generated in the atlas</a:t>
            </a:r>
            <a:endParaRPr lang="en-US" sz="1600" dirty="0"/>
          </a:p>
        </p:txBody>
      </p:sp>
      <p:sp>
        <p:nvSpPr>
          <p:cNvPr id="5" name="box-182"/>
          <p:cNvSpPr/>
          <p:nvPr/>
        </p:nvSpPr>
        <p:spPr>
          <a:xfrm>
            <a:off x="548640" y="1783080"/>
            <a:ext cx="4846320" cy="868680"/>
          </a:xfrm>
          <a:prstGeom prst="roundRect">
            <a:avLst>
              <a:gd name="adj" fmla="val 8421"/>
            </a:avLst>
          </a:prstGeom>
          <a:solidFill>
            <a:schemeClr val="bg2"/>
          </a:solidFill>
          <a:ln w="12700">
            <a:solidFill>
              <a:schemeClr val="bg2"/>
            </a:solidFill>
            <a:prstDash val="solid"/>
          </a:ln>
        </p:spPr>
      </p:sp>
      <p:sp>
        <p:nvSpPr>
          <p:cNvPr id="6" name="text-183"/>
          <p:cNvSpPr txBox="1"/>
          <p:nvPr/>
        </p:nvSpPr>
        <p:spPr>
          <a:xfrm>
            <a:off x="731520" y="1856232"/>
            <a:ext cx="4480560" cy="274320"/>
          </a:xfrm>
          <a:prstGeom prst="rect">
            <a:avLst/>
          </a:prstGeom>
          <a:noFill/>
          <a:ln/>
        </p:spPr>
        <p:txBody>
          <a:bodyPr wrap="square" lIns="0" tIns="0" rIns="0" bIns="0" rtlCol="0" anchor="t"/>
          <a:lstStyle/>
          <a:p>
            <a:pPr indent="0" marL="0">
              <a:buNone/>
            </a:pPr>
            <a:r>
              <a:rPr lang="en-US" sz="1200" b="1" dirty="0">
                <a:solidFill>
                  <a:schemeClr val="accent4"/>
                </a:solidFill>
              </a:rPr>
              <a:t>Class</a:t>
            </a:r>
            <a:endParaRPr lang="en-US" sz="1200" dirty="0"/>
          </a:p>
        </p:txBody>
      </p:sp>
      <p:sp>
        <p:nvSpPr>
          <p:cNvPr id="7" name="text-184"/>
          <p:cNvSpPr txBox="1"/>
          <p:nvPr/>
        </p:nvSpPr>
        <p:spPr>
          <a:xfrm>
            <a:off x="731520" y="2112264"/>
            <a:ext cx="4526280" cy="502920"/>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pharyngeal arch 3, in the human subset</a:t>
            </a:r>
            <a:endParaRPr lang="en-US" sz="1300" dirty="0"/>
          </a:p>
        </p:txBody>
      </p:sp>
      <p:sp>
        <p:nvSpPr>
          <p:cNvPr id="8" name="arrow-185"/>
          <p:cNvSpPr/>
          <p:nvPr/>
        </p:nvSpPr>
        <p:spPr>
          <a:xfrm>
            <a:off x="5486400" y="2212848"/>
            <a:ext cx="960120" cy="914"/>
          </a:xfrm>
          <a:prstGeom prst="line">
            <a:avLst/>
          </a:prstGeom>
          <a:noFill/>
          <a:ln w="25400">
            <a:solidFill>
              <a:schemeClr val="accent1"/>
            </a:solidFill>
            <a:prstDash val="solid"/>
            <a:tailEnd type="triangle"/>
          </a:ln>
        </p:spPr>
      </p:sp>
      <p:sp>
        <p:nvSpPr>
          <p:cNvPr id="9" name="box-186"/>
          <p:cNvSpPr/>
          <p:nvPr/>
        </p:nvSpPr>
        <p:spPr>
          <a:xfrm>
            <a:off x="6537960" y="1783080"/>
            <a:ext cx="5120640" cy="868680"/>
          </a:xfrm>
          <a:prstGeom prst="roundRect">
            <a:avLst>
              <a:gd name="adj" fmla="val 8421"/>
            </a:avLst>
          </a:prstGeom>
          <a:solidFill>
            <a:schemeClr val="accent1"/>
          </a:solidFill>
          <a:ln w="12700">
            <a:solidFill>
              <a:schemeClr val="bg2"/>
            </a:solidFill>
            <a:prstDash val="solid"/>
          </a:ln>
        </p:spPr>
      </p:sp>
      <p:sp>
        <p:nvSpPr>
          <p:cNvPr id="10" name="text-187"/>
          <p:cNvSpPr txBox="1"/>
          <p:nvPr/>
        </p:nvSpPr>
        <p:spPr>
          <a:xfrm>
            <a:off x="6720840" y="1856232"/>
            <a:ext cx="4754880" cy="274320"/>
          </a:xfrm>
          <a:prstGeom prst="rect">
            <a:avLst/>
          </a:prstGeom>
          <a:noFill/>
          <a:ln/>
        </p:spPr>
        <p:txBody>
          <a:bodyPr wrap="square" lIns="0" tIns="0" rIns="0" bIns="0" rtlCol="0" anchor="t"/>
          <a:lstStyle/>
          <a:p>
            <a:pPr indent="0" marL="0">
              <a:buNone/>
            </a:pPr>
            <a:r>
              <a:rPr lang="en-US" sz="1200" b="1" dirty="0">
                <a:solidFill>
                  <a:schemeClr val="accent5"/>
                </a:solidFill>
              </a:rPr>
              <a:t>an individual with a start and an end</a:t>
            </a:r>
            <a:endParaRPr lang="en-US" sz="1200" dirty="0"/>
          </a:p>
        </p:txBody>
      </p:sp>
      <p:sp>
        <p:nvSpPr>
          <p:cNvPr id="11" name="text-188"/>
          <p:cNvSpPr txBox="1"/>
          <p:nvPr/>
        </p:nvSpPr>
        <p:spPr>
          <a:xfrm>
            <a:off x="6720840" y="2148840"/>
            <a:ext cx="4754880" cy="41148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arch3-human:  s, e</a:t>
            </a:r>
            <a:endParaRPr lang="en-US" sz="1400" dirty="0"/>
          </a:p>
        </p:txBody>
      </p:sp>
      <p:sp>
        <p:nvSpPr>
          <p:cNvPr id="12" name="box-189"/>
          <p:cNvSpPr/>
          <p:nvPr/>
        </p:nvSpPr>
        <p:spPr>
          <a:xfrm>
            <a:off x="548640" y="2807208"/>
            <a:ext cx="4846320" cy="868680"/>
          </a:xfrm>
          <a:prstGeom prst="roundRect">
            <a:avLst>
              <a:gd name="adj" fmla="val 8421"/>
            </a:avLst>
          </a:prstGeom>
          <a:solidFill>
            <a:schemeClr val="bg2"/>
          </a:solidFill>
          <a:ln w="12700">
            <a:solidFill>
              <a:schemeClr val="bg2"/>
            </a:solidFill>
            <a:prstDash val="solid"/>
          </a:ln>
        </p:spPr>
      </p:sp>
      <p:sp>
        <p:nvSpPr>
          <p:cNvPr id="13" name="text-190"/>
          <p:cNvSpPr txBox="1"/>
          <p:nvPr/>
        </p:nvSpPr>
        <p:spPr>
          <a:xfrm>
            <a:off x="731520" y="2880360"/>
            <a:ext cx="4480560" cy="274320"/>
          </a:xfrm>
          <a:prstGeom prst="rect">
            <a:avLst/>
          </a:prstGeom>
          <a:noFill/>
          <a:ln/>
        </p:spPr>
        <p:txBody>
          <a:bodyPr wrap="square" lIns="0" tIns="0" rIns="0" bIns="0" rtlCol="0" anchor="t"/>
          <a:lstStyle/>
          <a:p>
            <a:pPr indent="0" marL="0">
              <a:buNone/>
            </a:pPr>
            <a:r>
              <a:rPr lang="en-US" sz="1200" b="1" dirty="0">
                <a:solidFill>
                  <a:schemeClr val="accent4"/>
                </a:solidFill>
              </a:rPr>
              <a:t>Relation</a:t>
            </a:r>
            <a:endParaRPr lang="en-US" sz="1200" dirty="0"/>
          </a:p>
        </p:txBody>
      </p:sp>
      <p:sp>
        <p:nvSpPr>
          <p:cNvPr id="14" name="text-191"/>
          <p:cNvSpPr txBox="1"/>
          <p:nvPr/>
        </p:nvSpPr>
        <p:spPr>
          <a:xfrm>
            <a:off x="731520" y="3136392"/>
            <a:ext cx="4526280" cy="502920"/>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pharyngeal arch artery 3  ⊑  part_of some  pharyngeal arch 3</a:t>
            </a:r>
            <a:endParaRPr lang="en-US" sz="1300" dirty="0"/>
          </a:p>
        </p:txBody>
      </p:sp>
      <p:sp>
        <p:nvSpPr>
          <p:cNvPr id="15" name="arrow-192"/>
          <p:cNvSpPr/>
          <p:nvPr/>
        </p:nvSpPr>
        <p:spPr>
          <a:xfrm>
            <a:off x="5486400" y="3236976"/>
            <a:ext cx="960120" cy="914"/>
          </a:xfrm>
          <a:prstGeom prst="line">
            <a:avLst/>
          </a:prstGeom>
          <a:noFill/>
          <a:ln w="25400">
            <a:solidFill>
              <a:schemeClr val="accent1"/>
            </a:solidFill>
            <a:prstDash val="solid"/>
            <a:tailEnd type="triangle"/>
          </a:ln>
        </p:spPr>
      </p:sp>
      <p:sp>
        <p:nvSpPr>
          <p:cNvPr id="16" name="box-193"/>
          <p:cNvSpPr/>
          <p:nvPr/>
        </p:nvSpPr>
        <p:spPr>
          <a:xfrm>
            <a:off x="6537960" y="2807208"/>
            <a:ext cx="5120640" cy="868680"/>
          </a:xfrm>
          <a:prstGeom prst="roundRect">
            <a:avLst>
              <a:gd name="adj" fmla="val 8421"/>
            </a:avLst>
          </a:prstGeom>
          <a:solidFill>
            <a:schemeClr val="accent1"/>
          </a:solidFill>
          <a:ln w="12700">
            <a:solidFill>
              <a:schemeClr val="bg2"/>
            </a:solidFill>
            <a:prstDash val="solid"/>
          </a:ln>
        </p:spPr>
      </p:sp>
      <p:sp>
        <p:nvSpPr>
          <p:cNvPr id="17" name="text-194"/>
          <p:cNvSpPr txBox="1"/>
          <p:nvPr/>
        </p:nvSpPr>
        <p:spPr>
          <a:xfrm>
            <a:off x="6720840" y="2880360"/>
            <a:ext cx="4754880" cy="274320"/>
          </a:xfrm>
          <a:prstGeom prst="rect">
            <a:avLst/>
          </a:prstGeom>
          <a:noFill/>
          <a:ln/>
        </p:spPr>
        <p:txBody>
          <a:bodyPr wrap="square" lIns="0" tIns="0" rIns="0" bIns="0" rtlCol="0" anchor="t"/>
          <a:lstStyle/>
          <a:p>
            <a:pPr indent="0" marL="0">
              <a:buNone/>
            </a:pPr>
            <a:r>
              <a:rPr lang="en-US" sz="1200" b="1" dirty="0">
                <a:solidFill>
                  <a:schemeClr val="accent5"/>
                </a:solidFill>
              </a:rPr>
              <a:t>a relation between two individuals</a:t>
            </a:r>
            <a:endParaRPr lang="en-US" sz="1200" dirty="0"/>
          </a:p>
        </p:txBody>
      </p:sp>
      <p:sp>
        <p:nvSpPr>
          <p:cNvPr id="18" name="text-195"/>
          <p:cNvSpPr txBox="1"/>
          <p:nvPr/>
        </p:nvSpPr>
        <p:spPr>
          <a:xfrm>
            <a:off x="6720840" y="3172968"/>
            <a:ext cx="4754880" cy="41148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part_of(artery3-human, arch3-human)</a:t>
            </a:r>
            <a:endParaRPr lang="en-US" sz="1400" dirty="0"/>
          </a:p>
        </p:txBody>
      </p:sp>
      <p:sp>
        <p:nvSpPr>
          <p:cNvPr id="19" name="box-196"/>
          <p:cNvSpPr/>
          <p:nvPr/>
        </p:nvSpPr>
        <p:spPr>
          <a:xfrm>
            <a:off x="548640" y="3831336"/>
            <a:ext cx="4846320" cy="868680"/>
          </a:xfrm>
          <a:prstGeom prst="roundRect">
            <a:avLst>
              <a:gd name="adj" fmla="val 8421"/>
            </a:avLst>
          </a:prstGeom>
          <a:solidFill>
            <a:schemeClr val="bg2"/>
          </a:solidFill>
          <a:ln w="12700">
            <a:solidFill>
              <a:schemeClr val="bg2"/>
            </a:solidFill>
            <a:prstDash val="solid"/>
          </a:ln>
        </p:spPr>
      </p:sp>
      <p:sp>
        <p:nvSpPr>
          <p:cNvPr id="20" name="text-197"/>
          <p:cNvSpPr txBox="1"/>
          <p:nvPr/>
        </p:nvSpPr>
        <p:spPr>
          <a:xfrm>
            <a:off x="731520" y="3904488"/>
            <a:ext cx="4480560" cy="274320"/>
          </a:xfrm>
          <a:prstGeom prst="rect">
            <a:avLst/>
          </a:prstGeom>
          <a:noFill/>
          <a:ln/>
        </p:spPr>
        <p:txBody>
          <a:bodyPr wrap="square" lIns="0" tIns="0" rIns="0" bIns="0" rtlCol="0" anchor="t"/>
          <a:lstStyle/>
          <a:p>
            <a:pPr indent="0" marL="0">
              <a:buNone/>
            </a:pPr>
            <a:r>
              <a:rPr lang="en-US" sz="1200" b="1" dirty="0">
                <a:solidFill>
                  <a:schemeClr val="accent4"/>
                </a:solidFill>
              </a:rPr>
              <a:t>Stage bound</a:t>
            </a:r>
            <a:endParaRPr lang="en-US" sz="1200" dirty="0"/>
          </a:p>
        </p:txBody>
      </p:sp>
      <p:sp>
        <p:nvSpPr>
          <p:cNvPr id="21" name="text-198"/>
          <p:cNvSpPr txBox="1"/>
          <p:nvPr/>
        </p:nvSpPr>
        <p:spPr>
          <a:xfrm>
            <a:off x="731520" y="4160520"/>
            <a:ext cx="4526280" cy="502920"/>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(pharyngeal arch 3 ⊓ in_taxon some Homo sapiens)  ⊑  existence_starts_during some CS11</a:t>
            </a:r>
            <a:endParaRPr lang="en-US" sz="1300" dirty="0"/>
          </a:p>
        </p:txBody>
      </p:sp>
      <p:sp>
        <p:nvSpPr>
          <p:cNvPr id="22" name="arrow-199"/>
          <p:cNvSpPr/>
          <p:nvPr/>
        </p:nvSpPr>
        <p:spPr>
          <a:xfrm>
            <a:off x="5486400" y="4261104"/>
            <a:ext cx="960120" cy="914"/>
          </a:xfrm>
          <a:prstGeom prst="line">
            <a:avLst/>
          </a:prstGeom>
          <a:noFill/>
          <a:ln w="25400">
            <a:solidFill>
              <a:schemeClr val="accent1"/>
            </a:solidFill>
            <a:prstDash val="solid"/>
            <a:tailEnd type="triangle"/>
          </a:ln>
        </p:spPr>
      </p:sp>
      <p:sp>
        <p:nvSpPr>
          <p:cNvPr id="23" name="box-200"/>
          <p:cNvSpPr/>
          <p:nvPr/>
        </p:nvSpPr>
        <p:spPr>
          <a:xfrm>
            <a:off x="6537960" y="3831336"/>
            <a:ext cx="5120640" cy="868680"/>
          </a:xfrm>
          <a:prstGeom prst="roundRect">
            <a:avLst>
              <a:gd name="adj" fmla="val 8421"/>
            </a:avLst>
          </a:prstGeom>
          <a:solidFill>
            <a:schemeClr val="accent1"/>
          </a:solidFill>
          <a:ln w="12700">
            <a:solidFill>
              <a:schemeClr val="bg2"/>
            </a:solidFill>
            <a:prstDash val="solid"/>
          </a:ln>
        </p:spPr>
      </p:sp>
      <p:sp>
        <p:nvSpPr>
          <p:cNvPr id="24" name="text-201"/>
          <p:cNvSpPr txBox="1"/>
          <p:nvPr/>
        </p:nvSpPr>
        <p:spPr>
          <a:xfrm>
            <a:off x="6720840" y="3904488"/>
            <a:ext cx="4754880" cy="274320"/>
          </a:xfrm>
          <a:prstGeom prst="rect">
            <a:avLst/>
          </a:prstGeom>
          <a:noFill/>
          <a:ln/>
        </p:spPr>
        <p:txBody>
          <a:bodyPr wrap="square" lIns="0" tIns="0" rIns="0" bIns="0" rtlCol="0" anchor="t"/>
          <a:lstStyle/>
          <a:p>
            <a:pPr indent="0" marL="0">
              <a:buNone/>
            </a:pPr>
            <a:r>
              <a:rPr lang="en-US" sz="1200" b="1" dirty="0">
                <a:solidFill>
                  <a:schemeClr val="accent5"/>
                </a:solidFill>
              </a:rPr>
              <a:t>an ordering against stage points</a:t>
            </a:r>
            <a:endParaRPr lang="en-US" sz="1200" dirty="0"/>
          </a:p>
        </p:txBody>
      </p:sp>
      <p:sp>
        <p:nvSpPr>
          <p:cNvPr id="25" name="text-202"/>
          <p:cNvSpPr txBox="1"/>
          <p:nvPr/>
        </p:nvSpPr>
        <p:spPr>
          <a:xfrm>
            <a:off x="6720840" y="4197096"/>
            <a:ext cx="4754880" cy="41148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starts_during(arch3-human, CS11)</a:t>
            </a:r>
            <a:endParaRPr lang="en-US" sz="1400" dirty="0"/>
          </a:p>
        </p:txBody>
      </p:sp>
      <p:sp>
        <p:nvSpPr>
          <p:cNvPr id="26" name="box-203"/>
          <p:cNvSpPr/>
          <p:nvPr/>
        </p:nvSpPr>
        <p:spPr>
          <a:xfrm>
            <a:off x="548640" y="4855464"/>
            <a:ext cx="4846320" cy="868680"/>
          </a:xfrm>
          <a:prstGeom prst="roundRect">
            <a:avLst>
              <a:gd name="adj" fmla="val 8421"/>
            </a:avLst>
          </a:prstGeom>
          <a:solidFill>
            <a:schemeClr val="bg2"/>
          </a:solidFill>
          <a:ln w="12700">
            <a:solidFill>
              <a:schemeClr val="bg2"/>
            </a:solidFill>
            <a:prstDash val="solid"/>
          </a:ln>
        </p:spPr>
      </p:sp>
      <p:sp>
        <p:nvSpPr>
          <p:cNvPr id="27" name="text-204"/>
          <p:cNvSpPr txBox="1"/>
          <p:nvPr/>
        </p:nvSpPr>
        <p:spPr>
          <a:xfrm>
            <a:off x="731520" y="4928616"/>
            <a:ext cx="4480560" cy="274320"/>
          </a:xfrm>
          <a:prstGeom prst="rect">
            <a:avLst/>
          </a:prstGeom>
          <a:noFill/>
          <a:ln/>
        </p:spPr>
        <p:txBody>
          <a:bodyPr wrap="square" lIns="0" tIns="0" rIns="0" bIns="0" rtlCol="0" anchor="t"/>
          <a:lstStyle/>
          <a:p>
            <a:pPr indent="0" marL="0">
              <a:buNone/>
            </a:pPr>
            <a:r>
              <a:rPr lang="en-US" sz="1200" b="1" dirty="0">
                <a:solidFill>
                  <a:schemeClr val="accent4"/>
                </a:solidFill>
              </a:rPr>
              <a:t>Subclass</a:t>
            </a:r>
            <a:endParaRPr lang="en-US" sz="1200" dirty="0"/>
          </a:p>
        </p:txBody>
      </p:sp>
      <p:sp>
        <p:nvSpPr>
          <p:cNvPr id="28" name="text-205"/>
          <p:cNvSpPr txBox="1"/>
          <p:nvPr/>
        </p:nvSpPr>
        <p:spPr>
          <a:xfrm>
            <a:off x="731520" y="5184648"/>
            <a:ext cx="4526280" cy="502920"/>
          </a:xfrm>
          <a:prstGeom prst="rect">
            <a:avLst/>
          </a:prstGeom>
          <a:noFill/>
          <a:ln/>
        </p:spPr>
        <p:txBody>
          <a:bodyPr wrap="square" lIns="0" tIns="0" rIns="0" bIns="0" rtlCol="0" anchor="t"/>
          <a:lstStyle/>
          <a:p>
            <a:pPr indent="0" marL="0">
              <a:buNone/>
            </a:pPr>
            <a:r>
              <a:rPr lang="en-US" sz="1300" dirty="0">
                <a:solidFill>
                  <a:schemeClr val="tx1"/>
                </a:solidFill>
                <a:latin typeface="Cambria" pitchFamily="34" charset="0"/>
                <a:ea typeface="Cambria" pitchFamily="34" charset="-122"/>
                <a:cs typeface="Cambria" pitchFamily="34" charset="-120"/>
              </a:rPr>
              <a:t>hindbrain marginal layer  ⊑  neural tube marginal layer</a:t>
            </a:r>
            <a:endParaRPr lang="en-US" sz="1300" dirty="0"/>
          </a:p>
        </p:txBody>
      </p:sp>
      <p:sp>
        <p:nvSpPr>
          <p:cNvPr id="29" name="arrow-206"/>
          <p:cNvSpPr/>
          <p:nvPr/>
        </p:nvSpPr>
        <p:spPr>
          <a:xfrm>
            <a:off x="5486400" y="5285232"/>
            <a:ext cx="960120" cy="914"/>
          </a:xfrm>
          <a:prstGeom prst="line">
            <a:avLst/>
          </a:prstGeom>
          <a:noFill/>
          <a:ln w="25400">
            <a:solidFill>
              <a:schemeClr val="accent1"/>
            </a:solidFill>
            <a:prstDash val="solid"/>
            <a:tailEnd type="triangle"/>
          </a:ln>
        </p:spPr>
      </p:sp>
      <p:sp>
        <p:nvSpPr>
          <p:cNvPr id="30" name="box-207"/>
          <p:cNvSpPr/>
          <p:nvPr/>
        </p:nvSpPr>
        <p:spPr>
          <a:xfrm>
            <a:off x="6537960" y="4855464"/>
            <a:ext cx="5120640" cy="868680"/>
          </a:xfrm>
          <a:prstGeom prst="roundRect">
            <a:avLst>
              <a:gd name="adj" fmla="val 8421"/>
            </a:avLst>
          </a:prstGeom>
          <a:solidFill>
            <a:schemeClr val="accent1"/>
          </a:solidFill>
          <a:ln w="12700">
            <a:solidFill>
              <a:schemeClr val="bg2"/>
            </a:solidFill>
            <a:prstDash val="solid"/>
          </a:ln>
        </p:spPr>
      </p:sp>
      <p:sp>
        <p:nvSpPr>
          <p:cNvPr id="31" name="text-208"/>
          <p:cNvSpPr txBox="1"/>
          <p:nvPr/>
        </p:nvSpPr>
        <p:spPr>
          <a:xfrm>
            <a:off x="6720840" y="4928616"/>
            <a:ext cx="4754880" cy="274320"/>
          </a:xfrm>
          <a:prstGeom prst="rect">
            <a:avLst/>
          </a:prstGeom>
          <a:noFill/>
          <a:ln/>
        </p:spPr>
        <p:txBody>
          <a:bodyPr wrap="square" lIns="0" tIns="0" rIns="0" bIns="0" rtlCol="0" anchor="t"/>
          <a:lstStyle/>
          <a:p>
            <a:pPr indent="0" marL="0">
              <a:buNone/>
            </a:pPr>
            <a:r>
              <a:rPr lang="en-US" sz="1200" b="1" dirty="0">
                <a:solidFill>
                  <a:schemeClr val="accent5"/>
                </a:solidFill>
              </a:rPr>
              <a:t>window inside window; axioms inherited</a:t>
            </a:r>
            <a:endParaRPr lang="en-US" sz="1200" dirty="0"/>
          </a:p>
        </p:txBody>
      </p:sp>
      <p:sp>
        <p:nvSpPr>
          <p:cNvPr id="32" name="text-209"/>
          <p:cNvSpPr txBox="1"/>
          <p:nvPr/>
        </p:nvSpPr>
        <p:spPr>
          <a:xfrm>
            <a:off x="6720840" y="5221224"/>
            <a:ext cx="4754880" cy="41148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within(hindbrain-ML, NT-ML)</a:t>
            </a:r>
            <a:endParaRPr lang="en-US" sz="1400" dirty="0"/>
          </a:p>
        </p:txBody>
      </p:sp>
      <p:sp>
        <p:nvSpPr>
          <p:cNvPr id="33" name="text-210"/>
          <p:cNvSpPr txBox="1"/>
          <p:nvPr/>
        </p:nvSpPr>
        <p:spPr>
          <a:xfrm>
            <a:off x="548640" y="5943600"/>
            <a:ext cx="3611880" cy="685800"/>
          </a:xfrm>
          <a:prstGeom prst="rect">
            <a:avLst/>
          </a:prstGeom>
          <a:noFill/>
          <a:ln/>
        </p:spPr>
        <p:txBody>
          <a:bodyPr wrap="square" lIns="0" tIns="0" rIns="0" bIns="0" rtlCol="0" anchor="t"/>
          <a:lstStyle/>
          <a:p>
            <a:pPr indent="0" marL="0">
              <a:buNone/>
            </a:pPr>
            <a:r>
              <a:rPr lang="en-US" sz="1300" b="1" dirty="0">
                <a:solidFill>
                  <a:schemeClr val="accent1"/>
                </a:solidFill>
              </a:rPr>
              <a:t>Deterministic: </a:t>
            </a:r>
            <a:pPr indent="0" marL="0">
              <a:buNone/>
            </a:pPr>
            <a:r>
              <a:rPr lang="en-US" sz="1300" dirty="0">
                <a:solidFill>
                  <a:schemeClr val="tx1"/>
                </a:solidFill>
              </a:rPr>
              <a:t>identifiers are a function of term and taxon: …/individual/UBERON_0003114-9606</a:t>
            </a:r>
            <a:endParaRPr lang="en-US" sz="1300" dirty="0"/>
          </a:p>
        </p:txBody>
      </p:sp>
      <p:sp>
        <p:nvSpPr>
          <p:cNvPr id="34" name="text-211"/>
          <p:cNvSpPr txBox="1"/>
          <p:nvPr/>
        </p:nvSpPr>
        <p:spPr>
          <a:xfrm>
            <a:off x="4315968" y="5943600"/>
            <a:ext cx="3611880" cy="685800"/>
          </a:xfrm>
          <a:prstGeom prst="rect">
            <a:avLst/>
          </a:prstGeom>
          <a:noFill/>
          <a:ln/>
        </p:spPr>
        <p:txBody>
          <a:bodyPr wrap="square" lIns="0" tIns="0" rIns="0" bIns="0" rtlCol="0" anchor="t"/>
          <a:lstStyle/>
          <a:p>
            <a:pPr indent="0" marL="0">
              <a:buNone/>
            </a:pPr>
            <a:r>
              <a:rPr lang="en-US" sz="1300" b="1" dirty="0">
                <a:solidFill>
                  <a:schemeClr val="accent1"/>
                </a:solidFill>
              </a:rPr>
              <a:t>Regenerated: </a:t>
            </a:r>
            <a:pPr indent="0" marL="0">
              <a:buNone/>
            </a:pPr>
            <a:r>
              <a:rPr lang="en-US" sz="1300" dirty="0">
                <a:solidFill>
                  <a:schemeClr val="tx1"/>
                </a:solidFill>
              </a:rPr>
              <a:t>every build from the OWL; nothing about individuals is curated by hand</a:t>
            </a:r>
            <a:endParaRPr lang="en-US" sz="1300" dirty="0"/>
          </a:p>
        </p:txBody>
      </p:sp>
      <p:sp>
        <p:nvSpPr>
          <p:cNvPr id="35" name="text-212"/>
          <p:cNvSpPr txBox="1"/>
          <p:nvPr/>
        </p:nvSpPr>
        <p:spPr>
          <a:xfrm>
            <a:off x="8083296" y="5943600"/>
            <a:ext cx="3611880" cy="685800"/>
          </a:xfrm>
          <a:prstGeom prst="rect">
            <a:avLst/>
          </a:prstGeom>
          <a:noFill/>
          <a:ln/>
        </p:spPr>
        <p:txBody>
          <a:bodyPr wrap="square" lIns="0" tIns="0" rIns="0" bIns="0" rtlCol="0" anchor="t"/>
          <a:lstStyle/>
          <a:p>
            <a:pPr indent="0" marL="0">
              <a:buNone/>
            </a:pPr>
            <a:r>
              <a:rPr lang="en-US" sz="1300" b="1" dirty="0">
                <a:solidFill>
                  <a:schemeClr val="accent1"/>
                </a:solidFill>
              </a:rPr>
              <a:t>Opt-in precision: </a:t>
            </a:r>
            <a:pPr indent="0" marL="0">
              <a:buNone/>
            </a:pPr>
            <a:r>
              <a:rPr lang="en-US" sz="1300" dirty="0">
                <a:solidFill>
                  <a:schemeClr val="tx1"/>
                </a:solidFill>
              </a:rPr>
              <a:t>an annotation tags terms that are one per embryo</a:t>
            </a:r>
            <a:endParaRPr lang="en-US" sz="13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Why move timing reasoning to individuals</a:t>
            </a:r>
            <a:endParaRPr lang="en-US" sz="3000" dirty="0"/>
          </a:p>
        </p:txBody>
      </p:sp>
      <p:sp>
        <p:nvSpPr>
          <p:cNvPr id="3" name="box-213"/>
          <p:cNvSpPr/>
          <p:nvPr/>
        </p:nvSpPr>
        <p:spPr>
          <a:xfrm>
            <a:off x="548640" y="1325880"/>
            <a:ext cx="4206240" cy="4800600"/>
          </a:xfrm>
          <a:prstGeom prst="roundRect">
            <a:avLst>
              <a:gd name="adj" fmla="val 1739"/>
            </a:avLst>
          </a:prstGeom>
          <a:solidFill>
            <a:schemeClr val="bg2"/>
          </a:solidFill>
          <a:ln w="12700">
            <a:solidFill>
              <a:schemeClr val="bg2"/>
            </a:solidFill>
            <a:prstDash val="solid"/>
          </a:ln>
        </p:spPr>
      </p:sp>
      <p:sp>
        <p:nvSpPr>
          <p:cNvPr id="4" name="text-214"/>
          <p:cNvSpPr txBox="1"/>
          <p:nvPr/>
        </p:nvSpPr>
        <p:spPr>
          <a:xfrm>
            <a:off x="822960" y="1508760"/>
            <a:ext cx="3657600" cy="411480"/>
          </a:xfrm>
          <a:prstGeom prst="rect">
            <a:avLst/>
          </a:prstGeom>
          <a:noFill/>
          <a:ln/>
        </p:spPr>
        <p:txBody>
          <a:bodyPr wrap="square" lIns="0" tIns="0" rIns="0" bIns="0" rtlCol="0" anchor="t"/>
          <a:lstStyle/>
          <a:p>
            <a:pPr indent="0" marL="0">
              <a:buNone/>
            </a:pPr>
            <a:r>
              <a:rPr lang="en-US" sz="2000" b="1" dirty="0">
                <a:solidFill>
                  <a:schemeClr val="accent6"/>
                </a:solidFill>
              </a:rPr>
              <a:t>Class layer: OWL</a:t>
            </a:r>
            <a:endParaRPr lang="en-US" sz="2000" dirty="0"/>
          </a:p>
        </p:txBody>
      </p:sp>
      <p:sp>
        <p:nvSpPr>
          <p:cNvPr id="5" name="badge-215"/>
          <p:cNvSpPr/>
          <p:nvPr/>
        </p:nvSpPr>
        <p:spPr>
          <a:xfrm>
            <a:off x="822960" y="2103120"/>
            <a:ext cx="438912" cy="438912"/>
          </a:xfrm>
          <a:prstGeom prst="ellipse">
            <a:avLst/>
          </a:prstGeom>
          <a:solidFill>
            <a:schemeClr val="accent1"/>
          </a:solidFill>
          <a:ln w="12700">
            <a:solidFill>
              <a:schemeClr val="accent1"/>
            </a:solidFill>
            <a:prstDash val="solid"/>
          </a:ln>
        </p:spPr>
      </p:sp>
      <p:pic>
        <p:nvPicPr>
          <p:cNvPr id="6" name="icon-216" descr="preencoded.png">    </p:cNvPr>
          <p:cNvPicPr>
            <a:picLocks noChangeAspect="1"/>
          </p:cNvPicPr>
          <p:nvPr/>
        </p:nvPicPr>
        <p:blipFill>
          <a:blip r:embed="rId1"/>
          <a:stretch>
            <a:fillRect/>
          </a:stretch>
        </p:blipFill>
        <p:spPr>
          <a:xfrm>
            <a:off x="928299" y="2208459"/>
            <a:ext cx="228234" cy="228234"/>
          </a:xfrm>
          <a:prstGeom prst="rect">
            <a:avLst/>
          </a:prstGeom>
        </p:spPr>
      </p:pic>
      <p:sp>
        <p:nvSpPr>
          <p:cNvPr id="7" name="text-217"/>
          <p:cNvSpPr txBox="1"/>
          <p:nvPr/>
        </p:nvSpPr>
        <p:spPr>
          <a:xfrm>
            <a:off x="1417320" y="2075688"/>
            <a:ext cx="3154680" cy="868680"/>
          </a:xfrm>
          <a:prstGeom prst="rect">
            <a:avLst/>
          </a:prstGeom>
          <a:noFill/>
          <a:ln/>
        </p:spPr>
        <p:txBody>
          <a:bodyPr wrap="square" lIns="0" tIns="0" rIns="0" bIns="0" rtlCol="0" anchor="t"/>
          <a:lstStyle/>
          <a:p>
            <a:pPr indent="0" marL="0">
              <a:buNone/>
            </a:pPr>
            <a:r>
              <a:rPr lang="en-US" sz="1400" dirty="0">
                <a:solidFill>
                  <a:schemeClr val="tx1"/>
                </a:solidFill>
              </a:rPr>
              <a:t>Subsumption and inheritance, fast (ELK)</a:t>
            </a:r>
            <a:endParaRPr lang="en-US" sz="1400" dirty="0"/>
          </a:p>
        </p:txBody>
      </p:sp>
      <p:sp>
        <p:nvSpPr>
          <p:cNvPr id="8" name="badge-218"/>
          <p:cNvSpPr/>
          <p:nvPr/>
        </p:nvSpPr>
        <p:spPr>
          <a:xfrm>
            <a:off x="822960" y="3090672"/>
            <a:ext cx="438912" cy="438912"/>
          </a:xfrm>
          <a:prstGeom prst="ellipse">
            <a:avLst/>
          </a:prstGeom>
          <a:solidFill>
            <a:schemeClr val="accent3"/>
          </a:solidFill>
          <a:ln w="12700">
            <a:solidFill>
              <a:schemeClr val="accent3"/>
            </a:solidFill>
            <a:prstDash val="solid"/>
          </a:ln>
        </p:spPr>
      </p:sp>
      <p:pic>
        <p:nvPicPr>
          <p:cNvPr id="9" name="icon-219" descr="preencoded.png">    </p:cNvPr>
          <p:cNvPicPr>
            <a:picLocks noChangeAspect="1"/>
          </p:cNvPicPr>
          <p:nvPr/>
        </p:nvPicPr>
        <p:blipFill>
          <a:blip r:embed="rId2"/>
          <a:stretch>
            <a:fillRect/>
          </a:stretch>
        </p:blipFill>
        <p:spPr>
          <a:xfrm>
            <a:off x="928299" y="3196011"/>
            <a:ext cx="228234" cy="228234"/>
          </a:xfrm>
          <a:prstGeom prst="rect">
            <a:avLst/>
          </a:prstGeom>
        </p:spPr>
      </p:pic>
      <p:sp>
        <p:nvSpPr>
          <p:cNvPr id="10" name="text-220"/>
          <p:cNvSpPr txBox="1"/>
          <p:nvPr/>
        </p:nvSpPr>
        <p:spPr>
          <a:xfrm>
            <a:off x="1417320" y="3063240"/>
            <a:ext cx="3154680" cy="868680"/>
          </a:xfrm>
          <a:prstGeom prst="rect">
            <a:avLst/>
          </a:prstGeom>
          <a:noFill/>
          <a:ln/>
        </p:spPr>
        <p:txBody>
          <a:bodyPr wrap="square" lIns="0" tIns="0" rIns="0" bIns="0" rtlCol="0" anchor="t"/>
          <a:lstStyle/>
          <a:p>
            <a:pPr indent="0" marL="0">
              <a:buNone/>
            </a:pPr>
            <a:r>
              <a:rPr lang="en-US" sz="1400" dirty="0">
                <a:solidFill>
                  <a:schemeClr val="tx1"/>
                </a:solidFill>
              </a:rPr>
              <a:t>Composing two timing relations gives a set of possibilities; OWL can hold only one</a:t>
            </a:r>
            <a:endParaRPr lang="en-US" sz="1400" dirty="0"/>
          </a:p>
        </p:txBody>
      </p:sp>
      <p:sp>
        <p:nvSpPr>
          <p:cNvPr id="11" name="badge-221"/>
          <p:cNvSpPr/>
          <p:nvPr/>
        </p:nvSpPr>
        <p:spPr>
          <a:xfrm>
            <a:off x="822960" y="4078224"/>
            <a:ext cx="438912" cy="438912"/>
          </a:xfrm>
          <a:prstGeom prst="ellipse">
            <a:avLst/>
          </a:prstGeom>
          <a:solidFill>
            <a:schemeClr val="accent3"/>
          </a:solidFill>
          <a:ln w="12700">
            <a:solidFill>
              <a:schemeClr val="accent3"/>
            </a:solidFill>
            <a:prstDash val="solid"/>
          </a:ln>
        </p:spPr>
      </p:sp>
      <p:pic>
        <p:nvPicPr>
          <p:cNvPr id="12" name="icon-222" descr="preencoded.png">    </p:cNvPr>
          <p:cNvPicPr>
            <a:picLocks noChangeAspect="1"/>
          </p:cNvPicPr>
          <p:nvPr/>
        </p:nvPicPr>
        <p:blipFill>
          <a:blip r:embed="rId3"/>
          <a:stretch>
            <a:fillRect/>
          </a:stretch>
        </p:blipFill>
        <p:spPr>
          <a:xfrm>
            <a:off x="928299" y="4183563"/>
            <a:ext cx="228234" cy="228234"/>
          </a:xfrm>
          <a:prstGeom prst="rect">
            <a:avLst/>
          </a:prstGeom>
        </p:spPr>
      </p:pic>
      <p:sp>
        <p:nvSpPr>
          <p:cNvPr id="13" name="text-223"/>
          <p:cNvSpPr txBox="1"/>
          <p:nvPr/>
        </p:nvSpPr>
        <p:spPr>
          <a:xfrm>
            <a:off x="1417320" y="4050792"/>
            <a:ext cx="3154680" cy="868680"/>
          </a:xfrm>
          <a:prstGeom prst="rect">
            <a:avLst/>
          </a:prstGeom>
          <a:noFill/>
          <a:ln/>
        </p:spPr>
        <p:txBody>
          <a:bodyPr wrap="square" lIns="0" tIns="0" rIns="0" bIns="0" rtlCol="0" anchor="t"/>
          <a:lstStyle/>
          <a:p>
            <a:pPr indent="0" marL="0">
              <a:buNone/>
            </a:pPr>
            <a:r>
              <a:rPr lang="en-US" sz="1400" dirty="0">
                <a:solidFill>
                  <a:schemeClr val="tx1"/>
                </a:solidFill>
              </a:rPr>
              <a:t>No way to intersect two lines of evidence about the same thing</a:t>
            </a:r>
            <a:endParaRPr lang="en-US" sz="1400" dirty="0"/>
          </a:p>
        </p:txBody>
      </p:sp>
      <p:sp>
        <p:nvSpPr>
          <p:cNvPr id="14" name="badge-224"/>
          <p:cNvSpPr/>
          <p:nvPr/>
        </p:nvSpPr>
        <p:spPr>
          <a:xfrm>
            <a:off x="822960" y="5065776"/>
            <a:ext cx="438912" cy="438912"/>
          </a:xfrm>
          <a:prstGeom prst="ellipse">
            <a:avLst/>
          </a:prstGeom>
          <a:solidFill>
            <a:schemeClr val="accent3"/>
          </a:solidFill>
          <a:ln w="12700">
            <a:solidFill>
              <a:schemeClr val="accent3"/>
            </a:solidFill>
            <a:prstDash val="solid"/>
          </a:ln>
        </p:spPr>
      </p:sp>
      <p:pic>
        <p:nvPicPr>
          <p:cNvPr id="15" name="icon-225" descr="preencoded.png">    </p:cNvPr>
          <p:cNvPicPr>
            <a:picLocks noChangeAspect="1"/>
          </p:cNvPicPr>
          <p:nvPr/>
        </p:nvPicPr>
        <p:blipFill>
          <a:blip r:embed="rId4"/>
          <a:stretch>
            <a:fillRect/>
          </a:stretch>
        </p:blipFill>
        <p:spPr>
          <a:xfrm>
            <a:off x="928299" y="5171115"/>
            <a:ext cx="228234" cy="228234"/>
          </a:xfrm>
          <a:prstGeom prst="rect">
            <a:avLst/>
          </a:prstGeom>
        </p:spPr>
      </p:pic>
      <p:sp>
        <p:nvSpPr>
          <p:cNvPr id="16" name="text-226"/>
          <p:cNvSpPr txBox="1"/>
          <p:nvPr/>
        </p:nvSpPr>
        <p:spPr>
          <a:xfrm>
            <a:off x="1417320" y="5038344"/>
            <a:ext cx="3154680" cy="868680"/>
          </a:xfrm>
          <a:prstGeom prst="rect">
            <a:avLst/>
          </a:prstGeom>
          <a:noFill/>
          <a:ln/>
        </p:spPr>
        <p:txBody>
          <a:bodyPr wrap="square" lIns="0" tIns="0" rIns="0" bIns="0" rtlCol="0" anchor="t"/>
          <a:lstStyle/>
          <a:p>
            <a:pPr indent="0" marL="0">
              <a:buNone/>
            </a:pPr>
            <a:r>
              <a:rPr lang="en-US" sz="1400" dirty="0">
                <a:solidFill>
                  <a:schemeClr val="tx1"/>
                </a:solidFill>
              </a:rPr>
              <a:t>One conflict makes the whole ontology inconsistent</a:t>
            </a:r>
            <a:endParaRPr lang="en-US" sz="1400" dirty="0"/>
          </a:p>
        </p:txBody>
      </p:sp>
      <p:sp>
        <p:nvSpPr>
          <p:cNvPr id="17" name="arrow-227"/>
          <p:cNvSpPr/>
          <p:nvPr/>
        </p:nvSpPr>
        <p:spPr>
          <a:xfrm>
            <a:off x="4892040" y="3703320"/>
            <a:ext cx="914400" cy="914"/>
          </a:xfrm>
          <a:prstGeom prst="line">
            <a:avLst/>
          </a:prstGeom>
          <a:noFill/>
          <a:ln w="31750">
            <a:solidFill>
              <a:schemeClr val="accent1"/>
            </a:solidFill>
            <a:prstDash val="solid"/>
            <a:tailEnd type="triangle"/>
          </a:ln>
        </p:spPr>
      </p:sp>
      <p:sp>
        <p:nvSpPr>
          <p:cNvPr id="18" name="text-228"/>
          <p:cNvSpPr txBox="1"/>
          <p:nvPr/>
        </p:nvSpPr>
        <p:spPr>
          <a:xfrm>
            <a:off x="4800600" y="3840480"/>
            <a:ext cx="1097280" cy="320040"/>
          </a:xfrm>
          <a:prstGeom prst="rect">
            <a:avLst/>
          </a:prstGeom>
          <a:noFill/>
          <a:ln/>
        </p:spPr>
        <p:txBody>
          <a:bodyPr wrap="square" lIns="0" tIns="0" rIns="0" bIns="0" rtlCol="0" anchor="t"/>
          <a:lstStyle/>
          <a:p>
            <a:pPr algn="ctr" indent="0" marL="0">
              <a:buNone/>
            </a:pPr>
            <a:r>
              <a:rPr lang="en-US" sz="1300" dirty="0">
                <a:solidFill>
                  <a:schemeClr val="accent6"/>
                </a:solidFill>
              </a:rPr>
              <a:t>generate</a:t>
            </a:r>
            <a:endParaRPr lang="en-US" sz="1300" dirty="0"/>
          </a:p>
        </p:txBody>
      </p:sp>
      <p:sp>
        <p:nvSpPr>
          <p:cNvPr id="19" name="box-229"/>
          <p:cNvSpPr/>
          <p:nvPr/>
        </p:nvSpPr>
        <p:spPr>
          <a:xfrm>
            <a:off x="5943600" y="1325880"/>
            <a:ext cx="5715000" cy="4800600"/>
          </a:xfrm>
          <a:prstGeom prst="roundRect">
            <a:avLst>
              <a:gd name="adj" fmla="val 1524"/>
            </a:avLst>
          </a:prstGeom>
          <a:solidFill>
            <a:schemeClr val="accent1"/>
          </a:solidFill>
          <a:ln w="12700">
            <a:solidFill>
              <a:schemeClr val="bg2"/>
            </a:solidFill>
            <a:prstDash val="solid"/>
          </a:ln>
        </p:spPr>
      </p:sp>
      <p:sp>
        <p:nvSpPr>
          <p:cNvPr id="20" name="text-230"/>
          <p:cNvSpPr txBox="1"/>
          <p:nvPr/>
        </p:nvSpPr>
        <p:spPr>
          <a:xfrm>
            <a:off x="6217920" y="1508760"/>
            <a:ext cx="5120640" cy="411480"/>
          </a:xfrm>
          <a:prstGeom prst="rect">
            <a:avLst/>
          </a:prstGeom>
          <a:noFill/>
          <a:ln/>
        </p:spPr>
        <p:txBody>
          <a:bodyPr wrap="square" lIns="0" tIns="0" rIns="0" bIns="0" rtlCol="0" anchor="t"/>
          <a:lstStyle/>
          <a:p>
            <a:pPr indent="0" marL="0">
              <a:buNone/>
            </a:pPr>
            <a:r>
              <a:rPr lang="en-US" sz="2000" b="1" dirty="0">
                <a:solidFill>
                  <a:schemeClr val="bg1"/>
                </a:solidFill>
              </a:rPr>
              <a:t>Atlas layer: Datalog</a:t>
            </a:r>
            <a:endParaRPr lang="en-US" sz="2000" dirty="0"/>
          </a:p>
        </p:txBody>
      </p:sp>
      <p:sp>
        <p:nvSpPr>
          <p:cNvPr id="21" name="badge-231"/>
          <p:cNvSpPr/>
          <p:nvPr/>
        </p:nvSpPr>
        <p:spPr>
          <a:xfrm>
            <a:off x="6217920" y="2103120"/>
            <a:ext cx="438912" cy="438912"/>
          </a:xfrm>
          <a:prstGeom prst="ellipse">
            <a:avLst/>
          </a:prstGeom>
          <a:solidFill>
            <a:schemeClr val="bg1"/>
          </a:solidFill>
          <a:ln w="12700">
            <a:solidFill>
              <a:schemeClr val="bg1"/>
            </a:solidFill>
            <a:prstDash val="solid"/>
          </a:ln>
        </p:spPr>
      </p:sp>
      <p:pic>
        <p:nvPicPr>
          <p:cNvPr id="22" name="icon-232" descr="preencoded.png">    </p:cNvPr>
          <p:cNvPicPr>
            <a:picLocks noChangeAspect="1"/>
          </p:cNvPicPr>
          <p:nvPr/>
        </p:nvPicPr>
        <p:blipFill>
          <a:blip r:embed="rId5"/>
          <a:stretch>
            <a:fillRect/>
          </a:stretch>
        </p:blipFill>
        <p:spPr>
          <a:xfrm>
            <a:off x="6323259" y="2208459"/>
            <a:ext cx="228234" cy="228234"/>
          </a:xfrm>
          <a:prstGeom prst="rect">
            <a:avLst/>
          </a:prstGeom>
        </p:spPr>
      </p:pic>
      <p:sp>
        <p:nvSpPr>
          <p:cNvPr id="23" name="text-233"/>
          <p:cNvSpPr txBox="1"/>
          <p:nvPr/>
        </p:nvSpPr>
        <p:spPr>
          <a:xfrm>
            <a:off x="6812280" y="2057400"/>
            <a:ext cx="4663440" cy="320040"/>
          </a:xfrm>
          <a:prstGeom prst="rect">
            <a:avLst/>
          </a:prstGeom>
          <a:noFill/>
          <a:ln/>
        </p:spPr>
        <p:txBody>
          <a:bodyPr wrap="square" lIns="0" tIns="0" rIns="0" bIns="0" rtlCol="0" anchor="t"/>
          <a:lstStyle/>
          <a:p>
            <a:pPr indent="0" marL="0">
              <a:buNone/>
            </a:pPr>
            <a:r>
              <a:rPr lang="en-US" sz="1600" b="1" dirty="0">
                <a:solidFill>
                  <a:schemeClr val="bg1"/>
                </a:solidFill>
              </a:rPr>
              <a:t>Facts meet</a:t>
            </a:r>
            <a:endParaRPr lang="en-US" sz="1600" dirty="0"/>
          </a:p>
        </p:txBody>
      </p:sp>
      <p:sp>
        <p:nvSpPr>
          <p:cNvPr id="24" name="text-234"/>
          <p:cNvSpPr txBox="1"/>
          <p:nvPr/>
        </p:nvSpPr>
        <p:spPr>
          <a:xfrm>
            <a:off x="6812280" y="2377440"/>
            <a:ext cx="4663440" cy="594360"/>
          </a:xfrm>
          <a:prstGeom prst="rect">
            <a:avLst/>
          </a:prstGeom>
          <a:noFill/>
          <a:ln/>
        </p:spPr>
        <p:txBody>
          <a:bodyPr wrap="square" lIns="0" tIns="0" rIns="0" bIns="0" rtlCol="0" anchor="t"/>
          <a:lstStyle/>
          <a:p>
            <a:pPr indent="0" marL="0">
              <a:buNone/>
            </a:pPr>
            <a:r>
              <a:rPr lang="en-US" sz="1400" dirty="0">
                <a:solidFill>
                  <a:schemeClr val="bg1"/>
                </a:solidFill>
              </a:rPr>
              <a:t>Bounds from a structure, its parts and its precursors all land on one node, and combine.</a:t>
            </a:r>
            <a:endParaRPr lang="en-US" sz="1400" dirty="0"/>
          </a:p>
        </p:txBody>
      </p:sp>
      <p:sp>
        <p:nvSpPr>
          <p:cNvPr id="25" name="badge-235"/>
          <p:cNvSpPr/>
          <p:nvPr/>
        </p:nvSpPr>
        <p:spPr>
          <a:xfrm>
            <a:off x="6217920" y="3090672"/>
            <a:ext cx="438912" cy="438912"/>
          </a:xfrm>
          <a:prstGeom prst="ellipse">
            <a:avLst/>
          </a:prstGeom>
          <a:solidFill>
            <a:schemeClr val="bg1"/>
          </a:solidFill>
          <a:ln w="12700">
            <a:solidFill>
              <a:schemeClr val="bg1"/>
            </a:solidFill>
            <a:prstDash val="solid"/>
          </a:ln>
        </p:spPr>
      </p:sp>
      <p:pic>
        <p:nvPicPr>
          <p:cNvPr id="26" name="icon-236" descr="preencoded.png">    </p:cNvPr>
          <p:cNvPicPr>
            <a:picLocks noChangeAspect="1"/>
          </p:cNvPicPr>
          <p:nvPr/>
        </p:nvPicPr>
        <p:blipFill>
          <a:blip r:embed="rId6"/>
          <a:stretch>
            <a:fillRect/>
          </a:stretch>
        </p:blipFill>
        <p:spPr>
          <a:xfrm>
            <a:off x="6323259" y="3196011"/>
            <a:ext cx="228234" cy="228234"/>
          </a:xfrm>
          <a:prstGeom prst="rect">
            <a:avLst/>
          </a:prstGeom>
        </p:spPr>
      </p:pic>
      <p:sp>
        <p:nvSpPr>
          <p:cNvPr id="27" name="text-237"/>
          <p:cNvSpPr txBox="1"/>
          <p:nvPr/>
        </p:nvSpPr>
        <p:spPr>
          <a:xfrm>
            <a:off x="6812280" y="3044952"/>
            <a:ext cx="4663440" cy="320040"/>
          </a:xfrm>
          <a:prstGeom prst="rect">
            <a:avLst/>
          </a:prstGeom>
          <a:noFill/>
          <a:ln/>
        </p:spPr>
        <p:txBody>
          <a:bodyPr wrap="square" lIns="0" tIns="0" rIns="0" bIns="0" rtlCol="0" anchor="t"/>
          <a:lstStyle/>
          <a:p>
            <a:pPr indent="0" marL="0">
              <a:buNone/>
            </a:pPr>
            <a:r>
              <a:rPr lang="en-US" sz="1600" b="1" dirty="0">
                <a:solidFill>
                  <a:schemeClr val="bg1"/>
                </a:solidFill>
              </a:rPr>
              <a:t>Relations walk both ways</a:t>
            </a:r>
            <a:endParaRPr lang="en-US" sz="1600" dirty="0"/>
          </a:p>
        </p:txBody>
      </p:sp>
      <p:sp>
        <p:nvSpPr>
          <p:cNvPr id="28" name="text-238"/>
          <p:cNvSpPr txBox="1"/>
          <p:nvPr/>
        </p:nvSpPr>
        <p:spPr>
          <a:xfrm>
            <a:off x="6812280" y="3364992"/>
            <a:ext cx="4663440" cy="594360"/>
          </a:xfrm>
          <a:prstGeom prst="rect">
            <a:avLst/>
          </a:prstGeom>
          <a:noFill/>
          <a:ln/>
        </p:spPr>
        <p:txBody>
          <a:bodyPr wrap="square" lIns="0" tIns="0" rIns="0" bIns="0" rtlCol="0" anchor="t"/>
          <a:lstStyle/>
          <a:p>
            <a:pPr indent="0" marL="0">
              <a:buNone/>
            </a:pPr>
            <a:r>
              <a:rPr lang="en-US" sz="1400" dirty="0">
                <a:solidFill>
                  <a:schemeClr val="bg1"/>
                </a:solidFill>
              </a:rPr>
              <a:t>"What develops from X?" is as easy as "what does X develop from?"</a:t>
            </a:r>
            <a:endParaRPr lang="en-US" sz="1400" dirty="0"/>
          </a:p>
        </p:txBody>
      </p:sp>
      <p:sp>
        <p:nvSpPr>
          <p:cNvPr id="29" name="badge-239"/>
          <p:cNvSpPr/>
          <p:nvPr/>
        </p:nvSpPr>
        <p:spPr>
          <a:xfrm>
            <a:off x="6217920" y="4078224"/>
            <a:ext cx="438912" cy="438912"/>
          </a:xfrm>
          <a:prstGeom prst="ellipse">
            <a:avLst/>
          </a:prstGeom>
          <a:solidFill>
            <a:schemeClr val="bg1"/>
          </a:solidFill>
          <a:ln w="12700">
            <a:solidFill>
              <a:schemeClr val="bg1"/>
            </a:solidFill>
            <a:prstDash val="solid"/>
          </a:ln>
        </p:spPr>
      </p:sp>
      <p:pic>
        <p:nvPicPr>
          <p:cNvPr id="30" name="icon-240" descr="preencoded.png">    </p:cNvPr>
          <p:cNvPicPr>
            <a:picLocks noChangeAspect="1"/>
          </p:cNvPicPr>
          <p:nvPr/>
        </p:nvPicPr>
        <p:blipFill>
          <a:blip r:embed="rId7"/>
          <a:stretch>
            <a:fillRect/>
          </a:stretch>
        </p:blipFill>
        <p:spPr>
          <a:xfrm>
            <a:off x="6323259" y="4183563"/>
            <a:ext cx="228234" cy="228234"/>
          </a:xfrm>
          <a:prstGeom prst="rect">
            <a:avLst/>
          </a:prstGeom>
        </p:spPr>
      </p:pic>
      <p:sp>
        <p:nvSpPr>
          <p:cNvPr id="31" name="text-241"/>
          <p:cNvSpPr txBox="1"/>
          <p:nvPr/>
        </p:nvSpPr>
        <p:spPr>
          <a:xfrm>
            <a:off x="6812280" y="4032504"/>
            <a:ext cx="4663440" cy="320040"/>
          </a:xfrm>
          <a:prstGeom prst="rect">
            <a:avLst/>
          </a:prstGeom>
          <a:noFill/>
          <a:ln/>
        </p:spPr>
        <p:txBody>
          <a:bodyPr wrap="square" lIns="0" tIns="0" rIns="0" bIns="0" rtlCol="0" anchor="t"/>
          <a:lstStyle/>
          <a:p>
            <a:pPr indent="0" marL="0">
              <a:buNone/>
            </a:pPr>
            <a:r>
              <a:rPr lang="en-US" sz="1600" b="1" dirty="0">
                <a:solidFill>
                  <a:schemeClr val="bg1"/>
                </a:solidFill>
              </a:rPr>
              <a:t>Conflicts are local</a:t>
            </a:r>
            <a:endParaRPr lang="en-US" sz="1600" dirty="0"/>
          </a:p>
        </p:txBody>
      </p:sp>
      <p:sp>
        <p:nvSpPr>
          <p:cNvPr id="32" name="text-242"/>
          <p:cNvSpPr txBox="1"/>
          <p:nvPr/>
        </p:nvSpPr>
        <p:spPr>
          <a:xfrm>
            <a:off x="6812280" y="4352544"/>
            <a:ext cx="4663440" cy="594360"/>
          </a:xfrm>
          <a:prstGeom prst="rect">
            <a:avLst/>
          </a:prstGeom>
          <a:noFill/>
          <a:ln/>
        </p:spPr>
        <p:txBody>
          <a:bodyPr wrap="square" lIns="0" tIns="0" rIns="0" bIns="0" rtlCol="0" anchor="t"/>
          <a:lstStyle/>
          <a:p>
            <a:pPr indent="0" marL="0">
              <a:buNone/>
            </a:pPr>
            <a:r>
              <a:rPr lang="en-US" sz="1400" dirty="0">
                <a:solidFill>
                  <a:schemeClr val="bg1"/>
                </a:solidFill>
              </a:rPr>
              <a:t>A conflict is a derived fact with its explanation, not a failure of the whole run.</a:t>
            </a:r>
            <a:endParaRPr lang="en-US" sz="1400" dirty="0"/>
          </a:p>
        </p:txBody>
      </p:sp>
      <p:sp>
        <p:nvSpPr>
          <p:cNvPr id="33" name="badge-243"/>
          <p:cNvSpPr/>
          <p:nvPr/>
        </p:nvSpPr>
        <p:spPr>
          <a:xfrm>
            <a:off x="6217920" y="5065776"/>
            <a:ext cx="438912" cy="438912"/>
          </a:xfrm>
          <a:prstGeom prst="ellipse">
            <a:avLst/>
          </a:prstGeom>
          <a:solidFill>
            <a:schemeClr val="bg1"/>
          </a:solidFill>
          <a:ln w="12700">
            <a:solidFill>
              <a:schemeClr val="bg1"/>
            </a:solidFill>
            <a:prstDash val="solid"/>
          </a:ln>
        </p:spPr>
      </p:sp>
      <p:pic>
        <p:nvPicPr>
          <p:cNvPr id="34" name="icon-244" descr="preencoded.png">    </p:cNvPr>
          <p:cNvPicPr>
            <a:picLocks noChangeAspect="1"/>
          </p:cNvPicPr>
          <p:nvPr/>
        </p:nvPicPr>
        <p:blipFill>
          <a:blip r:embed="rId8"/>
          <a:stretch>
            <a:fillRect/>
          </a:stretch>
        </p:blipFill>
        <p:spPr>
          <a:xfrm>
            <a:off x="6323259" y="5171115"/>
            <a:ext cx="228234" cy="228234"/>
          </a:xfrm>
          <a:prstGeom prst="rect">
            <a:avLst/>
          </a:prstGeom>
        </p:spPr>
      </p:pic>
      <p:sp>
        <p:nvSpPr>
          <p:cNvPr id="35" name="text-245"/>
          <p:cNvSpPr txBox="1"/>
          <p:nvPr/>
        </p:nvSpPr>
        <p:spPr>
          <a:xfrm>
            <a:off x="6812280" y="5020056"/>
            <a:ext cx="4663440" cy="320040"/>
          </a:xfrm>
          <a:prstGeom prst="rect">
            <a:avLst/>
          </a:prstGeom>
          <a:noFill/>
          <a:ln/>
        </p:spPr>
        <p:txBody>
          <a:bodyPr wrap="square" lIns="0" tIns="0" rIns="0" bIns="0" rtlCol="0" anchor="t"/>
          <a:lstStyle/>
          <a:p>
            <a:pPr indent="0" marL="0">
              <a:buNone/>
            </a:pPr>
            <a:r>
              <a:rPr lang="en-US" sz="1600" b="1" dirty="0">
                <a:solidFill>
                  <a:schemeClr val="bg1"/>
                </a:solidFill>
              </a:rPr>
              <a:t>New reasoning technology</a:t>
            </a:r>
            <a:endParaRPr lang="en-US" sz="1600" dirty="0"/>
          </a:p>
        </p:txBody>
      </p:sp>
      <p:sp>
        <p:nvSpPr>
          <p:cNvPr id="36" name="text-246"/>
          <p:cNvSpPr txBox="1"/>
          <p:nvPr/>
        </p:nvSpPr>
        <p:spPr>
          <a:xfrm>
            <a:off x="6812280" y="5340096"/>
            <a:ext cx="4663440" cy="594360"/>
          </a:xfrm>
          <a:prstGeom prst="rect">
            <a:avLst/>
          </a:prstGeom>
          <a:noFill/>
          <a:ln/>
        </p:spPr>
        <p:txBody>
          <a:bodyPr wrap="square" lIns="0" tIns="0" rIns="0" bIns="0" rtlCol="0" anchor="t"/>
          <a:lstStyle/>
          <a:p>
            <a:pPr indent="0" marL="0">
              <a:buNone/>
            </a:pPr>
            <a:r>
              <a:rPr lang="en-US" sz="1400" dirty="0">
                <a:solidFill>
                  <a:schemeClr val="bg1"/>
                </a:solidFill>
              </a:rPr>
              <a:t>Exact and polynomial on endpoints; Soufflé scales; rule engines, ASP and provenance become usable.</a:t>
            </a:r>
            <a:endParaRPr lang="en-US" sz="14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Allen's interval relations: a vocabulary for timing</a:t>
            </a:r>
            <a:endParaRPr lang="en-US" sz="3000" dirty="0"/>
          </a:p>
        </p:txBody>
      </p:sp>
      <p:sp>
        <p:nvSpPr>
          <p:cNvPr id="3" name="box-247"/>
          <p:cNvSpPr/>
          <p:nvPr/>
        </p:nvSpPr>
        <p:spPr>
          <a:xfrm>
            <a:off x="548640" y="1417320"/>
            <a:ext cx="1481328" cy="2651760"/>
          </a:xfrm>
          <a:prstGeom prst="roundRect">
            <a:avLst>
              <a:gd name="adj" fmla="val 4938"/>
            </a:avLst>
          </a:prstGeom>
          <a:solidFill>
            <a:schemeClr val="bg2"/>
          </a:solidFill>
          <a:ln w="12700">
            <a:solidFill>
              <a:schemeClr val="bg2"/>
            </a:solidFill>
            <a:prstDash val="solid"/>
          </a:ln>
        </p:spPr>
      </p:sp>
      <p:sp>
        <p:nvSpPr>
          <p:cNvPr id="4" name="text-248"/>
          <p:cNvSpPr txBox="1"/>
          <p:nvPr/>
        </p:nvSpPr>
        <p:spPr>
          <a:xfrm>
            <a:off x="548640" y="1527048"/>
            <a:ext cx="1481328" cy="548640"/>
          </a:xfrm>
          <a:prstGeom prst="rect">
            <a:avLst/>
          </a:prstGeom>
          <a:noFill/>
          <a:ln/>
        </p:spPr>
        <p:txBody>
          <a:bodyPr wrap="square" lIns="0" tIns="0" rIns="0" bIns="0" rtlCol="0" anchor="t"/>
          <a:lstStyle/>
          <a:p>
            <a:pPr algn="ctr" indent="0" marL="0">
              <a:buNone/>
            </a:pPr>
            <a:r>
              <a:rPr lang="en-US" sz="3000" b="1" dirty="0">
                <a:solidFill>
                  <a:schemeClr val="accent1"/>
                </a:solidFill>
                <a:latin typeface="Cambria" pitchFamily="34" charset="0"/>
                <a:ea typeface="Cambria" pitchFamily="34" charset="-122"/>
                <a:cs typeface="Cambria" pitchFamily="34" charset="-120"/>
              </a:rPr>
              <a:t>p</a:t>
            </a:r>
            <a:endParaRPr lang="en-US" sz="3000" dirty="0"/>
          </a:p>
        </p:txBody>
      </p:sp>
      <p:sp>
        <p:nvSpPr>
          <p:cNvPr id="5" name="text-249"/>
          <p:cNvSpPr txBox="1"/>
          <p:nvPr/>
        </p:nvSpPr>
        <p:spPr>
          <a:xfrm>
            <a:off x="548640" y="2103120"/>
            <a:ext cx="1481328" cy="320040"/>
          </a:xfrm>
          <a:prstGeom prst="rect">
            <a:avLst/>
          </a:prstGeom>
          <a:noFill/>
          <a:ln/>
        </p:spPr>
        <p:txBody>
          <a:bodyPr wrap="square" lIns="0" tIns="0" rIns="0" bIns="0" rtlCol="0" anchor="t"/>
          <a:lstStyle/>
          <a:p>
            <a:pPr algn="ctr" indent="0" marL="0">
              <a:buNone/>
            </a:pPr>
            <a:r>
              <a:rPr lang="en-US" sz="1400" dirty="0">
                <a:solidFill>
                  <a:schemeClr val="tx1"/>
                </a:solidFill>
              </a:rPr>
              <a:t>precedes</a:t>
            </a:r>
            <a:endParaRPr lang="en-US" sz="1400" dirty="0"/>
          </a:p>
        </p:txBody>
      </p:sp>
      <p:sp>
        <p:nvSpPr>
          <p:cNvPr id="6" name="bar-250"/>
          <p:cNvSpPr txBox="1"/>
          <p:nvPr/>
        </p:nvSpPr>
        <p:spPr>
          <a:xfrm>
            <a:off x="694944" y="2697480"/>
            <a:ext cx="356616" cy="310896"/>
          </a:xfrm>
          <a:prstGeom prst="roundRect">
            <a:avLst>
              <a:gd name="adj" fmla="val 20588"/>
            </a:avLst>
          </a:prstGeom>
          <a:solidFill>
            <a:schemeClr val="accent1"/>
          </a:solidFill>
          <a:ln>
            <a:solidFill>
              <a:schemeClr val="accent1"/>
            </a:solidFill>
          </a:ln>
        </p:spPr>
        <p:txBody>
          <a:bodyPr wrap="square" lIns="0" tIns="101600" rIns="101600" bIns="0" rtlCol="0" anchor="ctr"/>
          <a:lstStyle/>
          <a:p>
            <a:pPr algn="l" indent="0" marL="0">
              <a:buNone/>
            </a:pPr>
            <a:r>
              <a:rPr lang="en-US" sz="1200" b="1" dirty="0">
                <a:solidFill>
                  <a:schemeClr val="bg1"/>
                </a:solidFill>
              </a:rPr>
              <a:t>X</a:t>
            </a:r>
            <a:endParaRPr lang="en-US" sz="1200" dirty="0"/>
          </a:p>
        </p:txBody>
      </p:sp>
      <p:sp>
        <p:nvSpPr>
          <p:cNvPr id="7" name="bar-251"/>
          <p:cNvSpPr txBox="1"/>
          <p:nvPr/>
        </p:nvSpPr>
        <p:spPr>
          <a:xfrm>
            <a:off x="1289304" y="3200400"/>
            <a:ext cx="594360" cy="310896"/>
          </a:xfrm>
          <a:prstGeom prst="roundRect">
            <a:avLst>
              <a:gd name="adj" fmla="val 20588"/>
            </a:avLst>
          </a:prstGeom>
          <a:solidFill>
            <a:schemeClr val="accent2"/>
          </a:solidFill>
          <a:ln>
            <a:solidFill>
              <a:schemeClr val="accent2"/>
            </a:solidFill>
          </a:ln>
        </p:spPr>
        <p:txBody>
          <a:bodyPr wrap="square" lIns="0" tIns="101600" rIns="101600" bIns="0" rtlCol="0" anchor="ctr"/>
          <a:lstStyle/>
          <a:p>
            <a:pPr algn="l" indent="0" marL="0">
              <a:buNone/>
            </a:pPr>
            <a:r>
              <a:rPr lang="en-US" sz="1200" b="1" dirty="0">
                <a:solidFill>
                  <a:schemeClr val="tx1"/>
                </a:solidFill>
              </a:rPr>
              <a:t>Y</a:t>
            </a:r>
            <a:endParaRPr lang="en-US" sz="1200" dirty="0"/>
          </a:p>
        </p:txBody>
      </p:sp>
      <p:sp>
        <p:nvSpPr>
          <p:cNvPr id="8" name="box-252"/>
          <p:cNvSpPr/>
          <p:nvPr/>
        </p:nvSpPr>
        <p:spPr>
          <a:xfrm>
            <a:off x="2139696" y="1417320"/>
            <a:ext cx="1481328" cy="2651760"/>
          </a:xfrm>
          <a:prstGeom prst="roundRect">
            <a:avLst>
              <a:gd name="adj" fmla="val 4938"/>
            </a:avLst>
          </a:prstGeom>
          <a:solidFill>
            <a:schemeClr val="bg2"/>
          </a:solidFill>
          <a:ln w="12700">
            <a:solidFill>
              <a:schemeClr val="bg2"/>
            </a:solidFill>
            <a:prstDash val="solid"/>
          </a:ln>
        </p:spPr>
      </p:sp>
      <p:sp>
        <p:nvSpPr>
          <p:cNvPr id="9" name="text-253"/>
          <p:cNvSpPr txBox="1"/>
          <p:nvPr/>
        </p:nvSpPr>
        <p:spPr>
          <a:xfrm>
            <a:off x="2139696" y="1527048"/>
            <a:ext cx="1481328" cy="548640"/>
          </a:xfrm>
          <a:prstGeom prst="rect">
            <a:avLst/>
          </a:prstGeom>
          <a:noFill/>
          <a:ln/>
        </p:spPr>
        <p:txBody>
          <a:bodyPr wrap="square" lIns="0" tIns="0" rIns="0" bIns="0" rtlCol="0" anchor="t"/>
          <a:lstStyle/>
          <a:p>
            <a:pPr algn="ctr" indent="0" marL="0">
              <a:buNone/>
            </a:pPr>
            <a:r>
              <a:rPr lang="en-US" sz="3000" b="1" dirty="0">
                <a:solidFill>
                  <a:schemeClr val="accent1"/>
                </a:solidFill>
                <a:latin typeface="Cambria" pitchFamily="34" charset="0"/>
                <a:ea typeface="Cambria" pitchFamily="34" charset="-122"/>
                <a:cs typeface="Cambria" pitchFamily="34" charset="-120"/>
              </a:rPr>
              <a:t>m</a:t>
            </a:r>
            <a:endParaRPr lang="en-US" sz="3000" dirty="0"/>
          </a:p>
        </p:txBody>
      </p:sp>
      <p:sp>
        <p:nvSpPr>
          <p:cNvPr id="10" name="text-254"/>
          <p:cNvSpPr txBox="1"/>
          <p:nvPr/>
        </p:nvSpPr>
        <p:spPr>
          <a:xfrm>
            <a:off x="2139696" y="2103120"/>
            <a:ext cx="1481328" cy="320040"/>
          </a:xfrm>
          <a:prstGeom prst="rect">
            <a:avLst/>
          </a:prstGeom>
          <a:noFill/>
          <a:ln/>
        </p:spPr>
        <p:txBody>
          <a:bodyPr wrap="square" lIns="0" tIns="0" rIns="0" bIns="0" rtlCol="0" anchor="t"/>
          <a:lstStyle/>
          <a:p>
            <a:pPr algn="ctr" indent="0" marL="0">
              <a:buNone/>
            </a:pPr>
            <a:r>
              <a:rPr lang="en-US" sz="1400" dirty="0">
                <a:solidFill>
                  <a:schemeClr val="tx1"/>
                </a:solidFill>
              </a:rPr>
              <a:t>meets</a:t>
            </a:r>
            <a:endParaRPr lang="en-US" sz="1400" dirty="0"/>
          </a:p>
        </p:txBody>
      </p:sp>
      <p:sp>
        <p:nvSpPr>
          <p:cNvPr id="11" name="bar-255"/>
          <p:cNvSpPr txBox="1"/>
          <p:nvPr/>
        </p:nvSpPr>
        <p:spPr>
          <a:xfrm>
            <a:off x="2286000" y="2697480"/>
            <a:ext cx="475488" cy="310896"/>
          </a:xfrm>
          <a:prstGeom prst="roundRect">
            <a:avLst>
              <a:gd name="adj" fmla="val 20588"/>
            </a:avLst>
          </a:prstGeom>
          <a:solidFill>
            <a:schemeClr val="accent1"/>
          </a:solidFill>
          <a:ln>
            <a:solidFill>
              <a:schemeClr val="accent1"/>
            </a:solidFill>
          </a:ln>
        </p:spPr>
        <p:txBody>
          <a:bodyPr wrap="square" lIns="0" tIns="101600" rIns="101600" bIns="0" rtlCol="0" anchor="ctr"/>
          <a:lstStyle/>
          <a:p>
            <a:pPr algn="l" indent="0" marL="0">
              <a:buNone/>
            </a:pPr>
            <a:r>
              <a:rPr lang="en-US" sz="1200" b="1" dirty="0">
                <a:solidFill>
                  <a:schemeClr val="bg1"/>
                </a:solidFill>
              </a:rPr>
              <a:t>X</a:t>
            </a:r>
            <a:endParaRPr lang="en-US" sz="1200" dirty="0"/>
          </a:p>
        </p:txBody>
      </p:sp>
      <p:sp>
        <p:nvSpPr>
          <p:cNvPr id="12" name="bar-256"/>
          <p:cNvSpPr txBox="1"/>
          <p:nvPr/>
        </p:nvSpPr>
        <p:spPr>
          <a:xfrm>
            <a:off x="2761488" y="3200400"/>
            <a:ext cx="713232" cy="310896"/>
          </a:xfrm>
          <a:prstGeom prst="roundRect">
            <a:avLst>
              <a:gd name="adj" fmla="val 20588"/>
            </a:avLst>
          </a:prstGeom>
          <a:solidFill>
            <a:schemeClr val="accent2"/>
          </a:solidFill>
          <a:ln>
            <a:solidFill>
              <a:schemeClr val="accent2"/>
            </a:solidFill>
          </a:ln>
        </p:spPr>
        <p:txBody>
          <a:bodyPr wrap="square" lIns="0" tIns="101600" rIns="101600" bIns="0" rtlCol="0" anchor="ctr"/>
          <a:lstStyle/>
          <a:p>
            <a:pPr algn="l" indent="0" marL="0">
              <a:buNone/>
            </a:pPr>
            <a:r>
              <a:rPr lang="en-US" sz="1200" b="1" dirty="0">
                <a:solidFill>
                  <a:schemeClr val="tx1"/>
                </a:solidFill>
              </a:rPr>
              <a:t>Y</a:t>
            </a:r>
            <a:endParaRPr lang="en-US" sz="1200" dirty="0"/>
          </a:p>
        </p:txBody>
      </p:sp>
      <p:sp>
        <p:nvSpPr>
          <p:cNvPr id="13" name="box-257"/>
          <p:cNvSpPr/>
          <p:nvPr/>
        </p:nvSpPr>
        <p:spPr>
          <a:xfrm>
            <a:off x="3730752" y="1417320"/>
            <a:ext cx="1481328" cy="2651760"/>
          </a:xfrm>
          <a:prstGeom prst="roundRect">
            <a:avLst>
              <a:gd name="adj" fmla="val 4938"/>
            </a:avLst>
          </a:prstGeom>
          <a:solidFill>
            <a:schemeClr val="bg2"/>
          </a:solidFill>
          <a:ln w="12700">
            <a:solidFill>
              <a:schemeClr val="bg2"/>
            </a:solidFill>
            <a:prstDash val="solid"/>
          </a:ln>
        </p:spPr>
      </p:sp>
      <p:sp>
        <p:nvSpPr>
          <p:cNvPr id="14" name="text-258"/>
          <p:cNvSpPr txBox="1"/>
          <p:nvPr/>
        </p:nvSpPr>
        <p:spPr>
          <a:xfrm>
            <a:off x="3730752" y="1527048"/>
            <a:ext cx="1481328" cy="548640"/>
          </a:xfrm>
          <a:prstGeom prst="rect">
            <a:avLst/>
          </a:prstGeom>
          <a:noFill/>
          <a:ln/>
        </p:spPr>
        <p:txBody>
          <a:bodyPr wrap="square" lIns="0" tIns="0" rIns="0" bIns="0" rtlCol="0" anchor="t"/>
          <a:lstStyle/>
          <a:p>
            <a:pPr algn="ctr" indent="0" marL="0">
              <a:buNone/>
            </a:pPr>
            <a:r>
              <a:rPr lang="en-US" sz="3000" b="1" dirty="0">
                <a:solidFill>
                  <a:schemeClr val="accent1"/>
                </a:solidFill>
                <a:latin typeface="Cambria" pitchFamily="34" charset="0"/>
                <a:ea typeface="Cambria" pitchFamily="34" charset="-122"/>
                <a:cs typeface="Cambria" pitchFamily="34" charset="-120"/>
              </a:rPr>
              <a:t>o</a:t>
            </a:r>
            <a:endParaRPr lang="en-US" sz="3000" dirty="0"/>
          </a:p>
        </p:txBody>
      </p:sp>
      <p:sp>
        <p:nvSpPr>
          <p:cNvPr id="15" name="text-259"/>
          <p:cNvSpPr txBox="1"/>
          <p:nvPr/>
        </p:nvSpPr>
        <p:spPr>
          <a:xfrm>
            <a:off x="3730752" y="2103120"/>
            <a:ext cx="1481328" cy="320040"/>
          </a:xfrm>
          <a:prstGeom prst="rect">
            <a:avLst/>
          </a:prstGeom>
          <a:noFill/>
          <a:ln/>
        </p:spPr>
        <p:txBody>
          <a:bodyPr wrap="square" lIns="0" tIns="0" rIns="0" bIns="0" rtlCol="0" anchor="t"/>
          <a:lstStyle/>
          <a:p>
            <a:pPr algn="ctr" indent="0" marL="0">
              <a:buNone/>
            </a:pPr>
            <a:r>
              <a:rPr lang="en-US" sz="1400" dirty="0">
                <a:solidFill>
                  <a:schemeClr val="tx1"/>
                </a:solidFill>
              </a:rPr>
              <a:t>overlaps</a:t>
            </a:r>
            <a:endParaRPr lang="en-US" sz="1400" dirty="0"/>
          </a:p>
        </p:txBody>
      </p:sp>
      <p:sp>
        <p:nvSpPr>
          <p:cNvPr id="16" name="bar-260"/>
          <p:cNvSpPr txBox="1"/>
          <p:nvPr/>
        </p:nvSpPr>
        <p:spPr>
          <a:xfrm>
            <a:off x="3877056" y="2697480"/>
            <a:ext cx="713232" cy="310896"/>
          </a:xfrm>
          <a:prstGeom prst="roundRect">
            <a:avLst>
              <a:gd name="adj" fmla="val 20588"/>
            </a:avLst>
          </a:prstGeom>
          <a:solidFill>
            <a:schemeClr val="accent1"/>
          </a:solidFill>
          <a:ln>
            <a:solidFill>
              <a:schemeClr val="accent1"/>
            </a:solidFill>
          </a:ln>
        </p:spPr>
        <p:txBody>
          <a:bodyPr wrap="square" lIns="0" tIns="101600" rIns="101600" bIns="0" rtlCol="0" anchor="ctr"/>
          <a:lstStyle/>
          <a:p>
            <a:pPr algn="l" indent="0" marL="0">
              <a:buNone/>
            </a:pPr>
            <a:r>
              <a:rPr lang="en-US" sz="1200" b="1" dirty="0">
                <a:solidFill>
                  <a:schemeClr val="bg1"/>
                </a:solidFill>
              </a:rPr>
              <a:t>X</a:t>
            </a:r>
            <a:endParaRPr lang="en-US" sz="1200" dirty="0"/>
          </a:p>
        </p:txBody>
      </p:sp>
      <p:sp>
        <p:nvSpPr>
          <p:cNvPr id="17" name="bar-261"/>
          <p:cNvSpPr txBox="1"/>
          <p:nvPr/>
        </p:nvSpPr>
        <p:spPr>
          <a:xfrm>
            <a:off x="4352544" y="3200400"/>
            <a:ext cx="713232" cy="310896"/>
          </a:xfrm>
          <a:prstGeom prst="roundRect">
            <a:avLst>
              <a:gd name="adj" fmla="val 20588"/>
            </a:avLst>
          </a:prstGeom>
          <a:solidFill>
            <a:schemeClr val="accent2"/>
          </a:solidFill>
          <a:ln>
            <a:solidFill>
              <a:schemeClr val="accent2"/>
            </a:solidFill>
          </a:ln>
        </p:spPr>
        <p:txBody>
          <a:bodyPr wrap="square" lIns="0" tIns="101600" rIns="101600" bIns="0" rtlCol="0" anchor="ctr"/>
          <a:lstStyle/>
          <a:p>
            <a:pPr algn="l" indent="0" marL="0">
              <a:buNone/>
            </a:pPr>
            <a:r>
              <a:rPr lang="en-US" sz="1200" b="1" dirty="0">
                <a:solidFill>
                  <a:schemeClr val="tx1"/>
                </a:solidFill>
              </a:rPr>
              <a:t>Y</a:t>
            </a:r>
            <a:endParaRPr lang="en-US" sz="1200" dirty="0"/>
          </a:p>
        </p:txBody>
      </p:sp>
      <p:sp>
        <p:nvSpPr>
          <p:cNvPr id="18" name="box-262"/>
          <p:cNvSpPr/>
          <p:nvPr/>
        </p:nvSpPr>
        <p:spPr>
          <a:xfrm>
            <a:off x="5321808" y="1417320"/>
            <a:ext cx="1481328" cy="2651760"/>
          </a:xfrm>
          <a:prstGeom prst="roundRect">
            <a:avLst>
              <a:gd name="adj" fmla="val 4938"/>
            </a:avLst>
          </a:prstGeom>
          <a:solidFill>
            <a:schemeClr val="bg2"/>
          </a:solidFill>
          <a:ln w="12700">
            <a:solidFill>
              <a:schemeClr val="bg2"/>
            </a:solidFill>
            <a:prstDash val="solid"/>
          </a:ln>
        </p:spPr>
      </p:sp>
      <p:sp>
        <p:nvSpPr>
          <p:cNvPr id="19" name="text-263"/>
          <p:cNvSpPr txBox="1"/>
          <p:nvPr/>
        </p:nvSpPr>
        <p:spPr>
          <a:xfrm>
            <a:off x="5321808" y="1527048"/>
            <a:ext cx="1481328" cy="548640"/>
          </a:xfrm>
          <a:prstGeom prst="rect">
            <a:avLst/>
          </a:prstGeom>
          <a:noFill/>
          <a:ln/>
        </p:spPr>
        <p:txBody>
          <a:bodyPr wrap="square" lIns="0" tIns="0" rIns="0" bIns="0" rtlCol="0" anchor="t"/>
          <a:lstStyle/>
          <a:p>
            <a:pPr algn="ctr" indent="0" marL="0">
              <a:buNone/>
            </a:pPr>
            <a:r>
              <a:rPr lang="en-US" sz="3000" b="1" dirty="0">
                <a:solidFill>
                  <a:schemeClr val="accent1"/>
                </a:solidFill>
                <a:latin typeface="Cambria" pitchFamily="34" charset="0"/>
                <a:ea typeface="Cambria" pitchFamily="34" charset="-122"/>
                <a:cs typeface="Cambria" pitchFamily="34" charset="-120"/>
              </a:rPr>
              <a:t>F</a:t>
            </a:r>
            <a:endParaRPr lang="en-US" sz="3000" dirty="0"/>
          </a:p>
        </p:txBody>
      </p:sp>
      <p:sp>
        <p:nvSpPr>
          <p:cNvPr id="20" name="text-264"/>
          <p:cNvSpPr txBox="1"/>
          <p:nvPr/>
        </p:nvSpPr>
        <p:spPr>
          <a:xfrm>
            <a:off x="5321808" y="2103120"/>
            <a:ext cx="1481328" cy="320040"/>
          </a:xfrm>
          <a:prstGeom prst="rect">
            <a:avLst/>
          </a:prstGeom>
          <a:noFill/>
          <a:ln/>
        </p:spPr>
        <p:txBody>
          <a:bodyPr wrap="square" lIns="0" tIns="0" rIns="0" bIns="0" rtlCol="0" anchor="t"/>
          <a:lstStyle/>
          <a:p>
            <a:pPr algn="ctr" indent="0" marL="0">
              <a:buNone/>
            </a:pPr>
            <a:r>
              <a:rPr lang="en-US" sz="1400" dirty="0">
                <a:solidFill>
                  <a:schemeClr val="tx1"/>
                </a:solidFill>
              </a:rPr>
              <a:t>finished by</a:t>
            </a:r>
            <a:endParaRPr lang="en-US" sz="1400" dirty="0"/>
          </a:p>
        </p:txBody>
      </p:sp>
      <p:sp>
        <p:nvSpPr>
          <p:cNvPr id="21" name="bar-265"/>
          <p:cNvSpPr txBox="1"/>
          <p:nvPr/>
        </p:nvSpPr>
        <p:spPr>
          <a:xfrm>
            <a:off x="5468112" y="2697480"/>
            <a:ext cx="1188720" cy="310896"/>
          </a:xfrm>
          <a:prstGeom prst="roundRect">
            <a:avLst>
              <a:gd name="adj" fmla="val 20588"/>
            </a:avLst>
          </a:prstGeom>
          <a:solidFill>
            <a:schemeClr val="accent1"/>
          </a:solidFill>
          <a:ln>
            <a:solidFill>
              <a:schemeClr val="accent1"/>
            </a:solidFill>
          </a:ln>
        </p:spPr>
        <p:txBody>
          <a:bodyPr wrap="square" lIns="0" tIns="101600" rIns="101600" bIns="0" rtlCol="0" anchor="ctr"/>
          <a:lstStyle/>
          <a:p>
            <a:pPr algn="l" indent="0" marL="0">
              <a:buNone/>
            </a:pPr>
            <a:r>
              <a:rPr lang="en-US" sz="1200" b="1" dirty="0">
                <a:solidFill>
                  <a:schemeClr val="bg1"/>
                </a:solidFill>
              </a:rPr>
              <a:t>X</a:t>
            </a:r>
            <a:endParaRPr lang="en-US" sz="1200" dirty="0"/>
          </a:p>
        </p:txBody>
      </p:sp>
      <p:sp>
        <p:nvSpPr>
          <p:cNvPr id="22" name="bar-266"/>
          <p:cNvSpPr txBox="1"/>
          <p:nvPr/>
        </p:nvSpPr>
        <p:spPr>
          <a:xfrm>
            <a:off x="6062472" y="3200400"/>
            <a:ext cx="594360" cy="310896"/>
          </a:xfrm>
          <a:prstGeom prst="roundRect">
            <a:avLst>
              <a:gd name="adj" fmla="val 20588"/>
            </a:avLst>
          </a:prstGeom>
          <a:solidFill>
            <a:schemeClr val="accent2"/>
          </a:solidFill>
          <a:ln>
            <a:solidFill>
              <a:schemeClr val="accent2"/>
            </a:solidFill>
          </a:ln>
        </p:spPr>
        <p:txBody>
          <a:bodyPr wrap="square" lIns="0" tIns="101600" rIns="101600" bIns="0" rtlCol="0" anchor="ctr"/>
          <a:lstStyle/>
          <a:p>
            <a:pPr algn="l" indent="0" marL="0">
              <a:buNone/>
            </a:pPr>
            <a:r>
              <a:rPr lang="en-US" sz="1200" b="1" dirty="0">
                <a:solidFill>
                  <a:schemeClr val="tx1"/>
                </a:solidFill>
              </a:rPr>
              <a:t>Y</a:t>
            </a:r>
            <a:endParaRPr lang="en-US" sz="1200" dirty="0"/>
          </a:p>
        </p:txBody>
      </p:sp>
      <p:sp>
        <p:nvSpPr>
          <p:cNvPr id="23" name="box-267"/>
          <p:cNvSpPr/>
          <p:nvPr/>
        </p:nvSpPr>
        <p:spPr>
          <a:xfrm>
            <a:off x="6912864" y="1417320"/>
            <a:ext cx="1481328" cy="2651760"/>
          </a:xfrm>
          <a:prstGeom prst="roundRect">
            <a:avLst>
              <a:gd name="adj" fmla="val 4938"/>
            </a:avLst>
          </a:prstGeom>
          <a:solidFill>
            <a:schemeClr val="bg2"/>
          </a:solidFill>
          <a:ln w="12700">
            <a:solidFill>
              <a:schemeClr val="bg2"/>
            </a:solidFill>
            <a:prstDash val="solid"/>
          </a:ln>
        </p:spPr>
      </p:sp>
      <p:sp>
        <p:nvSpPr>
          <p:cNvPr id="24" name="text-268"/>
          <p:cNvSpPr txBox="1"/>
          <p:nvPr/>
        </p:nvSpPr>
        <p:spPr>
          <a:xfrm>
            <a:off x="6912864" y="1527048"/>
            <a:ext cx="1481328" cy="548640"/>
          </a:xfrm>
          <a:prstGeom prst="rect">
            <a:avLst/>
          </a:prstGeom>
          <a:noFill/>
          <a:ln/>
        </p:spPr>
        <p:txBody>
          <a:bodyPr wrap="square" lIns="0" tIns="0" rIns="0" bIns="0" rtlCol="0" anchor="t"/>
          <a:lstStyle/>
          <a:p>
            <a:pPr algn="ctr" indent="0" marL="0">
              <a:buNone/>
            </a:pPr>
            <a:r>
              <a:rPr lang="en-US" sz="3000" b="1" dirty="0">
                <a:solidFill>
                  <a:schemeClr val="accent1"/>
                </a:solidFill>
                <a:latin typeface="Cambria" pitchFamily="34" charset="0"/>
                <a:ea typeface="Cambria" pitchFamily="34" charset="-122"/>
                <a:cs typeface="Cambria" pitchFamily="34" charset="-120"/>
              </a:rPr>
              <a:t>D</a:t>
            </a:r>
            <a:endParaRPr lang="en-US" sz="3000" dirty="0"/>
          </a:p>
        </p:txBody>
      </p:sp>
      <p:sp>
        <p:nvSpPr>
          <p:cNvPr id="25" name="text-269"/>
          <p:cNvSpPr txBox="1"/>
          <p:nvPr/>
        </p:nvSpPr>
        <p:spPr>
          <a:xfrm>
            <a:off x="6912864" y="2103120"/>
            <a:ext cx="1481328" cy="320040"/>
          </a:xfrm>
          <a:prstGeom prst="rect">
            <a:avLst/>
          </a:prstGeom>
          <a:noFill/>
          <a:ln/>
        </p:spPr>
        <p:txBody>
          <a:bodyPr wrap="square" lIns="0" tIns="0" rIns="0" bIns="0" rtlCol="0" anchor="t"/>
          <a:lstStyle/>
          <a:p>
            <a:pPr algn="ctr" indent="0" marL="0">
              <a:buNone/>
            </a:pPr>
            <a:r>
              <a:rPr lang="en-US" sz="1400" dirty="0">
                <a:solidFill>
                  <a:schemeClr val="tx1"/>
                </a:solidFill>
              </a:rPr>
              <a:t>contains</a:t>
            </a:r>
            <a:endParaRPr lang="en-US" sz="1400" dirty="0"/>
          </a:p>
        </p:txBody>
      </p:sp>
      <p:sp>
        <p:nvSpPr>
          <p:cNvPr id="26" name="bar-270"/>
          <p:cNvSpPr txBox="1"/>
          <p:nvPr/>
        </p:nvSpPr>
        <p:spPr>
          <a:xfrm>
            <a:off x="7059168" y="2697480"/>
            <a:ext cx="1188720" cy="310896"/>
          </a:xfrm>
          <a:prstGeom prst="roundRect">
            <a:avLst>
              <a:gd name="adj" fmla="val 20588"/>
            </a:avLst>
          </a:prstGeom>
          <a:solidFill>
            <a:schemeClr val="accent1"/>
          </a:solidFill>
          <a:ln>
            <a:solidFill>
              <a:schemeClr val="accent1"/>
            </a:solidFill>
          </a:ln>
        </p:spPr>
        <p:txBody>
          <a:bodyPr wrap="square" lIns="0" tIns="101600" rIns="101600" bIns="0" rtlCol="0" anchor="ctr"/>
          <a:lstStyle/>
          <a:p>
            <a:pPr algn="l" indent="0" marL="0">
              <a:buNone/>
            </a:pPr>
            <a:r>
              <a:rPr lang="en-US" sz="1200" b="1" dirty="0">
                <a:solidFill>
                  <a:schemeClr val="bg1"/>
                </a:solidFill>
              </a:rPr>
              <a:t>X</a:t>
            </a:r>
            <a:endParaRPr lang="en-US" sz="1200" dirty="0"/>
          </a:p>
        </p:txBody>
      </p:sp>
      <p:sp>
        <p:nvSpPr>
          <p:cNvPr id="27" name="bar-271"/>
          <p:cNvSpPr txBox="1"/>
          <p:nvPr/>
        </p:nvSpPr>
        <p:spPr>
          <a:xfrm>
            <a:off x="7415784" y="3200400"/>
            <a:ext cx="475488" cy="310896"/>
          </a:xfrm>
          <a:prstGeom prst="roundRect">
            <a:avLst>
              <a:gd name="adj" fmla="val 20588"/>
            </a:avLst>
          </a:prstGeom>
          <a:solidFill>
            <a:schemeClr val="accent2"/>
          </a:solidFill>
          <a:ln>
            <a:solidFill>
              <a:schemeClr val="accent2"/>
            </a:solidFill>
          </a:ln>
        </p:spPr>
        <p:txBody>
          <a:bodyPr wrap="square" lIns="0" tIns="101600" rIns="101600" bIns="0" rtlCol="0" anchor="ctr"/>
          <a:lstStyle/>
          <a:p>
            <a:pPr algn="l" indent="0" marL="0">
              <a:buNone/>
            </a:pPr>
            <a:r>
              <a:rPr lang="en-US" sz="1200" b="1" dirty="0">
                <a:solidFill>
                  <a:schemeClr val="tx1"/>
                </a:solidFill>
              </a:rPr>
              <a:t>Y</a:t>
            </a:r>
            <a:endParaRPr lang="en-US" sz="1200" dirty="0"/>
          </a:p>
        </p:txBody>
      </p:sp>
      <p:sp>
        <p:nvSpPr>
          <p:cNvPr id="28" name="box-272"/>
          <p:cNvSpPr/>
          <p:nvPr/>
        </p:nvSpPr>
        <p:spPr>
          <a:xfrm>
            <a:off x="8503920" y="1417320"/>
            <a:ext cx="1481328" cy="2651760"/>
          </a:xfrm>
          <a:prstGeom prst="roundRect">
            <a:avLst>
              <a:gd name="adj" fmla="val 4938"/>
            </a:avLst>
          </a:prstGeom>
          <a:solidFill>
            <a:schemeClr val="bg2"/>
          </a:solidFill>
          <a:ln w="12700">
            <a:solidFill>
              <a:schemeClr val="bg2"/>
            </a:solidFill>
            <a:prstDash val="solid"/>
          </a:ln>
        </p:spPr>
      </p:sp>
      <p:sp>
        <p:nvSpPr>
          <p:cNvPr id="29" name="text-273"/>
          <p:cNvSpPr txBox="1"/>
          <p:nvPr/>
        </p:nvSpPr>
        <p:spPr>
          <a:xfrm>
            <a:off x="8503920" y="1527048"/>
            <a:ext cx="1481328" cy="548640"/>
          </a:xfrm>
          <a:prstGeom prst="rect">
            <a:avLst/>
          </a:prstGeom>
          <a:noFill/>
          <a:ln/>
        </p:spPr>
        <p:txBody>
          <a:bodyPr wrap="square" lIns="0" tIns="0" rIns="0" bIns="0" rtlCol="0" anchor="t"/>
          <a:lstStyle/>
          <a:p>
            <a:pPr algn="ctr" indent="0" marL="0">
              <a:buNone/>
            </a:pPr>
            <a:r>
              <a:rPr lang="en-US" sz="3000" b="1" dirty="0">
                <a:solidFill>
                  <a:schemeClr val="accent1"/>
                </a:solidFill>
                <a:latin typeface="Cambria" pitchFamily="34" charset="0"/>
                <a:ea typeface="Cambria" pitchFamily="34" charset="-122"/>
                <a:cs typeface="Cambria" pitchFamily="34" charset="-120"/>
              </a:rPr>
              <a:t>s</a:t>
            </a:r>
            <a:endParaRPr lang="en-US" sz="3000" dirty="0"/>
          </a:p>
        </p:txBody>
      </p:sp>
      <p:sp>
        <p:nvSpPr>
          <p:cNvPr id="30" name="text-274"/>
          <p:cNvSpPr txBox="1"/>
          <p:nvPr/>
        </p:nvSpPr>
        <p:spPr>
          <a:xfrm>
            <a:off x="8503920" y="2103120"/>
            <a:ext cx="1481328" cy="320040"/>
          </a:xfrm>
          <a:prstGeom prst="rect">
            <a:avLst/>
          </a:prstGeom>
          <a:noFill/>
          <a:ln/>
        </p:spPr>
        <p:txBody>
          <a:bodyPr wrap="square" lIns="0" tIns="0" rIns="0" bIns="0" rtlCol="0" anchor="t"/>
          <a:lstStyle/>
          <a:p>
            <a:pPr algn="ctr" indent="0" marL="0">
              <a:buNone/>
            </a:pPr>
            <a:r>
              <a:rPr lang="en-US" sz="1400" dirty="0">
                <a:solidFill>
                  <a:schemeClr val="tx1"/>
                </a:solidFill>
              </a:rPr>
              <a:t>starts</a:t>
            </a:r>
            <a:endParaRPr lang="en-US" sz="1400" dirty="0"/>
          </a:p>
        </p:txBody>
      </p:sp>
      <p:sp>
        <p:nvSpPr>
          <p:cNvPr id="31" name="bar-275"/>
          <p:cNvSpPr txBox="1"/>
          <p:nvPr/>
        </p:nvSpPr>
        <p:spPr>
          <a:xfrm>
            <a:off x="8650224" y="2697480"/>
            <a:ext cx="475488" cy="310896"/>
          </a:xfrm>
          <a:prstGeom prst="roundRect">
            <a:avLst>
              <a:gd name="adj" fmla="val 20588"/>
            </a:avLst>
          </a:prstGeom>
          <a:solidFill>
            <a:schemeClr val="accent1"/>
          </a:solidFill>
          <a:ln>
            <a:solidFill>
              <a:schemeClr val="accent1"/>
            </a:solidFill>
          </a:ln>
        </p:spPr>
        <p:txBody>
          <a:bodyPr wrap="square" lIns="0" tIns="101600" rIns="101600" bIns="0" rtlCol="0" anchor="ctr"/>
          <a:lstStyle/>
          <a:p>
            <a:pPr algn="l" indent="0" marL="0">
              <a:buNone/>
            </a:pPr>
            <a:r>
              <a:rPr lang="en-US" sz="1200" b="1" dirty="0">
                <a:solidFill>
                  <a:schemeClr val="bg1"/>
                </a:solidFill>
              </a:rPr>
              <a:t>X</a:t>
            </a:r>
            <a:endParaRPr lang="en-US" sz="1200" dirty="0"/>
          </a:p>
        </p:txBody>
      </p:sp>
      <p:sp>
        <p:nvSpPr>
          <p:cNvPr id="32" name="bar-276"/>
          <p:cNvSpPr txBox="1"/>
          <p:nvPr/>
        </p:nvSpPr>
        <p:spPr>
          <a:xfrm>
            <a:off x="8650224" y="3200400"/>
            <a:ext cx="1188720" cy="310896"/>
          </a:xfrm>
          <a:prstGeom prst="roundRect">
            <a:avLst>
              <a:gd name="adj" fmla="val 20588"/>
            </a:avLst>
          </a:prstGeom>
          <a:solidFill>
            <a:schemeClr val="accent2"/>
          </a:solidFill>
          <a:ln>
            <a:solidFill>
              <a:schemeClr val="accent2"/>
            </a:solidFill>
          </a:ln>
        </p:spPr>
        <p:txBody>
          <a:bodyPr wrap="square" lIns="0" tIns="101600" rIns="101600" bIns="0" rtlCol="0" anchor="ctr"/>
          <a:lstStyle/>
          <a:p>
            <a:pPr algn="l" indent="0" marL="0">
              <a:buNone/>
            </a:pPr>
            <a:r>
              <a:rPr lang="en-US" sz="1200" b="1" dirty="0">
                <a:solidFill>
                  <a:schemeClr val="tx1"/>
                </a:solidFill>
              </a:rPr>
              <a:t>Y</a:t>
            </a:r>
            <a:endParaRPr lang="en-US" sz="1200" dirty="0"/>
          </a:p>
        </p:txBody>
      </p:sp>
      <p:sp>
        <p:nvSpPr>
          <p:cNvPr id="33" name="box-277"/>
          <p:cNvSpPr/>
          <p:nvPr/>
        </p:nvSpPr>
        <p:spPr>
          <a:xfrm>
            <a:off x="10094976" y="1417320"/>
            <a:ext cx="1481328" cy="2651760"/>
          </a:xfrm>
          <a:prstGeom prst="roundRect">
            <a:avLst>
              <a:gd name="adj" fmla="val 4938"/>
            </a:avLst>
          </a:prstGeom>
          <a:solidFill>
            <a:schemeClr val="bg2"/>
          </a:solidFill>
          <a:ln w="12700">
            <a:solidFill>
              <a:schemeClr val="bg2"/>
            </a:solidFill>
            <a:prstDash val="solid"/>
          </a:ln>
        </p:spPr>
      </p:sp>
      <p:sp>
        <p:nvSpPr>
          <p:cNvPr id="34" name="text-278"/>
          <p:cNvSpPr txBox="1"/>
          <p:nvPr/>
        </p:nvSpPr>
        <p:spPr>
          <a:xfrm>
            <a:off x="10094976" y="1527048"/>
            <a:ext cx="1481328" cy="548640"/>
          </a:xfrm>
          <a:prstGeom prst="rect">
            <a:avLst/>
          </a:prstGeom>
          <a:noFill/>
          <a:ln/>
        </p:spPr>
        <p:txBody>
          <a:bodyPr wrap="square" lIns="0" tIns="0" rIns="0" bIns="0" rtlCol="0" anchor="t"/>
          <a:lstStyle/>
          <a:p>
            <a:pPr algn="ctr" indent="0" marL="0">
              <a:buNone/>
            </a:pPr>
            <a:r>
              <a:rPr lang="en-US" sz="3000" b="1" dirty="0">
                <a:solidFill>
                  <a:schemeClr val="accent1"/>
                </a:solidFill>
                <a:latin typeface="Cambria" pitchFamily="34" charset="0"/>
                <a:ea typeface="Cambria" pitchFamily="34" charset="-122"/>
                <a:cs typeface="Cambria" pitchFamily="34" charset="-120"/>
              </a:rPr>
              <a:t>e</a:t>
            </a:r>
            <a:endParaRPr lang="en-US" sz="3000" dirty="0"/>
          </a:p>
        </p:txBody>
      </p:sp>
      <p:sp>
        <p:nvSpPr>
          <p:cNvPr id="35" name="text-279"/>
          <p:cNvSpPr txBox="1"/>
          <p:nvPr/>
        </p:nvSpPr>
        <p:spPr>
          <a:xfrm>
            <a:off x="10094976" y="2103120"/>
            <a:ext cx="1481328" cy="320040"/>
          </a:xfrm>
          <a:prstGeom prst="rect">
            <a:avLst/>
          </a:prstGeom>
          <a:noFill/>
          <a:ln/>
        </p:spPr>
        <p:txBody>
          <a:bodyPr wrap="square" lIns="0" tIns="0" rIns="0" bIns="0" rtlCol="0" anchor="t"/>
          <a:lstStyle/>
          <a:p>
            <a:pPr algn="ctr" indent="0" marL="0">
              <a:buNone/>
            </a:pPr>
            <a:r>
              <a:rPr lang="en-US" sz="1400" dirty="0">
                <a:solidFill>
                  <a:schemeClr val="tx1"/>
                </a:solidFill>
              </a:rPr>
              <a:t>equals</a:t>
            </a:r>
            <a:endParaRPr lang="en-US" sz="1400" dirty="0"/>
          </a:p>
        </p:txBody>
      </p:sp>
      <p:sp>
        <p:nvSpPr>
          <p:cNvPr id="36" name="bar-280"/>
          <p:cNvSpPr txBox="1"/>
          <p:nvPr/>
        </p:nvSpPr>
        <p:spPr>
          <a:xfrm>
            <a:off x="10360152" y="2697480"/>
            <a:ext cx="950976" cy="310896"/>
          </a:xfrm>
          <a:prstGeom prst="roundRect">
            <a:avLst>
              <a:gd name="adj" fmla="val 20588"/>
            </a:avLst>
          </a:prstGeom>
          <a:solidFill>
            <a:schemeClr val="accent1"/>
          </a:solidFill>
          <a:ln>
            <a:solidFill>
              <a:schemeClr val="accent1"/>
            </a:solidFill>
          </a:ln>
        </p:spPr>
        <p:txBody>
          <a:bodyPr wrap="square" lIns="0" tIns="101600" rIns="101600" bIns="0" rtlCol="0" anchor="ctr"/>
          <a:lstStyle/>
          <a:p>
            <a:pPr algn="l" indent="0" marL="0">
              <a:buNone/>
            </a:pPr>
            <a:r>
              <a:rPr lang="en-US" sz="1200" b="1" dirty="0">
                <a:solidFill>
                  <a:schemeClr val="bg1"/>
                </a:solidFill>
              </a:rPr>
              <a:t>X</a:t>
            </a:r>
            <a:endParaRPr lang="en-US" sz="1200" dirty="0"/>
          </a:p>
        </p:txBody>
      </p:sp>
      <p:sp>
        <p:nvSpPr>
          <p:cNvPr id="37" name="bar-281"/>
          <p:cNvSpPr txBox="1"/>
          <p:nvPr/>
        </p:nvSpPr>
        <p:spPr>
          <a:xfrm>
            <a:off x="10360152" y="3200400"/>
            <a:ext cx="950976" cy="310896"/>
          </a:xfrm>
          <a:prstGeom prst="roundRect">
            <a:avLst>
              <a:gd name="adj" fmla="val 20588"/>
            </a:avLst>
          </a:prstGeom>
          <a:solidFill>
            <a:schemeClr val="accent2"/>
          </a:solidFill>
          <a:ln>
            <a:solidFill>
              <a:schemeClr val="accent2"/>
            </a:solidFill>
          </a:ln>
        </p:spPr>
        <p:txBody>
          <a:bodyPr wrap="square" lIns="0" tIns="101600" rIns="101600" bIns="0" rtlCol="0" anchor="ctr"/>
          <a:lstStyle/>
          <a:p>
            <a:pPr algn="l" indent="0" marL="0">
              <a:buNone/>
            </a:pPr>
            <a:r>
              <a:rPr lang="en-US" sz="1200" b="1" dirty="0">
                <a:solidFill>
                  <a:schemeClr val="tx1"/>
                </a:solidFill>
              </a:rPr>
              <a:t>Y</a:t>
            </a:r>
            <a:endParaRPr lang="en-US" sz="1200" dirty="0"/>
          </a:p>
        </p:txBody>
      </p:sp>
      <p:sp>
        <p:nvSpPr>
          <p:cNvPr id="38" name="text-282"/>
          <p:cNvSpPr txBox="1"/>
          <p:nvPr/>
        </p:nvSpPr>
        <p:spPr>
          <a:xfrm>
            <a:off x="548640" y="4343400"/>
            <a:ext cx="11064240" cy="685800"/>
          </a:xfrm>
          <a:prstGeom prst="rect">
            <a:avLst/>
          </a:prstGeom>
          <a:noFill/>
          <a:ln/>
        </p:spPr>
        <p:txBody>
          <a:bodyPr wrap="square" lIns="0" tIns="0" rIns="0" bIns="0" rtlCol="0" anchor="t"/>
          <a:lstStyle/>
          <a:p>
            <a:pPr indent="0" marL="0">
              <a:buNone/>
            </a:pPr>
            <a:r>
              <a:rPr lang="en-US" sz="1600" dirty="0">
                <a:solidFill>
                  <a:schemeClr val="tx1"/>
                </a:solidFill>
              </a:rPr>
              <a:t>Swap X and Y and each becomes its converse, written in capitals: P, M, O, f, d, S. With equals, 13 relations in all; every pair of intervals stands in exactly one.</a:t>
            </a:r>
            <a:endParaRPr lang="en-US" sz="1600" dirty="0"/>
          </a:p>
        </p:txBody>
      </p:sp>
      <p:sp>
        <p:nvSpPr>
          <p:cNvPr id="39" name="box-283"/>
          <p:cNvSpPr/>
          <p:nvPr/>
        </p:nvSpPr>
        <p:spPr>
          <a:xfrm>
            <a:off x="548640" y="5166360"/>
            <a:ext cx="11064240" cy="960120"/>
          </a:xfrm>
          <a:prstGeom prst="roundRect">
            <a:avLst>
              <a:gd name="adj" fmla="val 7619"/>
            </a:avLst>
          </a:prstGeom>
          <a:solidFill>
            <a:schemeClr val="bg2"/>
          </a:solidFill>
          <a:ln w="12700">
            <a:solidFill>
              <a:schemeClr val="bg2"/>
            </a:solidFill>
            <a:prstDash val="solid"/>
          </a:ln>
        </p:spPr>
      </p:sp>
      <p:sp>
        <p:nvSpPr>
          <p:cNvPr id="40" name="text-284"/>
          <p:cNvSpPr txBox="1"/>
          <p:nvPr/>
        </p:nvSpPr>
        <p:spPr>
          <a:xfrm>
            <a:off x="777240" y="5303520"/>
            <a:ext cx="10607040" cy="731520"/>
          </a:xfrm>
          <a:prstGeom prst="rect">
            <a:avLst/>
          </a:prstGeom>
          <a:noFill/>
          <a:ln/>
        </p:spPr>
        <p:txBody>
          <a:bodyPr wrap="square" lIns="0" tIns="0" rIns="0" bIns="0" rtlCol="0" anchor="ctr"/>
          <a:lstStyle/>
          <a:p>
            <a:pPr indent="0" marL="0">
              <a:buNone/>
            </a:pPr>
            <a:r>
              <a:rPr lang="en-US" sz="1600" b="1" dirty="0">
                <a:solidFill>
                  <a:schemeClr val="tx1"/>
                </a:solidFill>
              </a:rPr>
              <a:t>A string of letters means one of them. </a:t>
            </a:r>
            <a:pPr indent="0" marL="0">
              <a:buNone/>
            </a:pPr>
            <a:r>
              <a:rPr lang="en-US" sz="1600" dirty="0">
                <a:solidFill>
                  <a:schemeClr val="tx1"/>
                </a:solidFill>
              </a:rPr>
              <a:t>dfOMP is "X during, finishes, overlapped by, met by or preceded by Y", which is simply: X starts after Y starts. That is the reading we give develops_from.</a:t>
            </a:r>
            <a:endParaRPr lang="en-US" sz="16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Every relation becomes ≤ and &lt; between endpoints</a:t>
            </a:r>
            <a:endParaRPr lang="en-US" sz="3000" dirty="0"/>
          </a:p>
        </p:txBody>
      </p:sp>
      <p:graphicFrame>
        <p:nvGraphicFramePr>
          <p:cNvPr id="12" name="table-285"/>
          <p:cNvGraphicFramePr>
            <a:graphicFrameLocks noGrp="1"/>
          </p:cNvGraphicFramePr>
          <p:nvPr>
            <p:extLst>
              <p:ext uri="{D42A27DB-BD31-4B8C-83A1-F6EECF244321}">
                <p14:modId xmlns:p14="http://schemas.microsoft.com/office/powerpoint/2010/main" val="1579011935"/>
              </p:ext>
            </p:extLst>
          </p:nvPr>
        </p:nvGraphicFramePr>
        <p:xfrm>
          <a:off x="548640" y="1371600"/>
          <a:ext cx="7863840" cy="914400"/>
        </p:xfrm>
        <a:graphic>
          <a:graphicData uri="http://schemas.openxmlformats.org/drawingml/2006/table">
            <a:tbl>
              <a:tblPr/>
              <a:tblGrid>
                <a:gridCol w="3200400"/>
                <a:gridCol w="3291840"/>
                <a:gridCol w="1371600"/>
              </a:tblGrid>
              <a:tr h="548640">
                <a:tc>
                  <a:txBody>
                    <a:bodyPr/>
                    <a:lstStyle/>
                    <a:p>
                      <a:pPr indent="0" marL="0">
                        <a:buNone/>
                      </a:pPr>
                      <a:r>
                        <a:rPr lang="en-US" sz="1500" b="1" dirty="0">
                          <a:solidFill>
                            <a:schemeClr val="bg1"/>
                          </a:solidFill>
                        </a:rPr>
                        <a:t>Relation</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As endpoints</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Allen, X to Y</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accent1"/>
                    </a:solidFill>
                  </a:tcPr>
                </a:tc>
              </a:tr>
              <a:tr h="548640">
                <a:tc>
                  <a:txBody>
                    <a:bodyPr/>
                    <a:lstStyle/>
                    <a:p>
                      <a:pPr indent="0" marL="0">
                        <a:buNone/>
                      </a:pPr>
                      <a:r>
                        <a:rPr lang="en-US" sz="1500" dirty="0">
                          <a:solidFill>
                            <a:schemeClr val="tx1"/>
                          </a:solidFill>
                        </a:rPr>
                        <a:t>X starts during stage S</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500" dirty="0">
                          <a:solidFill>
                            <a:schemeClr val="tx1"/>
                          </a:solidFill>
                          <a:latin typeface="Cambria" pitchFamily="34" charset="0"/>
                          <a:ea typeface="Cambria" pitchFamily="34" charset="-122"/>
                          <a:cs typeface="Cambria" pitchFamily="34" charset="-120"/>
                        </a:rPr>
                        <a:t>start(S) ≤ s(X) &lt; end(S)</a:t>
                      </a:r>
                      <a:endParaRPr lang="en-US" sz="1500" dirty="0">
                        <a:latin typeface="Cambria" charset="0"/>
                        <a:ea typeface="Cambria" charset="0"/>
                        <a:cs typeface="Cambria" charset="0"/>
                      </a:endParaRPr>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500" b="1" dirty="0">
                          <a:solidFill>
                            <a:schemeClr val="accent1"/>
                          </a:solidFill>
                        </a:rPr>
                        <a:t>–</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548640">
                <a:tc>
                  <a:txBody>
                    <a:bodyPr/>
                    <a:lstStyle/>
                    <a:p>
                      <a:pPr indent="0" marL="0">
                        <a:buNone/>
                      </a:pPr>
                      <a:r>
                        <a:rPr lang="en-US" sz="1500" dirty="0">
                          <a:solidFill>
                            <a:schemeClr val="tx1"/>
                          </a:solidFill>
                        </a:rPr>
                        <a:t>X ends during stage S</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500" dirty="0">
                          <a:solidFill>
                            <a:schemeClr val="tx1"/>
                          </a:solidFill>
                          <a:latin typeface="Cambria" pitchFamily="34" charset="0"/>
                          <a:ea typeface="Cambria" pitchFamily="34" charset="-122"/>
                          <a:cs typeface="Cambria" pitchFamily="34" charset="-120"/>
                        </a:rPr>
                        <a:t>start(S) ≤ e(X) &lt; end(S)</a:t>
                      </a:r>
                      <a:endParaRPr lang="en-US" sz="1500" dirty="0">
                        <a:latin typeface="Cambria" charset="0"/>
                        <a:ea typeface="Cambria" charset="0"/>
                        <a:cs typeface="Cambria" charset="0"/>
                      </a:endParaRPr>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500" b="1" dirty="0">
                          <a:solidFill>
                            <a:schemeClr val="accent1"/>
                          </a:solidFill>
                        </a:rPr>
                        <a:t>–</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548640">
                <a:tc>
                  <a:txBody>
                    <a:bodyPr/>
                    <a:lstStyle/>
                    <a:p>
                      <a:pPr indent="0" marL="0">
                        <a:buNone/>
                      </a:pPr>
                      <a:r>
                        <a:rPr lang="en-US" sz="1500" dirty="0">
                          <a:solidFill>
                            <a:schemeClr val="tx1"/>
                          </a:solidFill>
                        </a:rPr>
                        <a:t>X develops_from Y</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500" dirty="0">
                          <a:solidFill>
                            <a:schemeClr val="tx1"/>
                          </a:solidFill>
                          <a:latin typeface="Cambria" pitchFamily="34" charset="0"/>
                          <a:ea typeface="Cambria" pitchFamily="34" charset="-122"/>
                          <a:cs typeface="Cambria" pitchFamily="34" charset="-120"/>
                        </a:rPr>
                        <a:t>s(Y) &lt; s(X)</a:t>
                      </a:r>
                      <a:endParaRPr lang="en-US" sz="1500" dirty="0">
                        <a:latin typeface="Cambria" charset="0"/>
                        <a:ea typeface="Cambria" charset="0"/>
                        <a:cs typeface="Cambria" charset="0"/>
                      </a:endParaRPr>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500" b="1" dirty="0">
                          <a:solidFill>
                            <a:schemeClr val="accent1"/>
                          </a:solidFill>
                        </a:rPr>
                        <a:t>dfOMP</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548640">
                <a:tc>
                  <a:txBody>
                    <a:bodyPr/>
                    <a:lstStyle/>
                    <a:p>
                      <a:pPr indent="0" marL="0">
                        <a:buNone/>
                      </a:pPr>
                      <a:r>
                        <a:rPr lang="en-US" sz="1500" dirty="0">
                          <a:solidFill>
                            <a:schemeClr val="tx1"/>
                          </a:solidFill>
                        </a:rPr>
                        <a:t>X directly_develops_from Y</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500" dirty="0">
                          <a:solidFill>
                            <a:schemeClr val="tx1"/>
                          </a:solidFill>
                          <a:latin typeface="Cambria" pitchFamily="34" charset="0"/>
                          <a:ea typeface="Cambria" pitchFamily="34" charset="-122"/>
                          <a:cs typeface="Cambria" pitchFamily="34" charset="-120"/>
                        </a:rPr>
                        <a:t>s(Y) &lt; s(X) ≤ e(Y)</a:t>
                      </a:r>
                      <a:endParaRPr lang="en-US" sz="1500" dirty="0">
                        <a:latin typeface="Cambria" charset="0"/>
                        <a:ea typeface="Cambria" charset="0"/>
                        <a:cs typeface="Cambria" charset="0"/>
                      </a:endParaRPr>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500" b="1" dirty="0">
                          <a:solidFill>
                            <a:schemeClr val="accent1"/>
                          </a:solidFill>
                        </a:rPr>
                        <a:t>dfOM</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548640">
                <a:tc>
                  <a:txBody>
                    <a:bodyPr/>
                    <a:lstStyle/>
                    <a:p>
                      <a:pPr indent="0" marL="0">
                        <a:buNone/>
                      </a:pPr>
                      <a:r>
                        <a:rPr lang="en-US" sz="1500" dirty="0">
                          <a:solidFill>
                            <a:schemeClr val="tx1"/>
                          </a:solidFill>
                        </a:rPr>
                        <a:t>X transformation_of Y</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500" dirty="0">
                          <a:solidFill>
                            <a:schemeClr val="tx1"/>
                          </a:solidFill>
                          <a:latin typeface="Cambria" pitchFamily="34" charset="0"/>
                          <a:ea typeface="Cambria" pitchFamily="34" charset="-122"/>
                          <a:cs typeface="Cambria" pitchFamily="34" charset="-120"/>
                        </a:rPr>
                        <a:t>e(Y) ≤ s(X)</a:t>
                      </a:r>
                      <a:endParaRPr lang="en-US" sz="1500" dirty="0">
                        <a:latin typeface="Cambria" charset="0"/>
                        <a:ea typeface="Cambria" charset="0"/>
                        <a:cs typeface="Cambria" charset="0"/>
                      </a:endParaRPr>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500" b="1" dirty="0">
                          <a:solidFill>
                            <a:schemeClr val="accent1"/>
                          </a:solidFill>
                        </a:rPr>
                        <a:t>MP</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548640">
                <a:tc>
                  <a:txBody>
                    <a:bodyPr/>
                    <a:lstStyle/>
                    <a:p>
                      <a:pPr indent="0" marL="0">
                        <a:buNone/>
                      </a:pPr>
                      <a:r>
                        <a:rPr lang="en-US" sz="1500" dirty="0">
                          <a:solidFill>
                            <a:schemeClr val="tx1"/>
                          </a:solidFill>
                        </a:rPr>
                        <a:t>X immediate_transformation_of Y</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500" dirty="0">
                          <a:solidFill>
                            <a:schemeClr val="tx1"/>
                          </a:solidFill>
                          <a:latin typeface="Cambria" pitchFamily="34" charset="0"/>
                          <a:ea typeface="Cambria" pitchFamily="34" charset="-122"/>
                          <a:cs typeface="Cambria" pitchFamily="34" charset="-120"/>
                        </a:rPr>
                        <a:t>e(Y) = s(X)</a:t>
                      </a:r>
                      <a:endParaRPr lang="en-US" sz="1500" dirty="0">
                        <a:latin typeface="Cambria" charset="0"/>
                        <a:ea typeface="Cambria" charset="0"/>
                        <a:cs typeface="Cambria" charset="0"/>
                      </a:endParaRPr>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500" b="1" dirty="0">
                          <a:solidFill>
                            <a:schemeClr val="accent1"/>
                          </a:solidFill>
                        </a:rPr>
                        <a:t>M</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548640">
                <a:tc>
                  <a:txBody>
                    <a:bodyPr/>
                    <a:lstStyle/>
                    <a:p>
                      <a:pPr indent="0" marL="0">
                        <a:buNone/>
                      </a:pPr>
                      <a:r>
                        <a:rPr lang="en-US" sz="1500" dirty="0">
                          <a:solidFill>
                            <a:schemeClr val="tx1"/>
                          </a:solidFill>
                        </a:rPr>
                        <a:t>X part_of Y (containment reading)</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500" dirty="0">
                          <a:solidFill>
                            <a:schemeClr val="tx1"/>
                          </a:solidFill>
                          <a:latin typeface="Cambria" pitchFamily="34" charset="0"/>
                          <a:ea typeface="Cambria" pitchFamily="34" charset="-122"/>
                          <a:cs typeface="Cambria" pitchFamily="34" charset="-120"/>
                        </a:rPr>
                        <a:t>s(Y) ≤ s(X), e(X) ≤ e(Y)</a:t>
                      </a:r>
                      <a:endParaRPr lang="en-US" sz="1500" dirty="0">
                        <a:latin typeface="Cambria" charset="0"/>
                        <a:ea typeface="Cambria" charset="0"/>
                        <a:cs typeface="Cambria" charset="0"/>
                      </a:endParaRPr>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500" b="1" dirty="0">
                          <a:solidFill>
                            <a:schemeClr val="accent1"/>
                          </a:solidFill>
                        </a:rPr>
                        <a:t>sdfe</a:t>
                      </a:r>
                      <a:endParaRPr lang="en-US" sz="1500" dirty="0"/>
                    </a:p>
                  </a:txBody>
                  <a:tcPr marL="91440" marR="91440" marT="36576" marB="36576"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bl>
          </a:graphicData>
        </a:graphic>
      </p:graphicFrame>
      <p:sp>
        <p:nvSpPr>
          <p:cNvPr id="4" name="box-286"/>
          <p:cNvSpPr/>
          <p:nvPr/>
        </p:nvSpPr>
        <p:spPr>
          <a:xfrm>
            <a:off x="8778240" y="1371600"/>
            <a:ext cx="2880360" cy="4389120"/>
          </a:xfrm>
          <a:prstGeom prst="roundRect">
            <a:avLst>
              <a:gd name="adj" fmla="val 2540"/>
            </a:avLst>
          </a:prstGeom>
          <a:solidFill>
            <a:schemeClr val="bg2"/>
          </a:solidFill>
          <a:ln w="12700">
            <a:solidFill>
              <a:schemeClr val="bg2"/>
            </a:solidFill>
            <a:prstDash val="solid"/>
          </a:ln>
        </p:spPr>
      </p:sp>
      <p:sp>
        <p:nvSpPr>
          <p:cNvPr id="5" name="text-287"/>
          <p:cNvSpPr txBox="1"/>
          <p:nvPr/>
        </p:nvSpPr>
        <p:spPr>
          <a:xfrm>
            <a:off x="9006840" y="1554480"/>
            <a:ext cx="2468880" cy="365760"/>
          </a:xfrm>
          <a:prstGeom prst="rect">
            <a:avLst/>
          </a:prstGeom>
          <a:noFill/>
          <a:ln/>
        </p:spPr>
        <p:txBody>
          <a:bodyPr wrap="square" lIns="0" tIns="0" rIns="0" bIns="0" rtlCol="0" anchor="t"/>
          <a:lstStyle/>
          <a:p>
            <a:pPr indent="0" marL="0">
              <a:buNone/>
            </a:pPr>
            <a:r>
              <a:rPr lang="en-US" sz="1800" b="1" dirty="0">
                <a:solidFill>
                  <a:schemeClr val="accent1"/>
                </a:solidFill>
              </a:rPr>
              <a:t>Why endpoints?</a:t>
            </a:r>
            <a:endParaRPr lang="en-US" sz="1800" dirty="0"/>
          </a:p>
        </p:txBody>
      </p:sp>
      <p:sp>
        <p:nvSpPr>
          <p:cNvPr id="6" name="text-288"/>
          <p:cNvSpPr txBox="1"/>
          <p:nvPr/>
        </p:nvSpPr>
        <p:spPr>
          <a:xfrm>
            <a:off x="9006840" y="2011680"/>
            <a:ext cx="2468880" cy="822960"/>
          </a:xfrm>
          <a:prstGeom prst="rect">
            <a:avLst/>
          </a:prstGeom>
          <a:noFill/>
          <a:ln/>
        </p:spPr>
        <p:txBody>
          <a:bodyPr wrap="square" lIns="0" tIns="0" rIns="0" bIns="0" rtlCol="0" anchor="t"/>
          <a:lstStyle/>
          <a:p>
            <a:pPr indent="0" marL="0">
              <a:buNone/>
            </a:pPr>
            <a:r>
              <a:rPr lang="en-US" sz="1400" dirty="0">
                <a:solidFill>
                  <a:schemeClr val="tx1"/>
                </a:solidFill>
              </a:rPr>
              <a:t>Composing Allen relations produces sets of possibilities.</a:t>
            </a:r>
            <a:endParaRPr lang="en-US" sz="1400" dirty="0"/>
          </a:p>
        </p:txBody>
      </p:sp>
      <p:sp>
        <p:nvSpPr>
          <p:cNvPr id="7" name="text-289"/>
          <p:cNvSpPr txBox="1"/>
          <p:nvPr/>
        </p:nvSpPr>
        <p:spPr>
          <a:xfrm>
            <a:off x="9006840" y="2834640"/>
            <a:ext cx="2468880" cy="1097280"/>
          </a:xfrm>
          <a:prstGeom prst="rect">
            <a:avLst/>
          </a:prstGeom>
          <a:noFill/>
          <a:ln/>
        </p:spPr>
        <p:txBody>
          <a:bodyPr wrap="square" lIns="0" tIns="0" rIns="0" bIns="0" rtlCol="0" anchor="t"/>
          <a:lstStyle/>
          <a:p>
            <a:pPr indent="0" marL="0">
              <a:buNone/>
            </a:pPr>
            <a:r>
              <a:rPr lang="en-US" sz="1400" dirty="0">
                <a:solidFill>
                  <a:schemeClr val="tx1"/>
                </a:solidFill>
              </a:rPr>
              <a:t>Written as ≤ and &lt; between endpoints, the same knowledge is decided exactly by transitive closure.</a:t>
            </a:r>
            <a:endParaRPr lang="en-US" sz="1400" dirty="0"/>
          </a:p>
        </p:txBody>
      </p:sp>
      <p:sp>
        <p:nvSpPr>
          <p:cNvPr id="8" name="text-290"/>
          <p:cNvSpPr txBox="1"/>
          <p:nvPr/>
        </p:nvSpPr>
        <p:spPr>
          <a:xfrm>
            <a:off x="9006840" y="3977640"/>
            <a:ext cx="2468880" cy="731520"/>
          </a:xfrm>
          <a:prstGeom prst="rect">
            <a:avLst/>
          </a:prstGeom>
          <a:noFill/>
          <a:ln/>
        </p:spPr>
        <p:txBody>
          <a:bodyPr wrap="square" lIns="0" tIns="0" rIns="0" bIns="0" rtlCol="0" anchor="t"/>
          <a:lstStyle/>
          <a:p>
            <a:pPr indent="0" marL="0">
              <a:buNone/>
            </a:pPr>
            <a:r>
              <a:rPr lang="en-US" sz="1400" b="1" dirty="0">
                <a:solidFill>
                  <a:schemeClr val="tx1"/>
                </a:solidFill>
              </a:rPr>
              <a:t>Polynomial, with a derivation for every conclusion.</a:t>
            </a:r>
            <a:endParaRPr lang="en-US" sz="1400" dirty="0"/>
          </a:p>
        </p:txBody>
      </p:sp>
      <p:sp>
        <p:nvSpPr>
          <p:cNvPr id="9" name="text-291"/>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400" i="1" dirty="0">
                <a:solidFill>
                  <a:schemeClr val="accent6"/>
                </a:solidFill>
              </a:rPr>
              <a:t>Same-stage claims stay unordered: two structures that start in CS11 have no order unless something else gives one.</a:t>
            </a:r>
            <a:endParaRPr lang="en-US" sz="14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OBO timing relations already have Allen readings</a:t>
            </a:r>
            <a:endParaRPr lang="en-US" sz="3000" dirty="0"/>
          </a:p>
        </p:txBody>
      </p:sp>
      <p:sp>
        <p:nvSpPr>
          <p:cNvPr id="3" name="text-292"/>
          <p:cNvSpPr txBox="1"/>
          <p:nvPr/>
        </p:nvSpPr>
        <p:spPr>
          <a:xfrm>
            <a:off x="548640" y="1325880"/>
            <a:ext cx="7223760" cy="365760"/>
          </a:xfrm>
          <a:prstGeom prst="rect">
            <a:avLst/>
          </a:prstGeom>
          <a:noFill/>
          <a:ln/>
        </p:spPr>
        <p:txBody>
          <a:bodyPr wrap="square" lIns="0" tIns="0" rIns="0" bIns="0" rtlCol="0" anchor="t"/>
          <a:lstStyle/>
          <a:p>
            <a:pPr indent="0" marL="0">
              <a:buNone/>
            </a:pPr>
            <a:r>
              <a:rPr lang="en-US" sz="1800" b="1" dirty="0">
                <a:solidFill>
                  <a:schemeClr val="accent1"/>
                </a:solidFill>
              </a:rPr>
              <a:t>Between stages or processes</a:t>
            </a:r>
            <a:endParaRPr lang="en-US" sz="1800" dirty="0"/>
          </a:p>
        </p:txBody>
      </p:sp>
      <p:sp>
        <p:nvSpPr>
          <p:cNvPr id="4" name="box-293"/>
          <p:cNvSpPr/>
          <p:nvPr/>
        </p:nvSpPr>
        <p:spPr>
          <a:xfrm>
            <a:off x="548640" y="1783080"/>
            <a:ext cx="7223760" cy="731520"/>
          </a:xfrm>
          <a:prstGeom prst="roundRect">
            <a:avLst>
              <a:gd name="adj" fmla="val 10000"/>
            </a:avLst>
          </a:prstGeom>
          <a:solidFill>
            <a:schemeClr val="bg2"/>
          </a:solidFill>
          <a:ln w="12700">
            <a:solidFill>
              <a:schemeClr val="bg2"/>
            </a:solidFill>
            <a:prstDash val="solid"/>
          </a:ln>
        </p:spPr>
      </p:sp>
      <p:sp>
        <p:nvSpPr>
          <p:cNvPr id="5" name="text-294"/>
          <p:cNvSpPr txBox="1"/>
          <p:nvPr/>
        </p:nvSpPr>
        <p:spPr>
          <a:xfrm>
            <a:off x="731520" y="1874520"/>
            <a:ext cx="2926080" cy="320040"/>
          </a:xfrm>
          <a:prstGeom prst="rect">
            <a:avLst/>
          </a:prstGeom>
          <a:noFill/>
          <a:ln/>
        </p:spPr>
        <p:txBody>
          <a:bodyPr wrap="square" lIns="0" tIns="0" rIns="0" bIns="0" rtlCol="0" anchor="t"/>
          <a:lstStyle/>
          <a:p>
            <a:pPr indent="0" marL="0">
              <a:buNone/>
            </a:pPr>
            <a:r>
              <a:rPr lang="en-US" sz="1500" b="1" dirty="0">
                <a:solidFill>
                  <a:schemeClr val="tx1"/>
                </a:solidFill>
              </a:rPr>
              <a:t>X preceded_by Y</a:t>
            </a:r>
            <a:endParaRPr lang="en-US" sz="1500" dirty="0"/>
          </a:p>
        </p:txBody>
      </p:sp>
      <p:sp>
        <p:nvSpPr>
          <p:cNvPr id="6" name="text-295"/>
          <p:cNvSpPr txBox="1"/>
          <p:nvPr/>
        </p:nvSpPr>
        <p:spPr>
          <a:xfrm>
            <a:off x="731520" y="2194560"/>
            <a:ext cx="3108960" cy="274320"/>
          </a:xfrm>
          <a:prstGeom prst="rect">
            <a:avLst/>
          </a:prstGeom>
          <a:noFill/>
          <a:ln/>
        </p:spPr>
        <p:txBody>
          <a:bodyPr wrap="square" lIns="0" tIns="0" rIns="0" bIns="0" rtlCol="0" anchor="t"/>
          <a:lstStyle/>
          <a:p>
            <a:pPr indent="0" marL="0">
              <a:buNone/>
            </a:pPr>
            <a:r>
              <a:rPr lang="en-US" sz="1200" dirty="0">
                <a:solidFill>
                  <a:schemeClr val="accent6"/>
                </a:solidFill>
                <a:latin typeface="Cambria" pitchFamily="34" charset="0"/>
                <a:ea typeface="Cambria" pitchFamily="34" charset="-122"/>
                <a:cs typeface="Cambria" pitchFamily="34" charset="-120"/>
              </a:rPr>
              <a:t>BFO:0000062   end(Y) ≤ start(X)</a:t>
            </a:r>
            <a:endParaRPr lang="en-US" sz="1200" dirty="0"/>
          </a:p>
        </p:txBody>
      </p:sp>
      <p:sp>
        <p:nvSpPr>
          <p:cNvPr id="7" name="bar-296"/>
          <p:cNvSpPr txBox="1"/>
          <p:nvPr/>
        </p:nvSpPr>
        <p:spPr>
          <a:xfrm>
            <a:off x="4023360" y="1984248"/>
            <a:ext cx="1280160" cy="310896"/>
          </a:xfrm>
          <a:prstGeom prst="roundRect">
            <a:avLst>
              <a:gd name="adj" fmla="val 20588"/>
            </a:avLst>
          </a:prstGeom>
          <a:solidFill>
            <a:schemeClr val="accent2"/>
          </a:solidFill>
          <a:ln>
            <a:solidFill>
              <a:schemeClr val="accent2"/>
            </a:solidFill>
          </a:ln>
        </p:spPr>
        <p:txBody>
          <a:bodyPr wrap="square" lIns="0" tIns="101600" rIns="101600" bIns="0" rtlCol="0" anchor="ctr"/>
          <a:lstStyle/>
          <a:p>
            <a:pPr algn="l" indent="0" marL="0">
              <a:buNone/>
            </a:pPr>
            <a:r>
              <a:rPr lang="en-US" sz="1200" dirty="0">
                <a:solidFill>
                  <a:schemeClr val="tx1"/>
                </a:solidFill>
              </a:rPr>
              <a:t>Y</a:t>
            </a:r>
            <a:endParaRPr lang="en-US" sz="1200" dirty="0"/>
          </a:p>
        </p:txBody>
      </p:sp>
      <p:sp>
        <p:nvSpPr>
          <p:cNvPr id="8" name="bar-297"/>
          <p:cNvSpPr txBox="1"/>
          <p:nvPr/>
        </p:nvSpPr>
        <p:spPr>
          <a:xfrm>
            <a:off x="5577840" y="1984248"/>
            <a:ext cx="1280160" cy="310896"/>
          </a:xfrm>
          <a:prstGeom prst="roundRect">
            <a:avLst>
              <a:gd name="adj" fmla="val 20588"/>
            </a:avLst>
          </a:prstGeom>
          <a:solidFill>
            <a:schemeClr val="accent1"/>
          </a:solidFill>
          <a:ln>
            <a:solidFill>
              <a:schemeClr val="accent1"/>
            </a:solidFill>
          </a:ln>
        </p:spPr>
        <p:txBody>
          <a:bodyPr wrap="square" lIns="0" tIns="101600" rIns="101600" bIns="0" rtlCol="0" anchor="ctr"/>
          <a:lstStyle/>
          <a:p>
            <a:pPr algn="l" indent="0" marL="0">
              <a:buNone/>
            </a:pPr>
            <a:r>
              <a:rPr lang="en-US" sz="1200" dirty="0">
                <a:solidFill>
                  <a:schemeClr val="bg1"/>
                </a:solidFill>
              </a:rPr>
              <a:t>X</a:t>
            </a:r>
            <a:endParaRPr lang="en-US" sz="1200" dirty="0"/>
          </a:p>
        </p:txBody>
      </p:sp>
      <p:sp>
        <p:nvSpPr>
          <p:cNvPr id="9" name="text-298"/>
          <p:cNvSpPr txBox="1"/>
          <p:nvPr/>
        </p:nvSpPr>
        <p:spPr>
          <a:xfrm>
            <a:off x="6903720" y="1947672"/>
            <a:ext cx="731520" cy="384048"/>
          </a:xfrm>
          <a:prstGeom prst="rect">
            <a:avLst/>
          </a:prstGeom>
          <a:noFill/>
          <a:ln/>
        </p:spPr>
        <p:txBody>
          <a:bodyPr wrap="square" lIns="0" tIns="0" rIns="0" bIns="0" rtlCol="0" anchor="t"/>
          <a:lstStyle/>
          <a:p>
            <a:pPr algn="ctr" indent="0" marL="0">
              <a:buNone/>
            </a:pPr>
            <a:r>
              <a:rPr lang="en-US" sz="1800" b="1" dirty="0">
                <a:solidFill>
                  <a:schemeClr val="accent1"/>
                </a:solidFill>
                <a:latin typeface="Cambria" pitchFamily="34" charset="0"/>
                <a:ea typeface="Cambria" pitchFamily="34" charset="-122"/>
                <a:cs typeface="Cambria" pitchFamily="34" charset="-120"/>
              </a:rPr>
              <a:t>MP</a:t>
            </a:r>
            <a:endParaRPr lang="en-US" sz="1800" dirty="0"/>
          </a:p>
        </p:txBody>
      </p:sp>
      <p:sp>
        <p:nvSpPr>
          <p:cNvPr id="10" name="box-299"/>
          <p:cNvSpPr/>
          <p:nvPr/>
        </p:nvSpPr>
        <p:spPr>
          <a:xfrm>
            <a:off x="548640" y="2651760"/>
            <a:ext cx="7223760" cy="731520"/>
          </a:xfrm>
          <a:prstGeom prst="roundRect">
            <a:avLst>
              <a:gd name="adj" fmla="val 10000"/>
            </a:avLst>
          </a:prstGeom>
          <a:solidFill>
            <a:schemeClr val="bg2"/>
          </a:solidFill>
          <a:ln w="12700">
            <a:solidFill>
              <a:schemeClr val="bg2"/>
            </a:solidFill>
            <a:prstDash val="solid"/>
          </a:ln>
        </p:spPr>
      </p:sp>
      <p:sp>
        <p:nvSpPr>
          <p:cNvPr id="11" name="text-300"/>
          <p:cNvSpPr txBox="1"/>
          <p:nvPr/>
        </p:nvSpPr>
        <p:spPr>
          <a:xfrm>
            <a:off x="731520" y="2743200"/>
            <a:ext cx="2926080" cy="320040"/>
          </a:xfrm>
          <a:prstGeom prst="rect">
            <a:avLst/>
          </a:prstGeom>
          <a:noFill/>
          <a:ln/>
        </p:spPr>
        <p:txBody>
          <a:bodyPr wrap="square" lIns="0" tIns="0" rIns="0" bIns="0" rtlCol="0" anchor="t"/>
          <a:lstStyle/>
          <a:p>
            <a:pPr indent="0" marL="0">
              <a:buNone/>
            </a:pPr>
            <a:r>
              <a:rPr lang="en-US" sz="1500" b="1" dirty="0">
                <a:solidFill>
                  <a:schemeClr val="tx1"/>
                </a:solidFill>
              </a:rPr>
              <a:t>X immediately_preceded_by Y</a:t>
            </a:r>
            <a:endParaRPr lang="en-US" sz="1500" dirty="0"/>
          </a:p>
        </p:txBody>
      </p:sp>
      <p:sp>
        <p:nvSpPr>
          <p:cNvPr id="12" name="text-301"/>
          <p:cNvSpPr txBox="1"/>
          <p:nvPr/>
        </p:nvSpPr>
        <p:spPr>
          <a:xfrm>
            <a:off x="731520" y="3063240"/>
            <a:ext cx="3108960" cy="274320"/>
          </a:xfrm>
          <a:prstGeom prst="rect">
            <a:avLst/>
          </a:prstGeom>
          <a:noFill/>
          <a:ln/>
        </p:spPr>
        <p:txBody>
          <a:bodyPr wrap="square" lIns="0" tIns="0" rIns="0" bIns="0" rtlCol="0" anchor="t"/>
          <a:lstStyle/>
          <a:p>
            <a:pPr indent="0" marL="0">
              <a:buNone/>
            </a:pPr>
            <a:r>
              <a:rPr lang="en-US" sz="1200" dirty="0">
                <a:solidFill>
                  <a:schemeClr val="accent6"/>
                </a:solidFill>
                <a:latin typeface="Cambria" pitchFamily="34" charset="0"/>
                <a:ea typeface="Cambria" pitchFamily="34" charset="-122"/>
                <a:cs typeface="Cambria" pitchFamily="34" charset="-120"/>
              </a:rPr>
              <a:t>RO:0002087   end(Y) = start(X)</a:t>
            </a:r>
            <a:endParaRPr lang="en-US" sz="1200" dirty="0"/>
          </a:p>
        </p:txBody>
      </p:sp>
      <p:sp>
        <p:nvSpPr>
          <p:cNvPr id="13" name="bar-302"/>
          <p:cNvSpPr txBox="1"/>
          <p:nvPr/>
        </p:nvSpPr>
        <p:spPr>
          <a:xfrm>
            <a:off x="4023360" y="2852928"/>
            <a:ext cx="1280160" cy="310896"/>
          </a:xfrm>
          <a:prstGeom prst="roundRect">
            <a:avLst>
              <a:gd name="adj" fmla="val 20588"/>
            </a:avLst>
          </a:prstGeom>
          <a:solidFill>
            <a:schemeClr val="accent2"/>
          </a:solidFill>
          <a:ln>
            <a:solidFill>
              <a:schemeClr val="accent2"/>
            </a:solidFill>
          </a:ln>
        </p:spPr>
        <p:txBody>
          <a:bodyPr wrap="square" lIns="0" tIns="101600" rIns="101600" bIns="0" rtlCol="0" anchor="ctr"/>
          <a:lstStyle/>
          <a:p>
            <a:pPr algn="l" indent="0" marL="0">
              <a:buNone/>
            </a:pPr>
            <a:r>
              <a:rPr lang="en-US" sz="1200" dirty="0">
                <a:solidFill>
                  <a:schemeClr val="tx1"/>
                </a:solidFill>
              </a:rPr>
              <a:t>Y</a:t>
            </a:r>
            <a:endParaRPr lang="en-US" sz="1200" dirty="0"/>
          </a:p>
        </p:txBody>
      </p:sp>
      <p:sp>
        <p:nvSpPr>
          <p:cNvPr id="14" name="bar-303"/>
          <p:cNvSpPr txBox="1"/>
          <p:nvPr/>
        </p:nvSpPr>
        <p:spPr>
          <a:xfrm>
            <a:off x="5303520" y="2852928"/>
            <a:ext cx="1280160" cy="310896"/>
          </a:xfrm>
          <a:prstGeom prst="roundRect">
            <a:avLst>
              <a:gd name="adj" fmla="val 20588"/>
            </a:avLst>
          </a:prstGeom>
          <a:solidFill>
            <a:schemeClr val="accent1"/>
          </a:solidFill>
          <a:ln>
            <a:solidFill>
              <a:schemeClr val="accent1"/>
            </a:solidFill>
          </a:ln>
        </p:spPr>
        <p:txBody>
          <a:bodyPr wrap="square" lIns="0" tIns="101600" rIns="101600" bIns="0" rtlCol="0" anchor="ctr"/>
          <a:lstStyle/>
          <a:p>
            <a:pPr algn="l" indent="0" marL="0">
              <a:buNone/>
            </a:pPr>
            <a:r>
              <a:rPr lang="en-US" sz="1200" dirty="0">
                <a:solidFill>
                  <a:schemeClr val="bg1"/>
                </a:solidFill>
              </a:rPr>
              <a:t>X</a:t>
            </a:r>
            <a:endParaRPr lang="en-US" sz="1200" dirty="0"/>
          </a:p>
        </p:txBody>
      </p:sp>
      <p:sp>
        <p:nvSpPr>
          <p:cNvPr id="15" name="text-304"/>
          <p:cNvSpPr txBox="1"/>
          <p:nvPr/>
        </p:nvSpPr>
        <p:spPr>
          <a:xfrm>
            <a:off x="6903720" y="2816352"/>
            <a:ext cx="731520" cy="384048"/>
          </a:xfrm>
          <a:prstGeom prst="rect">
            <a:avLst/>
          </a:prstGeom>
          <a:noFill/>
          <a:ln/>
        </p:spPr>
        <p:txBody>
          <a:bodyPr wrap="square" lIns="0" tIns="0" rIns="0" bIns="0" rtlCol="0" anchor="t"/>
          <a:lstStyle/>
          <a:p>
            <a:pPr algn="ctr" indent="0" marL="0">
              <a:buNone/>
            </a:pPr>
            <a:r>
              <a:rPr lang="en-US" sz="1800" b="1" dirty="0">
                <a:solidFill>
                  <a:schemeClr val="accent1"/>
                </a:solidFill>
                <a:latin typeface="Cambria" pitchFamily="34" charset="0"/>
                <a:ea typeface="Cambria" pitchFamily="34" charset="-122"/>
                <a:cs typeface="Cambria" pitchFamily="34" charset="-120"/>
              </a:rPr>
              <a:t>M</a:t>
            </a:r>
            <a:endParaRPr lang="en-US" sz="1800" dirty="0"/>
          </a:p>
        </p:txBody>
      </p:sp>
      <p:sp>
        <p:nvSpPr>
          <p:cNvPr id="16" name="text-305"/>
          <p:cNvSpPr txBox="1"/>
          <p:nvPr/>
        </p:nvSpPr>
        <p:spPr>
          <a:xfrm>
            <a:off x="548640" y="3611880"/>
            <a:ext cx="7223760" cy="365760"/>
          </a:xfrm>
          <a:prstGeom prst="rect">
            <a:avLst/>
          </a:prstGeom>
          <a:noFill/>
          <a:ln/>
        </p:spPr>
        <p:txBody>
          <a:bodyPr wrap="square" lIns="0" tIns="0" rIns="0" bIns="0" rtlCol="0" anchor="t"/>
          <a:lstStyle/>
          <a:p>
            <a:pPr indent="0" marL="0">
              <a:buNone/>
            </a:pPr>
            <a:r>
              <a:rPr lang="en-US" sz="1800" b="1" dirty="0">
                <a:solidFill>
                  <a:schemeClr val="accent1"/>
                </a:solidFill>
              </a:rPr>
              <a:t>Structure to stage: when existence starts and ends</a:t>
            </a:r>
            <a:endParaRPr lang="en-US" sz="1800" dirty="0"/>
          </a:p>
        </p:txBody>
      </p:sp>
      <p:sp>
        <p:nvSpPr>
          <p:cNvPr id="17" name="stage-306"/>
          <p:cNvSpPr txBox="1"/>
          <p:nvPr/>
        </p:nvSpPr>
        <p:spPr>
          <a:xfrm>
            <a:off x="4114800" y="4069080"/>
            <a:ext cx="731520" cy="347472"/>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CS10</a:t>
            </a:r>
            <a:endParaRPr lang="en-US" sz="1200" dirty="0"/>
          </a:p>
        </p:txBody>
      </p:sp>
      <p:sp>
        <p:nvSpPr>
          <p:cNvPr id="18" name="stage-307"/>
          <p:cNvSpPr txBox="1"/>
          <p:nvPr/>
        </p:nvSpPr>
        <p:spPr>
          <a:xfrm>
            <a:off x="4846320" y="4069080"/>
            <a:ext cx="731520" cy="347472"/>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CS11</a:t>
            </a:r>
            <a:endParaRPr lang="en-US" sz="1200" dirty="0"/>
          </a:p>
        </p:txBody>
      </p:sp>
      <p:sp>
        <p:nvSpPr>
          <p:cNvPr id="19" name="stage-308"/>
          <p:cNvSpPr txBox="1"/>
          <p:nvPr/>
        </p:nvSpPr>
        <p:spPr>
          <a:xfrm>
            <a:off x="5577840" y="4069080"/>
            <a:ext cx="731520" cy="347472"/>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CS12</a:t>
            </a:r>
            <a:endParaRPr lang="en-US" sz="1200" dirty="0"/>
          </a:p>
        </p:txBody>
      </p:sp>
      <p:sp>
        <p:nvSpPr>
          <p:cNvPr id="20" name="stage-309"/>
          <p:cNvSpPr txBox="1"/>
          <p:nvPr/>
        </p:nvSpPr>
        <p:spPr>
          <a:xfrm>
            <a:off x="6309360" y="4069080"/>
            <a:ext cx="731520" cy="347472"/>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CS13</a:t>
            </a:r>
            <a:endParaRPr lang="en-US" sz="1200" dirty="0"/>
          </a:p>
        </p:txBody>
      </p:sp>
      <p:sp>
        <p:nvSpPr>
          <p:cNvPr id="21" name="stage-310"/>
          <p:cNvSpPr txBox="1"/>
          <p:nvPr/>
        </p:nvSpPr>
        <p:spPr>
          <a:xfrm>
            <a:off x="7040880" y="4069080"/>
            <a:ext cx="731520" cy="347472"/>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CS14</a:t>
            </a:r>
            <a:endParaRPr lang="en-US" sz="1200" dirty="0"/>
          </a:p>
        </p:txBody>
      </p:sp>
      <p:sp>
        <p:nvSpPr>
          <p:cNvPr id="22" name="range-311"/>
          <p:cNvSpPr/>
          <p:nvPr/>
        </p:nvSpPr>
        <p:spPr>
          <a:xfrm>
            <a:off x="4846320" y="4681728"/>
            <a:ext cx="365760" cy="914"/>
          </a:xfrm>
          <a:prstGeom prst="line">
            <a:avLst/>
          </a:prstGeom>
          <a:noFill/>
          <a:ln w="63500">
            <a:solidFill>
              <a:schemeClr val="accent1"/>
            </a:solidFill>
            <a:prstDash val="solid"/>
          </a:ln>
        </p:spPr>
      </p:sp>
      <p:sp>
        <p:nvSpPr>
          <p:cNvPr id="23" name="text-312"/>
          <p:cNvSpPr txBox="1"/>
          <p:nvPr/>
        </p:nvSpPr>
        <p:spPr>
          <a:xfrm>
            <a:off x="548640" y="4526280"/>
            <a:ext cx="3474720" cy="310896"/>
          </a:xfrm>
          <a:prstGeom prst="rect">
            <a:avLst/>
          </a:prstGeom>
          <a:noFill/>
          <a:ln/>
        </p:spPr>
        <p:txBody>
          <a:bodyPr wrap="square" lIns="0" tIns="0" rIns="0" bIns="0" rtlCol="0" anchor="ctr"/>
          <a:lstStyle/>
          <a:p>
            <a:pPr indent="0" marL="0">
              <a:buNone/>
            </a:pPr>
            <a:r>
              <a:rPr lang="en-US" sz="1200" dirty="0">
                <a:solidFill>
                  <a:schemeClr val="tx1"/>
                </a:solidFill>
              </a:rPr>
              <a:t>existence starts during CS11</a:t>
            </a:r>
            <a:pPr indent="0" marL="0">
              <a:buNone/>
            </a:pPr>
            <a:r>
              <a:rPr lang="en-US" sz="1200" dirty="0">
                <a:solidFill>
                  <a:schemeClr val="accent6"/>
                </a:solidFill>
              </a:rPr>
              <a:t>   RO:0002488</a:t>
            </a:r>
            <a:endParaRPr lang="en-US" sz="1200" dirty="0"/>
          </a:p>
        </p:txBody>
      </p:sp>
      <p:sp>
        <p:nvSpPr>
          <p:cNvPr id="24" name="range-313"/>
          <p:cNvSpPr/>
          <p:nvPr/>
        </p:nvSpPr>
        <p:spPr>
          <a:xfrm>
            <a:off x="6309360" y="5084064"/>
            <a:ext cx="365760" cy="914"/>
          </a:xfrm>
          <a:prstGeom prst="line">
            <a:avLst/>
          </a:prstGeom>
          <a:noFill/>
          <a:ln w="63500">
            <a:solidFill>
              <a:schemeClr val="accent1"/>
            </a:solidFill>
            <a:prstDash val="solid"/>
          </a:ln>
        </p:spPr>
      </p:sp>
      <p:sp>
        <p:nvSpPr>
          <p:cNvPr id="25" name="text-314"/>
          <p:cNvSpPr txBox="1"/>
          <p:nvPr/>
        </p:nvSpPr>
        <p:spPr>
          <a:xfrm>
            <a:off x="548640" y="4928616"/>
            <a:ext cx="3474720" cy="310896"/>
          </a:xfrm>
          <a:prstGeom prst="rect">
            <a:avLst/>
          </a:prstGeom>
          <a:noFill/>
          <a:ln/>
        </p:spPr>
        <p:txBody>
          <a:bodyPr wrap="square" lIns="0" tIns="0" rIns="0" bIns="0" rtlCol="0" anchor="ctr"/>
          <a:lstStyle/>
          <a:p>
            <a:pPr indent="0" marL="0">
              <a:buNone/>
            </a:pPr>
            <a:r>
              <a:rPr lang="en-US" sz="1200" dirty="0">
                <a:solidFill>
                  <a:schemeClr val="tx1"/>
                </a:solidFill>
              </a:rPr>
              <a:t>existence ends during CS13</a:t>
            </a:r>
            <a:pPr indent="0" marL="0">
              <a:buNone/>
            </a:pPr>
            <a:r>
              <a:rPr lang="en-US" sz="1200" dirty="0">
                <a:solidFill>
                  <a:schemeClr val="accent6"/>
                </a:solidFill>
              </a:rPr>
              <a:t>   RO:0002492</a:t>
            </a:r>
            <a:endParaRPr lang="en-US" sz="1200" dirty="0"/>
          </a:p>
        </p:txBody>
      </p:sp>
      <p:sp>
        <p:nvSpPr>
          <p:cNvPr id="26" name="range-315"/>
          <p:cNvSpPr/>
          <p:nvPr/>
        </p:nvSpPr>
        <p:spPr>
          <a:xfrm>
            <a:off x="4846320" y="5486400"/>
            <a:ext cx="2926080" cy="914"/>
          </a:xfrm>
          <a:prstGeom prst="line">
            <a:avLst/>
          </a:prstGeom>
          <a:noFill/>
          <a:ln w="63500">
            <a:solidFill>
              <a:schemeClr val="accent4"/>
            </a:solidFill>
            <a:prstDash val="solid"/>
          </a:ln>
        </p:spPr>
      </p:sp>
      <p:sp>
        <p:nvSpPr>
          <p:cNvPr id="27" name="text-316"/>
          <p:cNvSpPr txBox="1"/>
          <p:nvPr/>
        </p:nvSpPr>
        <p:spPr>
          <a:xfrm>
            <a:off x="548640" y="5330952"/>
            <a:ext cx="3474720" cy="310896"/>
          </a:xfrm>
          <a:prstGeom prst="rect">
            <a:avLst/>
          </a:prstGeom>
          <a:noFill/>
          <a:ln/>
        </p:spPr>
        <p:txBody>
          <a:bodyPr wrap="square" lIns="0" tIns="0" rIns="0" bIns="0" rtlCol="0" anchor="ctr"/>
          <a:lstStyle/>
          <a:p>
            <a:pPr indent="0" marL="0">
              <a:buNone/>
            </a:pPr>
            <a:r>
              <a:rPr lang="en-US" sz="1200" dirty="0">
                <a:solidFill>
                  <a:schemeClr val="tx1"/>
                </a:solidFill>
              </a:rPr>
              <a:t>existence starts during or after CS11</a:t>
            </a:r>
            <a:pPr indent="0" marL="0">
              <a:buNone/>
            </a:pPr>
            <a:r>
              <a:rPr lang="en-US" sz="1200" dirty="0">
                <a:solidFill>
                  <a:schemeClr val="accent6"/>
                </a:solidFill>
              </a:rPr>
              <a:t>   RO:0002496</a:t>
            </a:r>
            <a:endParaRPr lang="en-US" sz="1200" dirty="0"/>
          </a:p>
        </p:txBody>
      </p:sp>
      <p:sp>
        <p:nvSpPr>
          <p:cNvPr id="28" name="range-317"/>
          <p:cNvSpPr/>
          <p:nvPr/>
        </p:nvSpPr>
        <p:spPr>
          <a:xfrm>
            <a:off x="4114800" y="5888736"/>
            <a:ext cx="2560320" cy="914"/>
          </a:xfrm>
          <a:prstGeom prst="line">
            <a:avLst/>
          </a:prstGeom>
          <a:noFill/>
          <a:ln w="63500">
            <a:solidFill>
              <a:schemeClr val="accent4"/>
            </a:solidFill>
            <a:prstDash val="solid"/>
          </a:ln>
        </p:spPr>
      </p:sp>
      <p:sp>
        <p:nvSpPr>
          <p:cNvPr id="29" name="text-318"/>
          <p:cNvSpPr txBox="1"/>
          <p:nvPr/>
        </p:nvSpPr>
        <p:spPr>
          <a:xfrm>
            <a:off x="548640" y="5733288"/>
            <a:ext cx="3474720" cy="310896"/>
          </a:xfrm>
          <a:prstGeom prst="rect">
            <a:avLst/>
          </a:prstGeom>
          <a:noFill/>
          <a:ln/>
        </p:spPr>
        <p:txBody>
          <a:bodyPr wrap="square" lIns="0" tIns="0" rIns="0" bIns="0" rtlCol="0" anchor="ctr"/>
          <a:lstStyle/>
          <a:p>
            <a:pPr indent="0" marL="0">
              <a:buNone/>
            </a:pPr>
            <a:r>
              <a:rPr lang="en-US" sz="1200" dirty="0">
                <a:solidFill>
                  <a:schemeClr val="tx1"/>
                </a:solidFill>
              </a:rPr>
              <a:t>existence ends during or before CS13</a:t>
            </a:r>
            <a:pPr indent="0" marL="0">
              <a:buNone/>
            </a:pPr>
            <a:r>
              <a:rPr lang="en-US" sz="1200" dirty="0">
                <a:solidFill>
                  <a:schemeClr val="accent6"/>
                </a:solidFill>
              </a:rPr>
              <a:t>   RO:0002497</a:t>
            </a:r>
            <a:endParaRPr lang="en-US" sz="1200" dirty="0"/>
          </a:p>
        </p:txBody>
      </p:sp>
      <p:sp>
        <p:nvSpPr>
          <p:cNvPr id="30" name="box-319"/>
          <p:cNvSpPr/>
          <p:nvPr/>
        </p:nvSpPr>
        <p:spPr>
          <a:xfrm>
            <a:off x="8229600" y="1325880"/>
            <a:ext cx="3429000" cy="4846320"/>
          </a:xfrm>
          <a:prstGeom prst="roundRect">
            <a:avLst>
              <a:gd name="adj" fmla="val 2133"/>
            </a:avLst>
          </a:prstGeom>
          <a:solidFill>
            <a:schemeClr val="bg2"/>
          </a:solidFill>
          <a:ln w="12700">
            <a:solidFill>
              <a:schemeClr val="bg2"/>
            </a:solidFill>
            <a:prstDash val="solid"/>
          </a:ln>
        </p:spPr>
      </p:sp>
      <p:sp>
        <p:nvSpPr>
          <p:cNvPr id="31" name="text-320"/>
          <p:cNvSpPr txBox="1"/>
          <p:nvPr/>
        </p:nvSpPr>
        <p:spPr>
          <a:xfrm>
            <a:off x="8458200" y="1508760"/>
            <a:ext cx="3017520" cy="685800"/>
          </a:xfrm>
          <a:prstGeom prst="rect">
            <a:avLst/>
          </a:prstGeom>
          <a:noFill/>
          <a:ln/>
        </p:spPr>
        <p:txBody>
          <a:bodyPr wrap="square" lIns="0" tIns="0" rIns="0" bIns="0" rtlCol="0" anchor="t"/>
          <a:lstStyle/>
          <a:p>
            <a:pPr indent="0" marL="0">
              <a:buNone/>
            </a:pPr>
            <a:r>
              <a:rPr lang="en-US" sz="1600" b="1" dirty="0">
                <a:solidFill>
                  <a:schemeClr val="tx1"/>
                </a:solidFill>
              </a:rPr>
              <a:t>RO already defines these by start and end points</a:t>
            </a:r>
            <a:endParaRPr lang="en-US" sz="1600" dirty="0"/>
          </a:p>
        </p:txBody>
      </p:sp>
      <p:sp>
        <p:nvSpPr>
          <p:cNvPr id="32" name="text-321"/>
          <p:cNvSpPr txBox="1"/>
          <p:nvPr/>
        </p:nvSpPr>
        <p:spPr>
          <a:xfrm>
            <a:off x="8458200" y="2240280"/>
            <a:ext cx="3017520" cy="731520"/>
          </a:xfrm>
          <a:prstGeom prst="rect">
            <a:avLst/>
          </a:prstGeom>
          <a:noFill/>
          <a:ln/>
        </p:spPr>
        <p:txBody>
          <a:bodyPr wrap="square" lIns="0" tIns="0" rIns="0" bIns="0" rtlCol="0" anchor="t"/>
          <a:lstStyle/>
          <a:p>
            <a:pPr indent="0" marL="0">
              <a:buNone/>
            </a:pPr>
            <a:r>
              <a:rPr lang="en-US" sz="1400" dirty="0">
                <a:solidFill>
                  <a:schemeClr val="tx1"/>
                </a:solidFill>
              </a:rPr>
              <a:t>That is the endpoint form the reasoner uses, so they map across directly.</a:t>
            </a:r>
            <a:endParaRPr lang="en-US" sz="1400" dirty="0"/>
          </a:p>
        </p:txBody>
      </p:sp>
      <p:sp>
        <p:nvSpPr>
          <p:cNvPr id="33" name="text-322"/>
          <p:cNvSpPr txBox="1"/>
          <p:nvPr/>
        </p:nvSpPr>
        <p:spPr>
          <a:xfrm>
            <a:off x="8458200" y="3108960"/>
            <a:ext cx="3017520" cy="365760"/>
          </a:xfrm>
          <a:prstGeom prst="rect">
            <a:avLst/>
          </a:prstGeom>
          <a:noFill/>
          <a:ln/>
        </p:spPr>
        <p:txBody>
          <a:bodyPr wrap="square" lIns="0" tIns="0" rIns="0" bIns="0" rtlCol="0" anchor="t"/>
          <a:lstStyle/>
          <a:p>
            <a:pPr indent="0" marL="0">
              <a:buNone/>
            </a:pPr>
            <a:r>
              <a:rPr lang="en-US" sz="1600" b="1" dirty="0">
                <a:solidFill>
                  <a:schemeClr val="accent3"/>
                </a:solidFill>
              </a:rPr>
              <a:t>Some additions and corrections</a:t>
            </a:r>
            <a:endParaRPr lang="en-US" sz="1600" dirty="0"/>
          </a:p>
        </p:txBody>
      </p:sp>
      <p:sp>
        <p:nvSpPr>
          <p:cNvPr id="34" name="text-323"/>
          <p:cNvSpPr txBox="1"/>
          <p:nvPr/>
        </p:nvSpPr>
        <p:spPr>
          <a:xfrm>
            <a:off x="8458200" y="3520440"/>
            <a:ext cx="301752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missing converse: starts after</a:t>
            </a:r>
            <a:endParaRPr lang="en-US" sz="1400" dirty="0"/>
          </a:p>
          <a:p>
            <a:pPr marL="342900" indent="-342900">
              <a:spcAft>
                <a:spcPts val="600"/>
              </a:spcAft>
              <a:buSzPct val="100000"/>
              <a:buChar char="•"/>
            </a:pPr>
            <a:r>
              <a:rPr lang="en-US" sz="1400" dirty="0">
                <a:solidFill>
                  <a:schemeClr val="tx1"/>
                </a:solidFill>
              </a:rPr>
              <a:t>missing inverses on several existence relations</a:t>
            </a:r>
            <a:endParaRPr lang="en-US" sz="1400" dirty="0"/>
          </a:p>
          <a:p>
            <a:pPr marL="342900" indent="-342900">
              <a:spcAft>
                <a:spcPts val="600"/>
              </a:spcAft>
              <a:buSzPct val="100000"/>
              <a:buChar char="•"/>
            </a:pPr>
            <a:r>
              <a:rPr lang="en-US" sz="1400" dirty="0">
                <a:solidFill>
                  <a:schemeClr val="tx1"/>
                </a:solidFill>
              </a:rPr>
              <a:t>one inequality the wrong way round</a:t>
            </a:r>
            <a:endParaRPr lang="en-US" sz="1400" dirty="0"/>
          </a:p>
          <a:p>
            <a:pPr marL="342900" indent="-342900">
              <a:spcAft>
                <a:spcPts val="600"/>
              </a:spcAft>
              <a:buSzPct val="100000"/>
              <a:buChar char="•"/>
            </a:pPr>
            <a:r>
              <a:rPr lang="en-US" sz="1400" dirty="0">
                <a:solidFill>
                  <a:schemeClr val="tx1"/>
                </a:solidFill>
              </a:rPr>
              <a:t>open or closed interval ends, made consistent</a:t>
            </a:r>
            <a:endParaRPr lang="en-US" sz="14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New relations needed: timing between structures</a:t>
            </a:r>
            <a:endParaRPr lang="en-US" sz="3000" dirty="0"/>
          </a:p>
        </p:txBody>
      </p:sp>
      <p:sp>
        <p:nvSpPr>
          <p:cNvPr id="3" name="box-324"/>
          <p:cNvSpPr/>
          <p:nvPr/>
        </p:nvSpPr>
        <p:spPr>
          <a:xfrm>
            <a:off x="548640" y="1325880"/>
            <a:ext cx="6400800" cy="3794760"/>
          </a:xfrm>
          <a:prstGeom prst="roundRect">
            <a:avLst>
              <a:gd name="adj" fmla="val 1928"/>
            </a:avLst>
          </a:prstGeom>
          <a:solidFill>
            <a:schemeClr val="bg2"/>
          </a:solidFill>
          <a:ln w="12700">
            <a:solidFill>
              <a:schemeClr val="bg2"/>
            </a:solidFill>
            <a:prstDash val="solid"/>
          </a:ln>
        </p:spPr>
      </p:sp>
      <p:sp>
        <p:nvSpPr>
          <p:cNvPr id="4" name="text-325"/>
          <p:cNvSpPr txBox="1"/>
          <p:nvPr/>
        </p:nvSpPr>
        <p:spPr>
          <a:xfrm>
            <a:off x="777240" y="1463040"/>
            <a:ext cx="49377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exists_after</a:t>
            </a:r>
            <a:endParaRPr lang="en-US" sz="1700" dirty="0"/>
          </a:p>
        </p:txBody>
      </p:sp>
      <p:sp>
        <p:nvSpPr>
          <p:cNvPr id="5" name="text-326"/>
          <p:cNvSpPr txBox="1"/>
          <p:nvPr/>
        </p:nvSpPr>
        <p:spPr>
          <a:xfrm>
            <a:off x="5715000" y="1463040"/>
            <a:ext cx="1005840" cy="365760"/>
          </a:xfrm>
          <a:prstGeom prst="rect">
            <a:avLst/>
          </a:prstGeom>
          <a:noFill/>
          <a:ln/>
        </p:spPr>
        <p:txBody>
          <a:bodyPr wrap="square" lIns="0" tIns="0" rIns="0" bIns="0" rtlCol="0" anchor="t"/>
          <a:lstStyle/>
          <a:p>
            <a:pPr algn="r" indent="0" marL="0">
              <a:buNone/>
            </a:pPr>
            <a:r>
              <a:rPr lang="en-US" sz="1700" b="1" dirty="0">
                <a:solidFill>
                  <a:schemeClr val="accent1"/>
                </a:solidFill>
                <a:latin typeface="Cambria" pitchFamily="34" charset="0"/>
                <a:ea typeface="Cambria" pitchFamily="34" charset="-122"/>
                <a:cs typeface="Cambria" pitchFamily="34" charset="-120"/>
              </a:rPr>
              <a:t>dfOMP</a:t>
            </a:r>
            <a:endParaRPr lang="en-US" sz="1700" dirty="0"/>
          </a:p>
        </p:txBody>
      </p:sp>
      <p:sp>
        <p:nvSpPr>
          <p:cNvPr id="6" name="text-327"/>
          <p:cNvSpPr txBox="1"/>
          <p:nvPr/>
        </p:nvSpPr>
        <p:spPr>
          <a:xfrm>
            <a:off x="777240" y="1828800"/>
            <a:ext cx="5943600" cy="320040"/>
          </a:xfrm>
          <a:prstGeom prst="rect">
            <a:avLst/>
          </a:prstGeom>
          <a:noFill/>
          <a:ln/>
        </p:spPr>
        <p:txBody>
          <a:bodyPr wrap="square" lIns="0" tIns="0" rIns="0" bIns="0" rtlCol="0" anchor="t"/>
          <a:lstStyle/>
          <a:p>
            <a:pPr indent="0" marL="0">
              <a:buNone/>
            </a:pPr>
            <a:r>
              <a:rPr lang="en-US" sz="1400" dirty="0">
                <a:solidFill>
                  <a:schemeClr val="tx1"/>
                </a:solidFill>
              </a:rPr>
              <a:t>X starts after Y starts</a:t>
            </a:r>
            <a:endParaRPr lang="en-US" sz="1400" dirty="0"/>
          </a:p>
        </p:txBody>
      </p:sp>
      <p:sp>
        <p:nvSpPr>
          <p:cNvPr id="7" name="box-328"/>
          <p:cNvSpPr/>
          <p:nvPr/>
        </p:nvSpPr>
        <p:spPr>
          <a:xfrm>
            <a:off x="868680" y="2331720"/>
            <a:ext cx="5760720" cy="2651760"/>
          </a:xfrm>
          <a:prstGeom prst="roundRect">
            <a:avLst>
              <a:gd name="adj" fmla="val 2759"/>
            </a:avLst>
          </a:prstGeom>
          <a:solidFill>
            <a:schemeClr val="accent5"/>
          </a:solidFill>
          <a:ln w="12700">
            <a:solidFill>
              <a:schemeClr val="bg2"/>
            </a:solidFill>
            <a:prstDash val="solid"/>
          </a:ln>
        </p:spPr>
      </p:sp>
      <p:sp>
        <p:nvSpPr>
          <p:cNvPr id="8" name="text-329"/>
          <p:cNvSpPr txBox="1"/>
          <p:nvPr/>
        </p:nvSpPr>
        <p:spPr>
          <a:xfrm>
            <a:off x="1097280" y="2468880"/>
            <a:ext cx="429768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exists_directly_after</a:t>
            </a:r>
            <a:endParaRPr lang="en-US" sz="1700" dirty="0"/>
          </a:p>
        </p:txBody>
      </p:sp>
      <p:sp>
        <p:nvSpPr>
          <p:cNvPr id="9" name="text-330"/>
          <p:cNvSpPr txBox="1"/>
          <p:nvPr/>
        </p:nvSpPr>
        <p:spPr>
          <a:xfrm>
            <a:off x="5394960" y="2468880"/>
            <a:ext cx="1005840" cy="365760"/>
          </a:xfrm>
          <a:prstGeom prst="rect">
            <a:avLst/>
          </a:prstGeom>
          <a:noFill/>
          <a:ln/>
        </p:spPr>
        <p:txBody>
          <a:bodyPr wrap="square" lIns="0" tIns="0" rIns="0" bIns="0" rtlCol="0" anchor="t"/>
          <a:lstStyle/>
          <a:p>
            <a:pPr algn="r" indent="0" marL="0">
              <a:buNone/>
            </a:pPr>
            <a:r>
              <a:rPr lang="en-US" sz="1700" b="1" dirty="0">
                <a:solidFill>
                  <a:schemeClr val="accent1"/>
                </a:solidFill>
                <a:latin typeface="Cambria" pitchFamily="34" charset="0"/>
                <a:ea typeface="Cambria" pitchFamily="34" charset="-122"/>
                <a:cs typeface="Cambria" pitchFamily="34" charset="-120"/>
              </a:rPr>
              <a:t>dfOM</a:t>
            </a:r>
            <a:endParaRPr lang="en-US" sz="1700" dirty="0"/>
          </a:p>
        </p:txBody>
      </p:sp>
      <p:sp>
        <p:nvSpPr>
          <p:cNvPr id="10" name="text-331"/>
          <p:cNvSpPr txBox="1"/>
          <p:nvPr/>
        </p:nvSpPr>
        <p:spPr>
          <a:xfrm>
            <a:off x="1097280" y="2834640"/>
            <a:ext cx="5303520" cy="320040"/>
          </a:xfrm>
          <a:prstGeom prst="rect">
            <a:avLst/>
          </a:prstGeom>
          <a:noFill/>
          <a:ln/>
        </p:spPr>
        <p:txBody>
          <a:bodyPr wrap="square" lIns="0" tIns="0" rIns="0" bIns="0" rtlCol="0" anchor="t"/>
          <a:lstStyle/>
          <a:p>
            <a:pPr indent="0" marL="0">
              <a:buNone/>
            </a:pPr>
            <a:r>
              <a:rPr lang="en-US" sz="1400" dirty="0">
                <a:solidFill>
                  <a:schemeClr val="tx1"/>
                </a:solidFill>
              </a:rPr>
              <a:t>… and no later than Y ends: no gap</a:t>
            </a:r>
            <a:endParaRPr lang="en-US" sz="1400" dirty="0"/>
          </a:p>
        </p:txBody>
      </p:sp>
      <p:sp>
        <p:nvSpPr>
          <p:cNvPr id="11" name="box-332"/>
          <p:cNvSpPr/>
          <p:nvPr/>
        </p:nvSpPr>
        <p:spPr>
          <a:xfrm>
            <a:off x="1188720" y="3337560"/>
            <a:ext cx="5120640" cy="1463040"/>
          </a:xfrm>
          <a:prstGeom prst="roundRect">
            <a:avLst>
              <a:gd name="adj" fmla="val 5000"/>
            </a:avLst>
          </a:prstGeom>
          <a:solidFill>
            <a:schemeClr val="accent1"/>
          </a:solidFill>
          <a:ln w="12700">
            <a:solidFill>
              <a:schemeClr val="bg2"/>
            </a:solidFill>
            <a:prstDash val="solid"/>
          </a:ln>
        </p:spPr>
      </p:sp>
      <p:sp>
        <p:nvSpPr>
          <p:cNvPr id="12" name="text-333"/>
          <p:cNvSpPr txBox="1"/>
          <p:nvPr/>
        </p:nvSpPr>
        <p:spPr>
          <a:xfrm>
            <a:off x="1417320" y="3474720"/>
            <a:ext cx="3657600" cy="36576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exists_immediately_after</a:t>
            </a:r>
            <a:endParaRPr lang="en-US" sz="1700" dirty="0"/>
          </a:p>
        </p:txBody>
      </p:sp>
      <p:sp>
        <p:nvSpPr>
          <p:cNvPr id="13" name="text-334"/>
          <p:cNvSpPr txBox="1"/>
          <p:nvPr/>
        </p:nvSpPr>
        <p:spPr>
          <a:xfrm>
            <a:off x="5074920" y="3474720"/>
            <a:ext cx="1005840" cy="365760"/>
          </a:xfrm>
          <a:prstGeom prst="rect">
            <a:avLst/>
          </a:prstGeom>
          <a:noFill/>
          <a:ln/>
        </p:spPr>
        <p:txBody>
          <a:bodyPr wrap="square" lIns="0" tIns="0" rIns="0" bIns="0" rtlCol="0" anchor="t"/>
          <a:lstStyle/>
          <a:p>
            <a:pPr algn="r" indent="0" marL="0">
              <a:buNone/>
            </a:pPr>
            <a:r>
              <a:rPr lang="en-US" sz="1700" b="1" dirty="0">
                <a:solidFill>
                  <a:schemeClr val="bg1"/>
                </a:solidFill>
                <a:latin typeface="Cambria" pitchFamily="34" charset="0"/>
                <a:ea typeface="Cambria" pitchFamily="34" charset="-122"/>
                <a:cs typeface="Cambria" pitchFamily="34" charset="-120"/>
              </a:rPr>
              <a:t>M</a:t>
            </a:r>
            <a:endParaRPr lang="en-US" sz="1700" dirty="0"/>
          </a:p>
        </p:txBody>
      </p:sp>
      <p:sp>
        <p:nvSpPr>
          <p:cNvPr id="14" name="text-335"/>
          <p:cNvSpPr txBox="1"/>
          <p:nvPr/>
        </p:nvSpPr>
        <p:spPr>
          <a:xfrm>
            <a:off x="1417320" y="3840480"/>
            <a:ext cx="4663440" cy="320040"/>
          </a:xfrm>
          <a:prstGeom prst="rect">
            <a:avLst/>
          </a:prstGeom>
          <a:noFill/>
          <a:ln/>
        </p:spPr>
        <p:txBody>
          <a:bodyPr wrap="square" lIns="0" tIns="0" rIns="0" bIns="0" rtlCol="0" anchor="t"/>
          <a:lstStyle/>
          <a:p>
            <a:pPr indent="0" marL="0">
              <a:buNone/>
            </a:pPr>
            <a:r>
              <a:rPr lang="en-US" sz="1400" dirty="0">
                <a:solidFill>
                  <a:schemeClr val="bg1"/>
                </a:solidFill>
              </a:rPr>
              <a:t>X starts exactly as Y ends</a:t>
            </a:r>
            <a:endParaRPr lang="en-US" sz="1400" dirty="0"/>
          </a:p>
        </p:txBody>
      </p:sp>
      <p:sp>
        <p:nvSpPr>
          <p:cNvPr id="15" name="bar-336"/>
          <p:cNvSpPr txBox="1"/>
          <p:nvPr/>
        </p:nvSpPr>
        <p:spPr>
          <a:xfrm>
            <a:off x="1417320" y="4160520"/>
            <a:ext cx="2011680" cy="274320"/>
          </a:xfrm>
          <a:prstGeom prst="roundRect">
            <a:avLst>
              <a:gd name="adj" fmla="val 23333"/>
            </a:avLst>
          </a:prstGeom>
          <a:solidFill>
            <a:schemeClr val="accent2"/>
          </a:solidFill>
          <a:ln>
            <a:solidFill>
              <a:schemeClr val="accent2"/>
            </a:solidFill>
          </a:ln>
        </p:spPr>
        <p:txBody>
          <a:bodyPr wrap="square" lIns="0" tIns="101600" rIns="101600" bIns="0" rtlCol="0" anchor="ctr"/>
          <a:lstStyle/>
          <a:p>
            <a:pPr algn="l" indent="0" marL="0">
              <a:buNone/>
            </a:pPr>
            <a:r>
              <a:rPr lang="en-US" sz="1200" dirty="0">
                <a:solidFill>
                  <a:schemeClr val="tx1"/>
                </a:solidFill>
              </a:rPr>
              <a:t>Y</a:t>
            </a:r>
            <a:endParaRPr lang="en-US" sz="1200" dirty="0"/>
          </a:p>
        </p:txBody>
      </p:sp>
      <p:sp>
        <p:nvSpPr>
          <p:cNvPr id="16" name="bar-337"/>
          <p:cNvSpPr txBox="1"/>
          <p:nvPr/>
        </p:nvSpPr>
        <p:spPr>
          <a:xfrm>
            <a:off x="3429000" y="4434840"/>
            <a:ext cx="2194560" cy="274320"/>
          </a:xfrm>
          <a:prstGeom prst="roundRect">
            <a:avLst>
              <a:gd name="adj" fmla="val 23333"/>
            </a:avLst>
          </a:prstGeom>
          <a:solidFill>
            <a:schemeClr val="bg1"/>
          </a:solidFill>
          <a:ln>
            <a:solidFill>
              <a:schemeClr val="bg1"/>
            </a:solidFill>
          </a:ln>
        </p:spPr>
        <p:txBody>
          <a:bodyPr wrap="square" lIns="0" tIns="101600" rIns="101600" bIns="0" rtlCol="0" anchor="ctr"/>
          <a:lstStyle/>
          <a:p>
            <a:pPr algn="l" indent="0" marL="0">
              <a:buNone/>
            </a:pPr>
            <a:r>
              <a:rPr lang="en-US" sz="1200" dirty="0">
                <a:solidFill>
                  <a:schemeClr val="tx1"/>
                </a:solidFill>
              </a:rPr>
              <a:t>X</a:t>
            </a:r>
            <a:endParaRPr lang="en-US" sz="1200" dirty="0"/>
          </a:p>
        </p:txBody>
      </p:sp>
      <p:sp>
        <p:nvSpPr>
          <p:cNvPr id="17" name="text-338"/>
          <p:cNvSpPr txBox="1"/>
          <p:nvPr/>
        </p:nvSpPr>
        <p:spPr>
          <a:xfrm>
            <a:off x="7315200" y="1325880"/>
            <a:ext cx="4343400" cy="365760"/>
          </a:xfrm>
          <a:prstGeom prst="rect">
            <a:avLst/>
          </a:prstGeom>
          <a:noFill/>
          <a:ln/>
        </p:spPr>
        <p:txBody>
          <a:bodyPr wrap="square" lIns="0" tIns="0" rIns="0" bIns="0" rtlCol="0" anchor="t"/>
          <a:lstStyle/>
          <a:p>
            <a:pPr indent="0" marL="0">
              <a:buNone/>
            </a:pPr>
            <a:r>
              <a:rPr lang="en-US" sz="1800" b="1" dirty="0">
                <a:solidFill>
                  <a:schemeClr val="accent1"/>
                </a:solidFill>
              </a:rPr>
              <a:t>Developmental relations take a level</a:t>
            </a:r>
            <a:endParaRPr lang="en-US" sz="1800" dirty="0"/>
          </a:p>
        </p:txBody>
      </p:sp>
      <p:sp>
        <p:nvSpPr>
          <p:cNvPr id="18" name="text-339"/>
          <p:cNvSpPr txBox="1"/>
          <p:nvPr/>
        </p:nvSpPr>
        <p:spPr>
          <a:xfrm>
            <a:off x="7315200" y="1828800"/>
            <a:ext cx="4343400" cy="292608"/>
          </a:xfrm>
          <a:prstGeom prst="rect">
            <a:avLst/>
          </a:prstGeom>
          <a:noFill/>
          <a:ln/>
        </p:spPr>
        <p:txBody>
          <a:bodyPr wrap="square" lIns="0" tIns="0" rIns="0" bIns="0" rtlCol="0" anchor="t"/>
          <a:lstStyle/>
          <a:p>
            <a:pPr indent="0" marL="0">
              <a:buNone/>
            </a:pPr>
            <a:r>
              <a:rPr lang="en-US" sz="1400" b="1" dirty="0">
                <a:solidFill>
                  <a:schemeClr val="tx1"/>
                </a:solidFill>
              </a:rPr>
              <a:t>develops_from</a:t>
            </a:r>
            <a:endParaRPr lang="en-US" sz="1400" dirty="0"/>
          </a:p>
        </p:txBody>
      </p:sp>
      <p:sp>
        <p:nvSpPr>
          <p:cNvPr id="19" name="text-340"/>
          <p:cNvSpPr txBox="1"/>
          <p:nvPr/>
        </p:nvSpPr>
        <p:spPr>
          <a:xfrm>
            <a:off x="7589520" y="2121408"/>
            <a:ext cx="4069080" cy="292608"/>
          </a:xfrm>
          <a:prstGeom prst="rect">
            <a:avLst/>
          </a:prstGeom>
          <a:noFill/>
          <a:ln/>
        </p:spPr>
        <p:txBody>
          <a:bodyPr wrap="square" lIns="0" tIns="0" rIns="0" bIns="0" rtlCol="0" anchor="t"/>
          <a:lstStyle/>
          <a:p>
            <a:pPr indent="0" marL="0">
              <a:buNone/>
            </a:pPr>
            <a:r>
              <a:rPr lang="en-US" sz="1300" dirty="0">
                <a:solidFill>
                  <a:schemeClr val="accent1"/>
                </a:solidFill>
                <a:latin typeface="Cambria" pitchFamily="34" charset="0"/>
                <a:ea typeface="Cambria" pitchFamily="34" charset="-122"/>
                <a:cs typeface="Cambria" pitchFamily="34" charset="-120"/>
              </a:rPr>
              <a:t>⊑  exists_after</a:t>
            </a:r>
            <a:endParaRPr lang="en-US" sz="1300" dirty="0"/>
          </a:p>
        </p:txBody>
      </p:sp>
      <p:sp>
        <p:nvSpPr>
          <p:cNvPr id="20" name="text-341"/>
          <p:cNvSpPr txBox="1"/>
          <p:nvPr/>
        </p:nvSpPr>
        <p:spPr>
          <a:xfrm>
            <a:off x="7315200" y="2487168"/>
            <a:ext cx="4343400" cy="292608"/>
          </a:xfrm>
          <a:prstGeom prst="rect">
            <a:avLst/>
          </a:prstGeom>
          <a:noFill/>
          <a:ln/>
        </p:spPr>
        <p:txBody>
          <a:bodyPr wrap="square" lIns="0" tIns="0" rIns="0" bIns="0" rtlCol="0" anchor="t"/>
          <a:lstStyle/>
          <a:p>
            <a:pPr indent="0" marL="0">
              <a:buNone/>
            </a:pPr>
            <a:r>
              <a:rPr lang="en-US" sz="1400" b="1" dirty="0">
                <a:solidFill>
                  <a:schemeClr val="tx1"/>
                </a:solidFill>
              </a:rPr>
              <a:t>transformation_of</a:t>
            </a:r>
            <a:endParaRPr lang="en-US" sz="1400" dirty="0"/>
          </a:p>
        </p:txBody>
      </p:sp>
      <p:sp>
        <p:nvSpPr>
          <p:cNvPr id="21" name="text-342"/>
          <p:cNvSpPr txBox="1"/>
          <p:nvPr/>
        </p:nvSpPr>
        <p:spPr>
          <a:xfrm>
            <a:off x="7589520" y="2779776"/>
            <a:ext cx="4069080" cy="292608"/>
          </a:xfrm>
          <a:prstGeom prst="rect">
            <a:avLst/>
          </a:prstGeom>
          <a:noFill/>
          <a:ln/>
        </p:spPr>
        <p:txBody>
          <a:bodyPr wrap="square" lIns="0" tIns="0" rIns="0" bIns="0" rtlCol="0" anchor="t"/>
          <a:lstStyle/>
          <a:p>
            <a:pPr indent="0" marL="0">
              <a:buNone/>
            </a:pPr>
            <a:r>
              <a:rPr lang="en-US" sz="1300" dirty="0">
                <a:solidFill>
                  <a:schemeClr val="accent1"/>
                </a:solidFill>
                <a:latin typeface="Cambria" pitchFamily="34" charset="0"/>
                <a:ea typeface="Cambria" pitchFamily="34" charset="-122"/>
                <a:cs typeface="Cambria" pitchFamily="34" charset="-120"/>
              </a:rPr>
              <a:t>⊑  exists_after</a:t>
            </a:r>
            <a:endParaRPr lang="en-US" sz="1300" dirty="0"/>
          </a:p>
        </p:txBody>
      </p:sp>
      <p:sp>
        <p:nvSpPr>
          <p:cNvPr id="22" name="text-343"/>
          <p:cNvSpPr txBox="1"/>
          <p:nvPr/>
        </p:nvSpPr>
        <p:spPr>
          <a:xfrm>
            <a:off x="7315200" y="3145536"/>
            <a:ext cx="4343400" cy="292608"/>
          </a:xfrm>
          <a:prstGeom prst="rect">
            <a:avLst/>
          </a:prstGeom>
          <a:noFill/>
          <a:ln/>
        </p:spPr>
        <p:txBody>
          <a:bodyPr wrap="square" lIns="0" tIns="0" rIns="0" bIns="0" rtlCol="0" anchor="t"/>
          <a:lstStyle/>
          <a:p>
            <a:pPr indent="0" marL="0">
              <a:buNone/>
            </a:pPr>
            <a:r>
              <a:rPr lang="en-US" sz="1400" b="1" dirty="0">
                <a:solidFill>
                  <a:schemeClr val="tx1"/>
                </a:solidFill>
              </a:rPr>
              <a:t>directly_develops_from</a:t>
            </a:r>
            <a:endParaRPr lang="en-US" sz="1400" dirty="0"/>
          </a:p>
        </p:txBody>
      </p:sp>
      <p:sp>
        <p:nvSpPr>
          <p:cNvPr id="23" name="text-344"/>
          <p:cNvSpPr txBox="1"/>
          <p:nvPr/>
        </p:nvSpPr>
        <p:spPr>
          <a:xfrm>
            <a:off x="7589520" y="3438144"/>
            <a:ext cx="4069080" cy="292608"/>
          </a:xfrm>
          <a:prstGeom prst="rect">
            <a:avLst/>
          </a:prstGeom>
          <a:noFill/>
          <a:ln/>
        </p:spPr>
        <p:txBody>
          <a:bodyPr wrap="square" lIns="0" tIns="0" rIns="0" bIns="0" rtlCol="0" anchor="t"/>
          <a:lstStyle/>
          <a:p>
            <a:pPr indent="0" marL="0">
              <a:buNone/>
            </a:pPr>
            <a:r>
              <a:rPr lang="en-US" sz="1300" dirty="0">
                <a:solidFill>
                  <a:schemeClr val="accent1"/>
                </a:solidFill>
                <a:latin typeface="Cambria" pitchFamily="34" charset="0"/>
                <a:ea typeface="Cambria" pitchFamily="34" charset="-122"/>
                <a:cs typeface="Cambria" pitchFamily="34" charset="-120"/>
              </a:rPr>
              <a:t>⊑  exists_directly_after</a:t>
            </a:r>
            <a:endParaRPr lang="en-US" sz="1300" dirty="0"/>
          </a:p>
        </p:txBody>
      </p:sp>
      <p:sp>
        <p:nvSpPr>
          <p:cNvPr id="24" name="text-345"/>
          <p:cNvSpPr txBox="1"/>
          <p:nvPr/>
        </p:nvSpPr>
        <p:spPr>
          <a:xfrm>
            <a:off x="7315200" y="3803904"/>
            <a:ext cx="4343400" cy="292608"/>
          </a:xfrm>
          <a:prstGeom prst="rect">
            <a:avLst/>
          </a:prstGeom>
          <a:noFill/>
          <a:ln/>
        </p:spPr>
        <p:txBody>
          <a:bodyPr wrap="square" lIns="0" tIns="0" rIns="0" bIns="0" rtlCol="0" anchor="t"/>
          <a:lstStyle/>
          <a:p>
            <a:pPr indent="0" marL="0">
              <a:buNone/>
            </a:pPr>
            <a:r>
              <a:rPr lang="en-US" sz="1400" b="1" dirty="0">
                <a:solidFill>
                  <a:schemeClr val="tx1"/>
                </a:solidFill>
              </a:rPr>
              <a:t>immediate_transformation_of</a:t>
            </a:r>
            <a:endParaRPr lang="en-US" sz="1400" dirty="0"/>
          </a:p>
        </p:txBody>
      </p:sp>
      <p:sp>
        <p:nvSpPr>
          <p:cNvPr id="25" name="text-346"/>
          <p:cNvSpPr txBox="1"/>
          <p:nvPr/>
        </p:nvSpPr>
        <p:spPr>
          <a:xfrm>
            <a:off x="7589520" y="4096512"/>
            <a:ext cx="4069080" cy="292608"/>
          </a:xfrm>
          <a:prstGeom prst="rect">
            <a:avLst/>
          </a:prstGeom>
          <a:noFill/>
          <a:ln/>
        </p:spPr>
        <p:txBody>
          <a:bodyPr wrap="square" lIns="0" tIns="0" rIns="0" bIns="0" rtlCol="0" anchor="t"/>
          <a:lstStyle/>
          <a:p>
            <a:pPr indent="0" marL="0">
              <a:buNone/>
            </a:pPr>
            <a:r>
              <a:rPr lang="en-US" sz="1300" dirty="0">
                <a:solidFill>
                  <a:schemeClr val="accent1"/>
                </a:solidFill>
                <a:latin typeface="Cambria" pitchFamily="34" charset="0"/>
                <a:ea typeface="Cambria" pitchFamily="34" charset="-122"/>
                <a:cs typeface="Cambria" pitchFamily="34" charset="-120"/>
              </a:rPr>
              <a:t>⊑  exists_immediately_after</a:t>
            </a:r>
            <a:endParaRPr lang="en-US" sz="1300" dirty="0"/>
          </a:p>
        </p:txBody>
      </p:sp>
      <p:sp>
        <p:nvSpPr>
          <p:cNvPr id="26" name="box-347"/>
          <p:cNvSpPr/>
          <p:nvPr/>
        </p:nvSpPr>
        <p:spPr>
          <a:xfrm>
            <a:off x="7315200" y="4572000"/>
            <a:ext cx="4343400" cy="1600200"/>
          </a:xfrm>
          <a:prstGeom prst="roundRect">
            <a:avLst>
              <a:gd name="adj" fmla="val 4571"/>
            </a:avLst>
          </a:prstGeom>
          <a:solidFill>
            <a:schemeClr val="bg2"/>
          </a:solidFill>
          <a:ln w="12700">
            <a:solidFill>
              <a:schemeClr val="bg2"/>
            </a:solidFill>
            <a:prstDash val="solid"/>
          </a:ln>
        </p:spPr>
      </p:sp>
      <p:sp>
        <p:nvSpPr>
          <p:cNvPr id="27" name="text-348"/>
          <p:cNvSpPr txBox="1"/>
          <p:nvPr/>
        </p:nvSpPr>
        <p:spPr>
          <a:xfrm>
            <a:off x="7498080" y="4681728"/>
            <a:ext cx="3977640" cy="1417320"/>
          </a:xfrm>
          <a:prstGeom prst="rect">
            <a:avLst/>
          </a:prstGeom>
          <a:noFill/>
          <a:ln/>
        </p:spPr>
        <p:txBody>
          <a:bodyPr wrap="square" lIns="0" tIns="0" rIns="0" bIns="0" rtlCol="0" anchor="t"/>
          <a:lstStyle/>
          <a:p>
            <a:pPr indent="0" marL="0">
              <a:buNone/>
            </a:pPr>
            <a:r>
              <a:rPr lang="en-US" sz="1400" b="1" dirty="0">
                <a:solidFill>
                  <a:schemeClr val="tx1"/>
                </a:solidFill>
              </a:rPr>
              <a:t>Why new? </a:t>
            </a:r>
            <a:pPr indent="0" marL="0">
              <a:buNone/>
            </a:pPr>
            <a:r>
              <a:rPr lang="en-US" sz="1400" dirty="0">
                <a:solidFill>
                  <a:schemeClr val="tx1"/>
                </a:solidFill>
              </a:rPr>
              <a:t>RO has no timing relation between two structures. Making develops_from a kind of preceded_by is unsatisfiable: structures are continuants, preceded_by relates occurrents.</a:t>
            </a:r>
            <a:endParaRPr lang="en-US" sz="1400" dirty="0"/>
          </a:p>
        </p:txBody>
      </p:sp>
      <p:sp>
        <p:nvSpPr>
          <p:cNvPr id="28" name="text-349"/>
          <p:cNvSpPr txBox="1"/>
          <p:nvPr/>
        </p:nvSpPr>
        <p:spPr>
          <a:xfrm>
            <a:off x="548640" y="6263640"/>
            <a:ext cx="11064240" cy="411480"/>
          </a:xfrm>
          <a:prstGeom prst="rect">
            <a:avLst/>
          </a:prstGeom>
          <a:noFill/>
          <a:ln/>
        </p:spPr>
        <p:txBody>
          <a:bodyPr wrap="square" lIns="0" tIns="0" rIns="0" bIns="0" rtlCol="0" anchor="t"/>
          <a:lstStyle/>
          <a:p>
            <a:pPr indent="0" marL="0">
              <a:buNone/>
            </a:pPr>
            <a:r>
              <a:rPr lang="en-US" sz="1300" i="1" dirty="0">
                <a:solidFill>
                  <a:schemeClr val="accent6"/>
                </a:solidFill>
              </a:rPr>
              <a:t>With them, OWL chains work too:  exists_after ∘ existence_starts_during ⊑ existence_starts_during_or_after.  Minted locally for now; to be proposed to RO.</a:t>
            </a:r>
            <a:endParaRPr lang="en-US" sz="13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Timing inferred from developmental relations</a:t>
            </a:r>
            <a:endParaRPr lang="en-US" sz="3000" dirty="0"/>
          </a:p>
        </p:txBody>
      </p:sp>
      <p:sp>
        <p:nvSpPr>
          <p:cNvPr id="3" name="text-350"/>
          <p:cNvSpPr txBox="1"/>
          <p:nvPr/>
        </p:nvSpPr>
        <p:spPr>
          <a:xfrm>
            <a:off x="548640" y="1325880"/>
            <a:ext cx="6035040" cy="365760"/>
          </a:xfrm>
          <a:prstGeom prst="rect">
            <a:avLst/>
          </a:prstGeom>
          <a:noFill/>
          <a:ln/>
        </p:spPr>
        <p:txBody>
          <a:bodyPr wrap="square" lIns="0" tIns="0" rIns="0" bIns="0" rtlCol="0" anchor="t"/>
          <a:lstStyle/>
          <a:p>
            <a:pPr indent="0" marL="0">
              <a:buNone/>
            </a:pPr>
            <a:r>
              <a:rPr lang="en-US" sz="1800" b="1" dirty="0">
                <a:solidFill>
                  <a:schemeClr val="accent1"/>
                </a:solidFill>
              </a:rPr>
              <a:t>A bound nobody curated</a:t>
            </a:r>
            <a:endParaRPr lang="en-US" sz="1800" dirty="0"/>
          </a:p>
        </p:txBody>
      </p:sp>
      <p:sp>
        <p:nvSpPr>
          <p:cNvPr id="4" name="stage-351"/>
          <p:cNvSpPr txBox="1"/>
          <p:nvPr/>
        </p:nvSpPr>
        <p:spPr>
          <a:xfrm>
            <a:off x="548640" y="1783080"/>
            <a:ext cx="100584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CS10</a:t>
            </a:r>
            <a:endParaRPr lang="en-US" sz="1200" dirty="0"/>
          </a:p>
        </p:txBody>
      </p:sp>
      <p:sp>
        <p:nvSpPr>
          <p:cNvPr id="5" name="stage-352"/>
          <p:cNvSpPr txBox="1"/>
          <p:nvPr/>
        </p:nvSpPr>
        <p:spPr>
          <a:xfrm>
            <a:off x="1554480" y="1783080"/>
            <a:ext cx="100584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CS11</a:t>
            </a:r>
            <a:endParaRPr lang="en-US" sz="1200" dirty="0"/>
          </a:p>
        </p:txBody>
      </p:sp>
      <p:sp>
        <p:nvSpPr>
          <p:cNvPr id="6" name="stage-353"/>
          <p:cNvSpPr txBox="1"/>
          <p:nvPr/>
        </p:nvSpPr>
        <p:spPr>
          <a:xfrm>
            <a:off x="2560320" y="1783080"/>
            <a:ext cx="100584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CS12</a:t>
            </a:r>
            <a:endParaRPr lang="en-US" sz="1200" dirty="0"/>
          </a:p>
        </p:txBody>
      </p:sp>
      <p:sp>
        <p:nvSpPr>
          <p:cNvPr id="7" name="stage-354"/>
          <p:cNvSpPr txBox="1"/>
          <p:nvPr/>
        </p:nvSpPr>
        <p:spPr>
          <a:xfrm>
            <a:off x="3566160" y="1783080"/>
            <a:ext cx="100584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CS13</a:t>
            </a:r>
            <a:endParaRPr lang="en-US" sz="1200" dirty="0"/>
          </a:p>
        </p:txBody>
      </p:sp>
      <p:sp>
        <p:nvSpPr>
          <p:cNvPr id="8" name="stage-355"/>
          <p:cNvSpPr txBox="1"/>
          <p:nvPr/>
        </p:nvSpPr>
        <p:spPr>
          <a:xfrm>
            <a:off x="4572000" y="1783080"/>
            <a:ext cx="100584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CS14</a:t>
            </a:r>
            <a:endParaRPr lang="en-US" sz="1200" dirty="0"/>
          </a:p>
        </p:txBody>
      </p:sp>
      <p:sp>
        <p:nvSpPr>
          <p:cNvPr id="9" name="stage-356"/>
          <p:cNvSpPr txBox="1"/>
          <p:nvPr/>
        </p:nvSpPr>
        <p:spPr>
          <a:xfrm>
            <a:off x="5577840" y="1783080"/>
            <a:ext cx="100584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CS15</a:t>
            </a:r>
            <a:endParaRPr lang="en-US" sz="1200" dirty="0"/>
          </a:p>
        </p:txBody>
      </p:sp>
      <p:sp>
        <p:nvSpPr>
          <p:cNvPr id="10" name="bar-357"/>
          <p:cNvSpPr txBox="1"/>
          <p:nvPr/>
        </p:nvSpPr>
        <p:spPr>
          <a:xfrm>
            <a:off x="3012948" y="2377440"/>
            <a:ext cx="3570732" cy="329184"/>
          </a:xfrm>
          <a:prstGeom prst="roundRect">
            <a:avLst>
              <a:gd name="adj" fmla="val 19444"/>
            </a:avLst>
          </a:prstGeom>
          <a:solidFill>
            <a:schemeClr val="accent2"/>
          </a:solidFill>
          <a:ln>
            <a:solidFill>
              <a:schemeClr val="accent2"/>
            </a:solidFill>
          </a:ln>
        </p:spPr>
        <p:txBody>
          <a:bodyPr wrap="square" lIns="0" tIns="101600" rIns="101600" bIns="0" rtlCol="0" anchor="ctr"/>
          <a:lstStyle/>
          <a:p>
            <a:pPr algn="l" indent="0" marL="0">
              <a:buNone/>
            </a:pPr>
            <a:r>
              <a:rPr lang="en-US" sz="1300" dirty="0">
                <a:solidFill>
                  <a:schemeClr val="tx1"/>
                </a:solidFill>
              </a:rPr>
              <a:t>Y  starts during CS12  (curated)</a:t>
            </a:r>
            <a:endParaRPr lang="en-US" sz="1300" dirty="0"/>
          </a:p>
        </p:txBody>
      </p:sp>
      <p:sp>
        <p:nvSpPr>
          <p:cNvPr id="11" name="bar-358"/>
          <p:cNvSpPr txBox="1"/>
          <p:nvPr/>
        </p:nvSpPr>
        <p:spPr>
          <a:xfrm>
            <a:off x="649224" y="3063240"/>
            <a:ext cx="5934456" cy="329184"/>
          </a:xfrm>
          <a:prstGeom prst="roundRect">
            <a:avLst>
              <a:gd name="adj" fmla="val 19444"/>
            </a:avLst>
          </a:prstGeom>
          <a:solidFill>
            <a:schemeClr val="bg2"/>
          </a:solidFill>
          <a:ln w="15875">
            <a:solidFill>
              <a:schemeClr val="bg2"/>
            </a:solidFill>
            <a:prstDash val="dash"/>
          </a:ln>
        </p:spPr>
        <p:txBody>
          <a:bodyPr wrap="square" lIns="0" tIns="101600" rIns="101600" bIns="0" rtlCol="0" anchor="ctr"/>
          <a:lstStyle/>
          <a:p>
            <a:pPr algn="l" indent="0" marL="0">
              <a:buNone/>
            </a:pPr>
            <a:r>
              <a:rPr lang="en-US" sz="1300" dirty="0">
                <a:solidFill>
                  <a:schemeClr val="accent6"/>
                </a:solidFill>
              </a:rPr>
              <a:t>X  no curated bounds</a:t>
            </a:r>
            <a:endParaRPr lang="en-US" sz="1300" dirty="0"/>
          </a:p>
        </p:txBody>
      </p:sp>
      <p:sp>
        <p:nvSpPr>
          <p:cNvPr id="12" name="text-359"/>
          <p:cNvSpPr txBox="1"/>
          <p:nvPr/>
        </p:nvSpPr>
        <p:spPr>
          <a:xfrm>
            <a:off x="548640" y="3657600"/>
            <a:ext cx="603504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X develops_from Y   ⇒   s(Y) &lt; s(X)</a:t>
            </a:r>
            <a:endParaRPr lang="en-US" sz="1600" dirty="0"/>
          </a:p>
        </p:txBody>
      </p:sp>
      <p:sp>
        <p:nvSpPr>
          <p:cNvPr id="13" name="arrow-360"/>
          <p:cNvSpPr/>
          <p:nvPr/>
        </p:nvSpPr>
        <p:spPr>
          <a:xfrm>
            <a:off x="3012948" y="4114800"/>
            <a:ext cx="914" cy="320040"/>
          </a:xfrm>
          <a:prstGeom prst="line">
            <a:avLst/>
          </a:prstGeom>
          <a:noFill/>
          <a:ln w="25400">
            <a:solidFill>
              <a:schemeClr val="accent1"/>
            </a:solidFill>
            <a:prstDash val="solid"/>
            <a:tailEnd type="triangle"/>
          </a:ln>
        </p:spPr>
      </p:sp>
      <p:sp>
        <p:nvSpPr>
          <p:cNvPr id="14" name="bar-361"/>
          <p:cNvSpPr txBox="1"/>
          <p:nvPr/>
        </p:nvSpPr>
        <p:spPr>
          <a:xfrm>
            <a:off x="3012948" y="4526280"/>
            <a:ext cx="3570732" cy="329184"/>
          </a:xfrm>
          <a:prstGeom prst="roundRect">
            <a:avLst>
              <a:gd name="adj" fmla="val 19444"/>
            </a:avLst>
          </a:prstGeom>
          <a:solidFill>
            <a:schemeClr val="accent1"/>
          </a:solidFill>
          <a:ln>
            <a:solidFill>
              <a:schemeClr val="accent1"/>
            </a:solidFill>
          </a:ln>
        </p:spPr>
        <p:txBody>
          <a:bodyPr wrap="square" lIns="0" tIns="101600" rIns="101600" bIns="0" rtlCol="0" anchor="ctr"/>
          <a:lstStyle/>
          <a:p>
            <a:pPr algn="l" indent="0" marL="0">
              <a:buNone/>
            </a:pPr>
            <a:r>
              <a:rPr lang="en-US" sz="1300" b="1" dirty="0">
                <a:solidFill>
                  <a:schemeClr val="bg1"/>
                </a:solidFill>
              </a:rPr>
              <a:t>X  starts during or after CS12  (derived)</a:t>
            </a:r>
            <a:endParaRPr lang="en-US" sz="1300" dirty="0"/>
          </a:p>
        </p:txBody>
      </p:sp>
      <p:sp>
        <p:nvSpPr>
          <p:cNvPr id="15" name="text-362"/>
          <p:cNvSpPr txBox="1"/>
          <p:nvPr/>
        </p:nvSpPr>
        <p:spPr>
          <a:xfrm>
            <a:off x="548640" y="5120640"/>
            <a:ext cx="6035040" cy="685800"/>
          </a:xfrm>
          <a:prstGeom prst="rect">
            <a:avLst/>
          </a:prstGeom>
          <a:noFill/>
          <a:ln/>
        </p:spPr>
        <p:txBody>
          <a:bodyPr wrap="square" lIns="0" tIns="0" rIns="0" bIns="0" rtlCol="0" anchor="t"/>
          <a:lstStyle/>
          <a:p>
            <a:pPr indent="0" marL="0">
              <a:buNone/>
            </a:pPr>
            <a:r>
              <a:rPr lang="en-US" sz="1500" dirty="0">
                <a:solidFill>
                  <a:schemeClr val="tx1"/>
                </a:solidFill>
              </a:rPr>
              <a:t>On current data: 746 new bound statements on 344 structures.</a:t>
            </a:r>
            <a:endParaRPr lang="en-US" sz="1500" dirty="0"/>
          </a:p>
        </p:txBody>
      </p:sp>
      <p:sp>
        <p:nvSpPr>
          <p:cNvPr id="16" name="box-363"/>
          <p:cNvSpPr/>
          <p:nvPr/>
        </p:nvSpPr>
        <p:spPr>
          <a:xfrm>
            <a:off x="6995160" y="1325880"/>
            <a:ext cx="4663440" cy="4800600"/>
          </a:xfrm>
          <a:prstGeom prst="roundRect">
            <a:avLst>
              <a:gd name="adj" fmla="val 1569"/>
            </a:avLst>
          </a:prstGeom>
          <a:solidFill>
            <a:schemeClr val="bg2"/>
          </a:solidFill>
          <a:ln w="12700">
            <a:solidFill>
              <a:schemeClr val="bg2"/>
            </a:solidFill>
            <a:prstDash val="solid"/>
          </a:ln>
        </p:spPr>
      </p:sp>
      <p:sp>
        <p:nvSpPr>
          <p:cNvPr id="17" name="text-364"/>
          <p:cNvSpPr txBox="1"/>
          <p:nvPr/>
        </p:nvSpPr>
        <p:spPr>
          <a:xfrm>
            <a:off x="7223760" y="1508760"/>
            <a:ext cx="4206240" cy="685800"/>
          </a:xfrm>
          <a:prstGeom prst="rect">
            <a:avLst/>
          </a:prstGeom>
          <a:noFill/>
          <a:ln/>
        </p:spPr>
        <p:txBody>
          <a:bodyPr wrap="square" lIns="0" tIns="0" rIns="0" bIns="0" rtlCol="0" anchor="t"/>
          <a:lstStyle/>
          <a:p>
            <a:pPr indent="0" marL="0">
              <a:buNone/>
            </a:pPr>
            <a:r>
              <a:rPr lang="en-US" sz="1800" b="1" dirty="0">
                <a:solidFill>
                  <a:schemeClr val="tx1"/>
                </a:solidFill>
              </a:rPr>
              <a:t>"Directly develops from" covers two shapes</a:t>
            </a:r>
            <a:endParaRPr lang="en-US" sz="1800" dirty="0"/>
          </a:p>
        </p:txBody>
      </p:sp>
      <p:sp>
        <p:nvSpPr>
          <p:cNvPr id="18" name="text-365"/>
          <p:cNvSpPr txBox="1"/>
          <p:nvPr/>
        </p:nvSpPr>
        <p:spPr>
          <a:xfrm>
            <a:off x="7223760" y="2286000"/>
            <a:ext cx="4206240" cy="320040"/>
          </a:xfrm>
          <a:prstGeom prst="rect">
            <a:avLst/>
          </a:prstGeom>
          <a:noFill/>
          <a:ln/>
        </p:spPr>
        <p:txBody>
          <a:bodyPr wrap="square" lIns="0" tIns="0" rIns="0" bIns="0" rtlCol="0" anchor="t"/>
          <a:lstStyle/>
          <a:p>
            <a:pPr indent="0" marL="0">
              <a:buNone/>
            </a:pPr>
            <a:r>
              <a:rPr lang="en-US" sz="1500" b="1" dirty="0">
                <a:solidFill>
                  <a:schemeClr val="accent1"/>
                </a:solidFill>
              </a:rPr>
              <a:t>Budding: the precursor persists</a:t>
            </a:r>
            <a:endParaRPr lang="en-US" sz="1500" dirty="0"/>
          </a:p>
        </p:txBody>
      </p:sp>
      <p:sp>
        <p:nvSpPr>
          <p:cNvPr id="19" name="bar-366"/>
          <p:cNvSpPr txBox="1"/>
          <p:nvPr/>
        </p:nvSpPr>
        <p:spPr>
          <a:xfrm>
            <a:off x="7223760" y="2697480"/>
            <a:ext cx="4114800" cy="329184"/>
          </a:xfrm>
          <a:prstGeom prst="roundRect">
            <a:avLst>
              <a:gd name="adj" fmla="val 19444"/>
            </a:avLst>
          </a:prstGeom>
          <a:solidFill>
            <a:schemeClr val="accent6"/>
          </a:solidFill>
          <a:ln>
            <a:solidFill>
              <a:schemeClr val="accent6"/>
            </a:solidFill>
          </a:ln>
        </p:spPr>
        <p:txBody>
          <a:bodyPr wrap="square" lIns="0" tIns="101600" rIns="101600" bIns="0" rtlCol="0" anchor="ctr"/>
          <a:lstStyle/>
          <a:p>
            <a:pPr algn="l" indent="0" marL="0">
              <a:buNone/>
            </a:pPr>
            <a:r>
              <a:rPr lang="en-US" sz="1300" dirty="0">
                <a:solidFill>
                  <a:schemeClr val="bg1"/>
                </a:solidFill>
              </a:rPr>
              <a:t>neural tube</a:t>
            </a:r>
            <a:endParaRPr lang="en-US" sz="1300" dirty="0"/>
          </a:p>
        </p:txBody>
      </p:sp>
      <p:sp>
        <p:nvSpPr>
          <p:cNvPr id="20" name="bar-367"/>
          <p:cNvSpPr txBox="1"/>
          <p:nvPr/>
        </p:nvSpPr>
        <p:spPr>
          <a:xfrm>
            <a:off x="8778240" y="3108960"/>
            <a:ext cx="2560320" cy="329184"/>
          </a:xfrm>
          <a:prstGeom prst="roundRect">
            <a:avLst>
              <a:gd name="adj" fmla="val 19444"/>
            </a:avLst>
          </a:prstGeom>
          <a:solidFill>
            <a:schemeClr val="accent2"/>
          </a:solidFill>
          <a:ln>
            <a:solidFill>
              <a:schemeClr val="accent2"/>
            </a:solidFill>
          </a:ln>
        </p:spPr>
        <p:txBody>
          <a:bodyPr wrap="square" lIns="0" tIns="101600" rIns="101600" bIns="0" rtlCol="0" anchor="ctr"/>
          <a:lstStyle/>
          <a:p>
            <a:pPr algn="l" indent="0" marL="0">
              <a:buNone/>
            </a:pPr>
            <a:r>
              <a:rPr lang="en-US" sz="1300" dirty="0">
                <a:solidFill>
                  <a:schemeClr val="tx1"/>
                </a:solidFill>
              </a:rPr>
              <a:t>neural crest</a:t>
            </a:r>
            <a:endParaRPr lang="en-US" sz="1300" dirty="0"/>
          </a:p>
        </p:txBody>
      </p:sp>
      <p:sp>
        <p:nvSpPr>
          <p:cNvPr id="21" name="text-368"/>
          <p:cNvSpPr txBox="1"/>
          <p:nvPr/>
        </p:nvSpPr>
        <p:spPr>
          <a:xfrm>
            <a:off x="7223760" y="3703320"/>
            <a:ext cx="4206240" cy="320040"/>
          </a:xfrm>
          <a:prstGeom prst="rect">
            <a:avLst/>
          </a:prstGeom>
          <a:noFill/>
          <a:ln/>
        </p:spPr>
        <p:txBody>
          <a:bodyPr wrap="square" lIns="0" tIns="0" rIns="0" bIns="0" rtlCol="0" anchor="t"/>
          <a:lstStyle/>
          <a:p>
            <a:pPr indent="0" marL="0">
              <a:buNone/>
            </a:pPr>
            <a:r>
              <a:rPr lang="en-US" sz="1500" b="1" dirty="0">
                <a:solidFill>
                  <a:schemeClr val="accent1"/>
                </a:solidFill>
              </a:rPr>
              <a:t>Transformation: the precursor becomes the product</a:t>
            </a:r>
            <a:endParaRPr lang="en-US" sz="1500" dirty="0"/>
          </a:p>
        </p:txBody>
      </p:sp>
      <p:sp>
        <p:nvSpPr>
          <p:cNvPr id="22" name="bar-369"/>
          <p:cNvSpPr txBox="1"/>
          <p:nvPr/>
        </p:nvSpPr>
        <p:spPr>
          <a:xfrm>
            <a:off x="7223760" y="4114800"/>
            <a:ext cx="2103120" cy="329184"/>
          </a:xfrm>
          <a:prstGeom prst="roundRect">
            <a:avLst>
              <a:gd name="adj" fmla="val 19444"/>
            </a:avLst>
          </a:prstGeom>
          <a:solidFill>
            <a:schemeClr val="accent6"/>
          </a:solidFill>
          <a:ln>
            <a:solidFill>
              <a:schemeClr val="accent6"/>
            </a:solidFill>
          </a:ln>
        </p:spPr>
        <p:txBody>
          <a:bodyPr wrap="square" lIns="0" tIns="101600" rIns="101600" bIns="0" rtlCol="0" anchor="ctr"/>
          <a:lstStyle/>
          <a:p>
            <a:pPr algn="l" indent="0" marL="0">
              <a:buNone/>
            </a:pPr>
            <a:r>
              <a:rPr lang="en-US" sz="1300" dirty="0">
                <a:solidFill>
                  <a:schemeClr val="bg1"/>
                </a:solidFill>
              </a:rPr>
              <a:t>otic placode</a:t>
            </a:r>
            <a:endParaRPr lang="en-US" sz="1300" dirty="0"/>
          </a:p>
        </p:txBody>
      </p:sp>
      <p:sp>
        <p:nvSpPr>
          <p:cNvPr id="23" name="bar-370"/>
          <p:cNvSpPr txBox="1"/>
          <p:nvPr/>
        </p:nvSpPr>
        <p:spPr>
          <a:xfrm>
            <a:off x="9326880" y="4526280"/>
            <a:ext cx="2011680" cy="329184"/>
          </a:xfrm>
          <a:prstGeom prst="roundRect">
            <a:avLst>
              <a:gd name="adj" fmla="val 19444"/>
            </a:avLst>
          </a:prstGeom>
          <a:solidFill>
            <a:schemeClr val="accent2"/>
          </a:solidFill>
          <a:ln>
            <a:solidFill>
              <a:schemeClr val="accent2"/>
            </a:solidFill>
          </a:ln>
        </p:spPr>
        <p:txBody>
          <a:bodyPr wrap="square" lIns="0" tIns="101600" rIns="101600" bIns="0" rtlCol="0" anchor="ctr"/>
          <a:lstStyle/>
          <a:p>
            <a:pPr algn="l" indent="0" marL="0">
              <a:buNone/>
            </a:pPr>
            <a:r>
              <a:rPr lang="en-US" sz="1300" dirty="0">
                <a:solidFill>
                  <a:schemeClr val="tx1"/>
                </a:solidFill>
              </a:rPr>
              <a:t>otic pit</a:t>
            </a:r>
            <a:endParaRPr lang="en-US" sz="1300" dirty="0"/>
          </a:p>
        </p:txBody>
      </p:sp>
      <p:sp>
        <p:nvSpPr>
          <p:cNvPr id="24" name="text-371"/>
          <p:cNvSpPr txBox="1"/>
          <p:nvPr/>
        </p:nvSpPr>
        <p:spPr>
          <a:xfrm>
            <a:off x="7223760" y="5074920"/>
            <a:ext cx="4206240" cy="1005840"/>
          </a:xfrm>
          <a:prstGeom prst="rect">
            <a:avLst/>
          </a:prstGeom>
          <a:noFill/>
          <a:ln/>
        </p:spPr>
        <p:txBody>
          <a:bodyPr wrap="square" lIns="0" tIns="0" rIns="0" bIns="0" rtlCol="0" anchor="t"/>
          <a:lstStyle/>
          <a:p>
            <a:pPr indent="0" marL="0">
              <a:buNone/>
            </a:pPr>
            <a:r>
              <a:rPr lang="en-US" sz="1300" dirty="0">
                <a:solidFill>
                  <a:schemeClr val="accent6"/>
                </a:solidFill>
              </a:rPr>
              <a:t>No separate budding relation is needed: it is direct development that is not a transformation. RO's current definition of directly_develops_from rules budding out, a change we would propose.</a:t>
            </a:r>
            <a:endParaRPr lang="en-US" sz="13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What does part_of mean in time?</a:t>
            </a:r>
            <a:endParaRPr lang="en-US" sz="3000" dirty="0"/>
          </a:p>
        </p:txBody>
      </p:sp>
      <p:sp>
        <p:nvSpPr>
          <p:cNvPr id="3" name="box-372"/>
          <p:cNvSpPr/>
          <p:nvPr/>
        </p:nvSpPr>
        <p:spPr>
          <a:xfrm>
            <a:off x="548640" y="1325880"/>
            <a:ext cx="3566160" cy="4160520"/>
          </a:xfrm>
          <a:prstGeom prst="roundRect">
            <a:avLst>
              <a:gd name="adj" fmla="val 2051"/>
            </a:avLst>
          </a:prstGeom>
          <a:solidFill>
            <a:schemeClr val="bg2"/>
          </a:solidFill>
          <a:ln w="12700">
            <a:solidFill>
              <a:schemeClr val="bg2"/>
            </a:solidFill>
            <a:prstDash val="solid"/>
          </a:ln>
        </p:spPr>
      </p:sp>
      <p:sp>
        <p:nvSpPr>
          <p:cNvPr id="4" name="text-373"/>
          <p:cNvSpPr txBox="1"/>
          <p:nvPr/>
        </p:nvSpPr>
        <p:spPr>
          <a:xfrm>
            <a:off x="777240" y="1508760"/>
            <a:ext cx="3108960" cy="868680"/>
          </a:xfrm>
          <a:prstGeom prst="rect">
            <a:avLst/>
          </a:prstGeom>
          <a:noFill/>
          <a:ln/>
        </p:spPr>
        <p:txBody>
          <a:bodyPr wrap="square" lIns="0" tIns="0" rIns="0" bIns="0" rtlCol="0" anchor="t"/>
          <a:lstStyle/>
          <a:p>
            <a:pPr indent="0" marL="0">
              <a:buNone/>
            </a:pPr>
            <a:r>
              <a:rPr lang="en-US" sz="1700" b="1" dirty="0">
                <a:solidFill>
                  <a:schemeClr val="tx1"/>
                </a:solidFill>
              </a:rPr>
              <a:t>Part exists only while the whole does</a:t>
            </a:r>
            <a:endParaRPr lang="en-US" sz="1700" dirty="0"/>
          </a:p>
        </p:txBody>
      </p:sp>
      <p:sp>
        <p:nvSpPr>
          <p:cNvPr id="5" name="bar-374"/>
          <p:cNvSpPr txBox="1"/>
          <p:nvPr/>
        </p:nvSpPr>
        <p:spPr>
          <a:xfrm>
            <a:off x="991210" y="2606040"/>
            <a:ext cx="2924251" cy="329184"/>
          </a:xfrm>
          <a:prstGeom prst="roundRect">
            <a:avLst>
              <a:gd name="adj" fmla="val 19444"/>
            </a:avLst>
          </a:prstGeom>
          <a:solidFill>
            <a:schemeClr val="accent6"/>
          </a:solidFill>
          <a:ln>
            <a:solidFill>
              <a:schemeClr val="accent6"/>
            </a:solidFill>
          </a:ln>
        </p:spPr>
        <p:txBody>
          <a:bodyPr wrap="square" lIns="0" tIns="101600" rIns="101600" bIns="0" rtlCol="0" anchor="ctr"/>
          <a:lstStyle/>
          <a:p>
            <a:pPr algn="l" indent="0" marL="0">
              <a:buNone/>
            </a:pPr>
            <a:r>
              <a:rPr lang="en-US" sz="1300" dirty="0">
                <a:solidFill>
                  <a:schemeClr val="bg1"/>
                </a:solidFill>
              </a:rPr>
              <a:t>whole</a:t>
            </a:r>
            <a:endParaRPr lang="en-US" sz="1300" dirty="0"/>
          </a:p>
        </p:txBody>
      </p:sp>
      <p:sp>
        <p:nvSpPr>
          <p:cNvPr id="6" name="bar-375"/>
          <p:cNvSpPr txBox="1"/>
          <p:nvPr/>
        </p:nvSpPr>
        <p:spPr>
          <a:xfrm>
            <a:off x="1490472" y="3063240"/>
            <a:ext cx="1925726" cy="329184"/>
          </a:xfrm>
          <a:prstGeom prst="roundRect">
            <a:avLst>
              <a:gd name="adj" fmla="val 19444"/>
            </a:avLst>
          </a:prstGeom>
          <a:solidFill>
            <a:schemeClr val="accent1"/>
          </a:solidFill>
          <a:ln>
            <a:solidFill>
              <a:schemeClr val="accent1"/>
            </a:solidFill>
          </a:ln>
        </p:spPr>
        <p:txBody>
          <a:bodyPr wrap="square" lIns="0" tIns="101600" rIns="101600" bIns="0" rtlCol="0" anchor="ctr"/>
          <a:lstStyle/>
          <a:p>
            <a:pPr algn="l" indent="0" marL="0">
              <a:buNone/>
            </a:pPr>
            <a:r>
              <a:rPr lang="en-US" sz="1300" dirty="0">
                <a:solidFill>
                  <a:schemeClr val="bg1"/>
                </a:solidFill>
              </a:rPr>
              <a:t>part</a:t>
            </a:r>
            <a:endParaRPr lang="en-US" sz="1300" dirty="0"/>
          </a:p>
        </p:txBody>
      </p:sp>
      <p:sp>
        <p:nvSpPr>
          <p:cNvPr id="7" name="text-376"/>
          <p:cNvSpPr txBox="1"/>
          <p:nvPr/>
        </p:nvSpPr>
        <p:spPr>
          <a:xfrm>
            <a:off x="777240" y="3657600"/>
            <a:ext cx="3108960" cy="914400"/>
          </a:xfrm>
          <a:prstGeom prst="rect">
            <a:avLst/>
          </a:prstGeom>
          <a:noFill/>
          <a:ln/>
        </p:spPr>
        <p:txBody>
          <a:bodyPr wrap="square" lIns="0" tIns="0" rIns="0" bIns="0" rtlCol="0" anchor="t"/>
          <a:lstStyle/>
          <a:p>
            <a:pPr indent="0" marL="0">
              <a:buNone/>
            </a:pPr>
            <a:r>
              <a:rPr lang="en-US" sz="1500" dirty="0">
                <a:solidFill>
                  <a:schemeClr val="tx1"/>
                </a:solidFill>
              </a:rPr>
              <a:t>Every part_of edge constrains both ends of the part.</a:t>
            </a:r>
            <a:endParaRPr lang="en-US" sz="1500" dirty="0"/>
          </a:p>
        </p:txBody>
      </p:sp>
      <p:sp>
        <p:nvSpPr>
          <p:cNvPr id="8" name="chip-377"/>
          <p:cNvSpPr txBox="1"/>
          <p:nvPr/>
        </p:nvSpPr>
        <p:spPr>
          <a:xfrm>
            <a:off x="777240" y="4800600"/>
            <a:ext cx="1554480" cy="347472"/>
          </a:xfrm>
          <a:prstGeom prst="roundRect">
            <a:avLst>
              <a:gd name="adj" fmla="val 31579"/>
            </a:avLst>
          </a:prstGeom>
          <a:solidFill>
            <a:schemeClr val="accent3"/>
          </a:solidFill>
          <a:ln>
            <a:solidFill>
              <a:schemeClr val="accent3"/>
            </a:solidFill>
          </a:ln>
        </p:spPr>
        <p:txBody>
          <a:bodyPr wrap="square" lIns="0" tIns="0" rIns="0" bIns="0" rtlCol="0" anchor="ctr"/>
          <a:lstStyle/>
          <a:p>
            <a:pPr algn="ctr" indent="0" marL="0">
              <a:buNone/>
            </a:pPr>
            <a:r>
              <a:rPr lang="en-US" sz="1300" b="1" dirty="0">
                <a:solidFill>
                  <a:schemeClr val="bg1"/>
                </a:solidFill>
              </a:rPr>
              <a:t>10 conflicts</a:t>
            </a:r>
            <a:endParaRPr lang="en-US" sz="1300" dirty="0"/>
          </a:p>
        </p:txBody>
      </p:sp>
      <p:sp>
        <p:nvSpPr>
          <p:cNvPr id="9" name="box-378"/>
          <p:cNvSpPr/>
          <p:nvPr/>
        </p:nvSpPr>
        <p:spPr>
          <a:xfrm>
            <a:off x="4297680" y="1325880"/>
            <a:ext cx="3566160" cy="4160520"/>
          </a:xfrm>
          <a:prstGeom prst="roundRect">
            <a:avLst>
              <a:gd name="adj" fmla="val 2051"/>
            </a:avLst>
          </a:prstGeom>
          <a:solidFill>
            <a:schemeClr val="bg2"/>
          </a:solidFill>
          <a:ln w="12700">
            <a:solidFill>
              <a:schemeClr val="bg2"/>
            </a:solidFill>
            <a:prstDash val="solid"/>
          </a:ln>
        </p:spPr>
      </p:sp>
      <p:sp>
        <p:nvSpPr>
          <p:cNvPr id="10" name="text-379"/>
          <p:cNvSpPr txBox="1"/>
          <p:nvPr/>
        </p:nvSpPr>
        <p:spPr>
          <a:xfrm>
            <a:off x="4526280" y="1508760"/>
            <a:ext cx="3108960" cy="868680"/>
          </a:xfrm>
          <a:prstGeom prst="rect">
            <a:avLst/>
          </a:prstGeom>
          <a:noFill/>
          <a:ln/>
        </p:spPr>
        <p:txBody>
          <a:bodyPr wrap="square" lIns="0" tIns="0" rIns="0" bIns="0" rtlCol="0" anchor="t"/>
          <a:lstStyle/>
          <a:p>
            <a:pPr indent="0" marL="0">
              <a:buNone/>
            </a:pPr>
            <a:r>
              <a:rPr lang="en-US" sz="1700" b="1" dirty="0">
                <a:solidFill>
                  <a:schemeClr val="tx1"/>
                </a:solidFill>
              </a:rPr>
              <a:t>Part of the whole whenever both exist, and they do coexist</a:t>
            </a:r>
            <a:endParaRPr lang="en-US" sz="1700" dirty="0"/>
          </a:p>
        </p:txBody>
      </p:sp>
      <p:sp>
        <p:nvSpPr>
          <p:cNvPr id="11" name="bar-380"/>
          <p:cNvSpPr txBox="1"/>
          <p:nvPr/>
        </p:nvSpPr>
        <p:spPr>
          <a:xfrm>
            <a:off x="4740250" y="2606040"/>
            <a:ext cx="2068373" cy="329184"/>
          </a:xfrm>
          <a:prstGeom prst="roundRect">
            <a:avLst>
              <a:gd name="adj" fmla="val 19444"/>
            </a:avLst>
          </a:prstGeom>
          <a:solidFill>
            <a:schemeClr val="accent6"/>
          </a:solidFill>
          <a:ln>
            <a:solidFill>
              <a:schemeClr val="accent6"/>
            </a:solidFill>
          </a:ln>
        </p:spPr>
        <p:txBody>
          <a:bodyPr wrap="square" lIns="0" tIns="101600" rIns="101600" bIns="0" rtlCol="0" anchor="ctr"/>
          <a:lstStyle/>
          <a:p>
            <a:pPr algn="l" indent="0" marL="0">
              <a:buNone/>
            </a:pPr>
            <a:r>
              <a:rPr lang="en-US" sz="1300" dirty="0">
                <a:solidFill>
                  <a:schemeClr val="bg1"/>
                </a:solidFill>
              </a:rPr>
              <a:t>whole</a:t>
            </a:r>
            <a:endParaRPr lang="en-US" sz="1300" dirty="0"/>
          </a:p>
        </p:txBody>
      </p:sp>
      <p:sp>
        <p:nvSpPr>
          <p:cNvPr id="12" name="bar-381"/>
          <p:cNvSpPr txBox="1"/>
          <p:nvPr/>
        </p:nvSpPr>
        <p:spPr>
          <a:xfrm>
            <a:off x="5881421" y="3063240"/>
            <a:ext cx="1783080" cy="329184"/>
          </a:xfrm>
          <a:prstGeom prst="roundRect">
            <a:avLst>
              <a:gd name="adj" fmla="val 19444"/>
            </a:avLst>
          </a:prstGeom>
          <a:solidFill>
            <a:schemeClr val="accent1"/>
          </a:solidFill>
          <a:ln>
            <a:solidFill>
              <a:schemeClr val="accent1"/>
            </a:solidFill>
          </a:ln>
        </p:spPr>
        <p:txBody>
          <a:bodyPr wrap="square" lIns="0" tIns="101600" rIns="101600" bIns="0" rtlCol="0" anchor="ctr"/>
          <a:lstStyle/>
          <a:p>
            <a:pPr algn="l" indent="0" marL="0">
              <a:buNone/>
            </a:pPr>
            <a:r>
              <a:rPr lang="en-US" sz="1300" dirty="0">
                <a:solidFill>
                  <a:schemeClr val="bg1"/>
                </a:solidFill>
              </a:rPr>
              <a:t>part</a:t>
            </a:r>
            <a:endParaRPr lang="en-US" sz="1300" dirty="0"/>
          </a:p>
        </p:txBody>
      </p:sp>
      <p:sp>
        <p:nvSpPr>
          <p:cNvPr id="13" name="text-382"/>
          <p:cNvSpPr txBox="1"/>
          <p:nvPr/>
        </p:nvSpPr>
        <p:spPr>
          <a:xfrm>
            <a:off x="4526280" y="3657600"/>
            <a:ext cx="3108960" cy="914400"/>
          </a:xfrm>
          <a:prstGeom prst="rect">
            <a:avLst/>
          </a:prstGeom>
          <a:noFill/>
          <a:ln/>
        </p:spPr>
        <p:txBody>
          <a:bodyPr wrap="square" lIns="0" tIns="0" rIns="0" bIns="0" rtlCol="0" anchor="t"/>
          <a:lstStyle/>
          <a:p>
            <a:pPr indent="0" marL="0">
              <a:buNone/>
            </a:pPr>
            <a:r>
              <a:rPr lang="en-US" sz="1500" dirty="0">
                <a:solidFill>
                  <a:schemeClr val="tx1"/>
                </a:solidFill>
              </a:rPr>
              <a:t>Only overlap: each starts before the other ends.</a:t>
            </a:r>
            <a:endParaRPr lang="en-US" sz="1500" dirty="0"/>
          </a:p>
        </p:txBody>
      </p:sp>
      <p:sp>
        <p:nvSpPr>
          <p:cNvPr id="14" name="chip-383"/>
          <p:cNvSpPr txBox="1"/>
          <p:nvPr/>
        </p:nvSpPr>
        <p:spPr>
          <a:xfrm>
            <a:off x="4526280" y="4800600"/>
            <a:ext cx="1554480" cy="347472"/>
          </a:xfrm>
          <a:prstGeom prst="roundRect">
            <a:avLst>
              <a:gd name="adj" fmla="val 31579"/>
            </a:avLst>
          </a:prstGeom>
          <a:solidFill>
            <a:schemeClr val="accent2"/>
          </a:solidFill>
          <a:ln>
            <a:solidFill>
              <a:schemeClr val="accent2"/>
            </a:solidFill>
          </a:ln>
        </p:spPr>
        <p:txBody>
          <a:bodyPr wrap="square" lIns="0" tIns="0" rIns="0" bIns="0" rtlCol="0" anchor="ctr"/>
          <a:lstStyle/>
          <a:p>
            <a:pPr algn="ctr" indent="0" marL="0">
              <a:buNone/>
            </a:pPr>
            <a:r>
              <a:rPr lang="en-US" sz="1300" b="1" dirty="0">
                <a:solidFill>
                  <a:schemeClr val="bg1"/>
                </a:solidFill>
              </a:rPr>
              <a:t>2 conflicts</a:t>
            </a:r>
            <a:endParaRPr lang="en-US" sz="1300" dirty="0"/>
          </a:p>
        </p:txBody>
      </p:sp>
      <p:sp>
        <p:nvSpPr>
          <p:cNvPr id="15" name="box-384"/>
          <p:cNvSpPr/>
          <p:nvPr/>
        </p:nvSpPr>
        <p:spPr>
          <a:xfrm>
            <a:off x="8046720" y="1325880"/>
            <a:ext cx="3566160" cy="4160520"/>
          </a:xfrm>
          <a:prstGeom prst="roundRect">
            <a:avLst>
              <a:gd name="adj" fmla="val 2051"/>
            </a:avLst>
          </a:prstGeom>
          <a:solidFill>
            <a:schemeClr val="bg2"/>
          </a:solidFill>
          <a:ln w="12700">
            <a:solidFill>
              <a:schemeClr val="bg2"/>
            </a:solidFill>
            <a:prstDash val="solid"/>
          </a:ln>
        </p:spPr>
      </p:sp>
      <p:sp>
        <p:nvSpPr>
          <p:cNvPr id="16" name="text-385"/>
          <p:cNvSpPr txBox="1"/>
          <p:nvPr/>
        </p:nvSpPr>
        <p:spPr>
          <a:xfrm>
            <a:off x="8275320" y="1508760"/>
            <a:ext cx="3108960" cy="868680"/>
          </a:xfrm>
          <a:prstGeom prst="rect">
            <a:avLst/>
          </a:prstGeom>
          <a:noFill/>
          <a:ln/>
        </p:spPr>
        <p:txBody>
          <a:bodyPr wrap="square" lIns="0" tIns="0" rIns="0" bIns="0" rtlCol="0" anchor="t"/>
          <a:lstStyle/>
          <a:p>
            <a:pPr indent="0" marL="0">
              <a:buNone/>
            </a:pPr>
            <a:r>
              <a:rPr lang="en-US" sz="1700" b="1" dirty="0">
                <a:solidFill>
                  <a:schemeClr val="tx1"/>
                </a:solidFill>
              </a:rPr>
              <a:t>Part of the whole whenever both exist</a:t>
            </a:r>
            <a:endParaRPr lang="en-US" sz="1700" dirty="0"/>
          </a:p>
        </p:txBody>
      </p:sp>
      <p:sp>
        <p:nvSpPr>
          <p:cNvPr id="17" name="bar-386"/>
          <p:cNvSpPr txBox="1"/>
          <p:nvPr/>
        </p:nvSpPr>
        <p:spPr>
          <a:xfrm>
            <a:off x="8489290" y="2606040"/>
            <a:ext cx="1141171" cy="329184"/>
          </a:xfrm>
          <a:prstGeom prst="roundRect">
            <a:avLst>
              <a:gd name="adj" fmla="val 19444"/>
            </a:avLst>
          </a:prstGeom>
          <a:solidFill>
            <a:schemeClr val="accent6"/>
          </a:solidFill>
          <a:ln>
            <a:solidFill>
              <a:schemeClr val="accent6"/>
            </a:solidFill>
          </a:ln>
        </p:spPr>
        <p:txBody>
          <a:bodyPr wrap="square" lIns="0" tIns="101600" rIns="101600" bIns="0" rtlCol="0" anchor="ctr"/>
          <a:lstStyle/>
          <a:p>
            <a:pPr algn="l" indent="0" marL="0">
              <a:buNone/>
            </a:pPr>
            <a:r>
              <a:rPr lang="en-US" sz="1300" dirty="0">
                <a:solidFill>
                  <a:schemeClr val="bg1"/>
                </a:solidFill>
              </a:rPr>
              <a:t>whole</a:t>
            </a:r>
            <a:endParaRPr lang="en-US" sz="1300" dirty="0"/>
          </a:p>
        </p:txBody>
      </p:sp>
      <p:sp>
        <p:nvSpPr>
          <p:cNvPr id="18" name="bar-387"/>
          <p:cNvSpPr txBox="1"/>
          <p:nvPr/>
        </p:nvSpPr>
        <p:spPr>
          <a:xfrm>
            <a:off x="9987077" y="3063240"/>
            <a:ext cx="1355141" cy="329184"/>
          </a:xfrm>
          <a:prstGeom prst="roundRect">
            <a:avLst>
              <a:gd name="adj" fmla="val 19444"/>
            </a:avLst>
          </a:prstGeom>
          <a:solidFill>
            <a:schemeClr val="accent1"/>
          </a:solidFill>
          <a:ln>
            <a:solidFill>
              <a:schemeClr val="accent1"/>
            </a:solidFill>
          </a:ln>
        </p:spPr>
        <p:txBody>
          <a:bodyPr wrap="square" lIns="0" tIns="101600" rIns="101600" bIns="0" rtlCol="0" anchor="ctr"/>
          <a:lstStyle/>
          <a:p>
            <a:pPr algn="l" indent="0" marL="0">
              <a:buNone/>
            </a:pPr>
            <a:r>
              <a:rPr lang="en-US" sz="1300" dirty="0">
                <a:solidFill>
                  <a:schemeClr val="bg1"/>
                </a:solidFill>
              </a:rPr>
              <a:t>part</a:t>
            </a:r>
            <a:endParaRPr lang="en-US" sz="1300" dirty="0"/>
          </a:p>
        </p:txBody>
      </p:sp>
      <p:sp>
        <p:nvSpPr>
          <p:cNvPr id="19" name="text-388"/>
          <p:cNvSpPr txBox="1"/>
          <p:nvPr/>
        </p:nvSpPr>
        <p:spPr>
          <a:xfrm>
            <a:off x="8275320" y="3657600"/>
            <a:ext cx="3108960" cy="914400"/>
          </a:xfrm>
          <a:prstGeom prst="rect">
            <a:avLst/>
          </a:prstGeom>
          <a:noFill/>
          <a:ln/>
        </p:spPr>
        <p:txBody>
          <a:bodyPr wrap="square" lIns="0" tIns="0" rIns="0" bIns="0" rtlCol="0" anchor="t"/>
          <a:lstStyle/>
          <a:p>
            <a:pPr indent="0" marL="0">
              <a:buNone/>
            </a:pPr>
            <a:r>
              <a:rPr lang="en-US" sz="1500" dirty="0">
                <a:solidFill>
                  <a:schemeClr val="tx1"/>
                </a:solidFill>
              </a:rPr>
              <a:t>True even of things that never coexist. No timing content.</a:t>
            </a:r>
            <a:endParaRPr lang="en-US" sz="1500" dirty="0"/>
          </a:p>
        </p:txBody>
      </p:sp>
      <p:sp>
        <p:nvSpPr>
          <p:cNvPr id="20" name="chip-389"/>
          <p:cNvSpPr txBox="1"/>
          <p:nvPr/>
        </p:nvSpPr>
        <p:spPr>
          <a:xfrm>
            <a:off x="8275320" y="4800600"/>
            <a:ext cx="1554480" cy="347472"/>
          </a:xfrm>
          <a:prstGeom prst="roundRect">
            <a:avLst>
              <a:gd name="adj" fmla="val 31579"/>
            </a:avLst>
          </a:prstGeom>
          <a:solidFill>
            <a:schemeClr val="accent4"/>
          </a:solidFill>
          <a:ln>
            <a:solidFill>
              <a:schemeClr val="accent4"/>
            </a:solidFill>
          </a:ln>
        </p:spPr>
        <p:txBody>
          <a:bodyPr wrap="square" lIns="0" tIns="0" rIns="0" bIns="0" rtlCol="0" anchor="ctr"/>
          <a:lstStyle/>
          <a:p>
            <a:pPr algn="ctr" indent="0" marL="0">
              <a:buNone/>
            </a:pPr>
            <a:r>
              <a:rPr lang="en-US" sz="1300" b="1" dirty="0">
                <a:solidFill>
                  <a:schemeClr val="bg1"/>
                </a:solidFill>
              </a:rPr>
              <a:t>no constraint</a:t>
            </a:r>
            <a:endParaRPr lang="en-US" sz="1300" dirty="0"/>
          </a:p>
        </p:txBody>
      </p:sp>
      <p:sp>
        <p:nvSpPr>
          <p:cNvPr id="21" name="text-390"/>
          <p:cNvSpPr txBox="1"/>
          <p:nvPr/>
        </p:nvSpPr>
        <p:spPr>
          <a:xfrm>
            <a:off x="548640" y="5669280"/>
            <a:ext cx="11064240" cy="548640"/>
          </a:xfrm>
          <a:prstGeom prst="rect">
            <a:avLst/>
          </a:prstGeom>
          <a:noFill/>
          <a:ln/>
        </p:spPr>
        <p:txBody>
          <a:bodyPr wrap="square" lIns="0" tIns="0" rIns="0" bIns="0" rtlCol="0" anchor="t"/>
          <a:lstStyle/>
          <a:p>
            <a:pPr indent="0" marL="0">
              <a:buNone/>
            </a:pPr>
            <a:r>
              <a:rPr lang="en-US" sz="1600" b="1" dirty="0">
                <a:solidFill>
                  <a:schemeClr val="accent6"/>
                </a:solidFill>
              </a:rPr>
              <a:t>The reading decides most of what the network can find. The 2 conflicts that survive the weak reading do not involve part_of at all.</a:t>
            </a:r>
            <a:endParaRPr lang="en-US" sz="16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Assume overlap, test containment edge by edge</a:t>
            </a:r>
            <a:endParaRPr lang="en-US" sz="3000" dirty="0"/>
          </a:p>
        </p:txBody>
      </p:sp>
      <p:sp>
        <p:nvSpPr>
          <p:cNvPr id="3" name="text-391"/>
          <p:cNvSpPr txBox="1"/>
          <p:nvPr/>
        </p:nvSpPr>
        <p:spPr>
          <a:xfrm>
            <a:off x="548640" y="1325880"/>
            <a:ext cx="5852160" cy="365760"/>
          </a:xfrm>
          <a:prstGeom prst="rect">
            <a:avLst/>
          </a:prstGeom>
          <a:noFill/>
          <a:ln/>
        </p:spPr>
        <p:txBody>
          <a:bodyPr wrap="square" lIns="0" tIns="0" rIns="0" bIns="0" rtlCol="0" anchor="t"/>
          <a:lstStyle/>
          <a:p>
            <a:pPr indent="0" marL="0">
              <a:buNone/>
            </a:pPr>
            <a:r>
              <a:rPr lang="en-US" sz="1800" b="1" dirty="0">
                <a:solidFill>
                  <a:schemeClr val="accent1"/>
                </a:solidFill>
              </a:rPr>
              <a:t>A part that outlives its whole</a:t>
            </a:r>
            <a:endParaRPr lang="en-US" sz="1800" dirty="0"/>
          </a:p>
        </p:txBody>
      </p:sp>
      <p:sp>
        <p:nvSpPr>
          <p:cNvPr id="4" name="stage-392"/>
          <p:cNvSpPr txBox="1"/>
          <p:nvPr/>
        </p:nvSpPr>
        <p:spPr>
          <a:xfrm>
            <a:off x="548640" y="1783080"/>
            <a:ext cx="1170432"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CS9</a:t>
            </a:r>
            <a:endParaRPr lang="en-US" sz="1200" dirty="0"/>
          </a:p>
        </p:txBody>
      </p:sp>
      <p:sp>
        <p:nvSpPr>
          <p:cNvPr id="5" name="stage-393"/>
          <p:cNvSpPr txBox="1"/>
          <p:nvPr/>
        </p:nvSpPr>
        <p:spPr>
          <a:xfrm>
            <a:off x="1719072" y="1783080"/>
            <a:ext cx="1170432"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CS10</a:t>
            </a:r>
            <a:endParaRPr lang="en-US" sz="1200" dirty="0"/>
          </a:p>
        </p:txBody>
      </p:sp>
      <p:sp>
        <p:nvSpPr>
          <p:cNvPr id="6" name="stage-394"/>
          <p:cNvSpPr txBox="1"/>
          <p:nvPr/>
        </p:nvSpPr>
        <p:spPr>
          <a:xfrm>
            <a:off x="2889504" y="1783080"/>
            <a:ext cx="1170432"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CS11</a:t>
            </a:r>
            <a:endParaRPr lang="en-US" sz="1200" dirty="0"/>
          </a:p>
        </p:txBody>
      </p:sp>
      <p:sp>
        <p:nvSpPr>
          <p:cNvPr id="7" name="stage-395"/>
          <p:cNvSpPr txBox="1"/>
          <p:nvPr/>
        </p:nvSpPr>
        <p:spPr>
          <a:xfrm>
            <a:off x="4059936" y="1783080"/>
            <a:ext cx="1170432"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CS12</a:t>
            </a:r>
            <a:endParaRPr lang="en-US" sz="1200" dirty="0"/>
          </a:p>
        </p:txBody>
      </p:sp>
      <p:sp>
        <p:nvSpPr>
          <p:cNvPr id="8" name="stage-396"/>
          <p:cNvSpPr txBox="1"/>
          <p:nvPr/>
        </p:nvSpPr>
        <p:spPr>
          <a:xfrm>
            <a:off x="5230368" y="1783080"/>
            <a:ext cx="1170432"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CS13</a:t>
            </a:r>
            <a:endParaRPr lang="en-US" sz="1200" dirty="0"/>
          </a:p>
        </p:txBody>
      </p:sp>
      <p:sp>
        <p:nvSpPr>
          <p:cNvPr id="9" name="bar-397"/>
          <p:cNvSpPr txBox="1"/>
          <p:nvPr/>
        </p:nvSpPr>
        <p:spPr>
          <a:xfrm>
            <a:off x="899770" y="2377440"/>
            <a:ext cx="2633472" cy="329184"/>
          </a:xfrm>
          <a:prstGeom prst="roundRect">
            <a:avLst>
              <a:gd name="adj" fmla="val 19444"/>
            </a:avLst>
          </a:prstGeom>
          <a:solidFill>
            <a:schemeClr val="accent6"/>
          </a:solidFill>
          <a:ln>
            <a:solidFill>
              <a:schemeClr val="accent6"/>
            </a:solidFill>
          </a:ln>
        </p:spPr>
        <p:txBody>
          <a:bodyPr wrap="square" lIns="0" tIns="101600" rIns="101600" bIns="0" rtlCol="0" anchor="ctr"/>
          <a:lstStyle/>
          <a:p>
            <a:pPr algn="l" indent="0" marL="0">
              <a:buNone/>
            </a:pPr>
            <a:r>
              <a:rPr lang="en-US" sz="1300" dirty="0">
                <a:solidFill>
                  <a:schemeClr val="bg1"/>
                </a:solidFill>
              </a:rPr>
              <a:t>otic placode  (whole)</a:t>
            </a:r>
            <a:endParaRPr lang="en-US" sz="1300" dirty="0"/>
          </a:p>
        </p:txBody>
      </p:sp>
      <p:sp>
        <p:nvSpPr>
          <p:cNvPr id="10" name="bar-398"/>
          <p:cNvSpPr txBox="1"/>
          <p:nvPr/>
        </p:nvSpPr>
        <p:spPr>
          <a:xfrm>
            <a:off x="3240634" y="2834640"/>
            <a:ext cx="1638605" cy="329184"/>
          </a:xfrm>
          <a:prstGeom prst="roundRect">
            <a:avLst>
              <a:gd name="adj" fmla="val 19444"/>
            </a:avLst>
          </a:prstGeom>
          <a:solidFill>
            <a:schemeClr val="accent1"/>
          </a:solidFill>
          <a:ln>
            <a:solidFill>
              <a:schemeClr val="accent1"/>
            </a:solidFill>
          </a:ln>
        </p:spPr>
        <p:txBody>
          <a:bodyPr wrap="square" lIns="0" tIns="101600" rIns="101600" bIns="0" rtlCol="0" anchor="ctr"/>
          <a:lstStyle/>
          <a:p>
            <a:pPr algn="l" indent="0" marL="0">
              <a:buNone/>
            </a:pPr>
            <a:r>
              <a:rPr lang="en-US" sz="1300" dirty="0">
                <a:solidFill>
                  <a:schemeClr val="bg1"/>
                </a:solidFill>
              </a:rPr>
              <a:t>otic pit  (part)</a:t>
            </a:r>
            <a:endParaRPr lang="en-US" sz="1300" dirty="0"/>
          </a:p>
        </p:txBody>
      </p:sp>
      <p:sp>
        <p:nvSpPr>
          <p:cNvPr id="11" name="arrow-399"/>
          <p:cNvSpPr/>
          <p:nvPr/>
        </p:nvSpPr>
        <p:spPr>
          <a:xfrm>
            <a:off x="3533242" y="3429000"/>
            <a:ext cx="1345997" cy="914"/>
          </a:xfrm>
          <a:prstGeom prst="line">
            <a:avLst/>
          </a:prstGeom>
          <a:noFill/>
          <a:ln w="25400">
            <a:solidFill>
              <a:schemeClr val="accent3"/>
            </a:solidFill>
            <a:prstDash val="solid"/>
            <a:headEnd type="triangle"/>
            <a:tailEnd type="triangle"/>
          </a:ln>
        </p:spPr>
      </p:sp>
      <p:sp>
        <p:nvSpPr>
          <p:cNvPr id="12" name="text-400"/>
          <p:cNvSpPr txBox="1"/>
          <p:nvPr/>
        </p:nvSpPr>
        <p:spPr>
          <a:xfrm>
            <a:off x="3350362" y="3520440"/>
            <a:ext cx="2194560" cy="320040"/>
          </a:xfrm>
          <a:prstGeom prst="rect">
            <a:avLst/>
          </a:prstGeom>
          <a:noFill/>
          <a:ln/>
        </p:spPr>
        <p:txBody>
          <a:bodyPr wrap="square" lIns="0" tIns="0" rIns="0" bIns="0" rtlCol="0" anchor="t"/>
          <a:lstStyle/>
          <a:p>
            <a:pPr indent="0" marL="0">
              <a:buNone/>
            </a:pPr>
            <a:r>
              <a:rPr lang="en-US" sz="1400" b="1" dirty="0">
                <a:solidFill>
                  <a:schemeClr val="accent3"/>
                </a:solidFill>
              </a:rPr>
              <a:t>part outlives whole</a:t>
            </a:r>
            <a:endParaRPr lang="en-US" sz="1400" dirty="0"/>
          </a:p>
        </p:txBody>
      </p:sp>
      <p:sp>
        <p:nvSpPr>
          <p:cNvPr id="13" name="text-401"/>
          <p:cNvSpPr txBox="1"/>
          <p:nvPr/>
        </p:nvSpPr>
        <p:spPr>
          <a:xfrm>
            <a:off x="548640" y="4069080"/>
            <a:ext cx="5852160" cy="1280160"/>
          </a:xfrm>
          <a:prstGeom prst="rect">
            <a:avLst/>
          </a:prstGeom>
          <a:noFill/>
          <a:ln/>
        </p:spPr>
        <p:txBody>
          <a:bodyPr wrap="square" lIns="0" tIns="0" rIns="0" bIns="0" rtlCol="0" anchor="t"/>
          <a:lstStyle/>
          <a:p>
            <a:pPr indent="0" marL="0">
              <a:buNone/>
            </a:pPr>
            <a:r>
              <a:rPr lang="en-US" sz="1500" dirty="0">
                <a:solidFill>
                  <a:schemeClr val="tx1"/>
                </a:solidFill>
              </a:rPr>
              <a:t>The pit is the placode after it invaginates: a later phase of the same tissue, recorded as a part. With individuals we can say that directly: one tissue, passing through named phases.</a:t>
            </a:r>
            <a:endParaRPr lang="en-US" sz="1500" dirty="0"/>
          </a:p>
        </p:txBody>
      </p:sp>
      <p:sp>
        <p:nvSpPr>
          <p:cNvPr id="14" name="box-402"/>
          <p:cNvSpPr/>
          <p:nvPr/>
        </p:nvSpPr>
        <p:spPr>
          <a:xfrm>
            <a:off x="6812280" y="1325880"/>
            <a:ext cx="4846320" cy="1051560"/>
          </a:xfrm>
          <a:prstGeom prst="roundRect">
            <a:avLst>
              <a:gd name="adj" fmla="val 6957"/>
            </a:avLst>
          </a:prstGeom>
          <a:solidFill>
            <a:schemeClr val="bg2"/>
          </a:solidFill>
          <a:ln w="12700">
            <a:solidFill>
              <a:schemeClr val="bg2"/>
            </a:solidFill>
            <a:prstDash val="solid"/>
          </a:ln>
        </p:spPr>
      </p:sp>
      <p:sp>
        <p:nvSpPr>
          <p:cNvPr id="15" name="chip-403"/>
          <p:cNvSpPr txBox="1"/>
          <p:nvPr/>
        </p:nvSpPr>
        <p:spPr>
          <a:xfrm>
            <a:off x="6995160" y="1673352"/>
            <a:ext cx="1920240" cy="347472"/>
          </a:xfrm>
          <a:prstGeom prst="roundRect">
            <a:avLst>
              <a:gd name="adj" fmla="val 31579"/>
            </a:avLst>
          </a:prstGeom>
          <a:solidFill>
            <a:schemeClr val="accent3"/>
          </a:solidFill>
          <a:ln>
            <a:solidFill>
              <a:schemeClr val="accent3"/>
            </a:solidFill>
          </a:ln>
        </p:spPr>
        <p:txBody>
          <a:bodyPr wrap="square" lIns="0" tIns="0" rIns="0" bIns="0" rtlCol="0" anchor="ctr"/>
          <a:lstStyle/>
          <a:p>
            <a:pPr algn="ctr" indent="0" marL="0">
              <a:buNone/>
            </a:pPr>
            <a:r>
              <a:rPr lang="en-US" sz="1300" b="1" dirty="0">
                <a:solidFill>
                  <a:schemeClr val="bg1"/>
                </a:solidFill>
              </a:rPr>
              <a:t>Errors</a:t>
            </a:r>
            <a:endParaRPr lang="en-US" sz="1300" dirty="0"/>
          </a:p>
        </p:txBody>
      </p:sp>
      <p:sp>
        <p:nvSpPr>
          <p:cNvPr id="16" name="text-404"/>
          <p:cNvSpPr txBox="1"/>
          <p:nvPr/>
        </p:nvSpPr>
        <p:spPr>
          <a:xfrm>
            <a:off x="9098280" y="1435608"/>
            <a:ext cx="2423160" cy="868680"/>
          </a:xfrm>
          <a:prstGeom prst="rect">
            <a:avLst/>
          </a:prstGeom>
          <a:noFill/>
          <a:ln/>
        </p:spPr>
        <p:txBody>
          <a:bodyPr wrap="square" lIns="0" tIns="0" rIns="0" bIns="0" rtlCol="0" anchor="ctr"/>
          <a:lstStyle/>
          <a:p>
            <a:pPr indent="0" marL="0">
              <a:buNone/>
            </a:pPr>
            <a:r>
              <a:rPr lang="en-US" sz="1400" dirty="0">
                <a:solidFill>
                  <a:schemeClr val="tx1"/>
                </a:solidFill>
              </a:rPr>
              <a:t>Constrain with overlap: violations hold under any reasonable reading.</a:t>
            </a:r>
            <a:endParaRPr lang="en-US" sz="1400" dirty="0"/>
          </a:p>
        </p:txBody>
      </p:sp>
      <p:sp>
        <p:nvSpPr>
          <p:cNvPr id="17" name="box-405"/>
          <p:cNvSpPr/>
          <p:nvPr/>
        </p:nvSpPr>
        <p:spPr>
          <a:xfrm>
            <a:off x="6812280" y="2532888"/>
            <a:ext cx="4846320" cy="1051560"/>
          </a:xfrm>
          <a:prstGeom prst="roundRect">
            <a:avLst>
              <a:gd name="adj" fmla="val 6957"/>
            </a:avLst>
          </a:prstGeom>
          <a:solidFill>
            <a:schemeClr val="bg2"/>
          </a:solidFill>
          <a:ln w="12700">
            <a:solidFill>
              <a:schemeClr val="bg2"/>
            </a:solidFill>
            <a:prstDash val="solid"/>
          </a:ln>
        </p:spPr>
      </p:sp>
      <p:sp>
        <p:nvSpPr>
          <p:cNvPr id="18" name="chip-406"/>
          <p:cNvSpPr txBox="1"/>
          <p:nvPr/>
        </p:nvSpPr>
        <p:spPr>
          <a:xfrm>
            <a:off x="6995160" y="2880360"/>
            <a:ext cx="1920240" cy="347472"/>
          </a:xfrm>
          <a:prstGeom prst="roundRect">
            <a:avLst>
              <a:gd name="adj" fmla="val 31579"/>
            </a:avLst>
          </a:prstGeom>
          <a:solidFill>
            <a:schemeClr val="accent2"/>
          </a:solidFill>
          <a:ln>
            <a:solidFill>
              <a:schemeClr val="accent2"/>
            </a:solidFill>
          </a:ln>
        </p:spPr>
        <p:txBody>
          <a:bodyPr wrap="square" lIns="0" tIns="0" rIns="0" bIns="0" rtlCol="0" anchor="ctr"/>
          <a:lstStyle/>
          <a:p>
            <a:pPr algn="ctr" indent="0" marL="0">
              <a:buNone/>
            </a:pPr>
            <a:r>
              <a:rPr lang="en-US" sz="1300" b="1" dirty="0">
                <a:solidFill>
                  <a:schemeClr val="bg1"/>
                </a:solidFill>
              </a:rPr>
              <a:t>Warnings</a:t>
            </a:r>
            <a:endParaRPr lang="en-US" sz="1300" dirty="0"/>
          </a:p>
        </p:txBody>
      </p:sp>
      <p:sp>
        <p:nvSpPr>
          <p:cNvPr id="19" name="text-407"/>
          <p:cNvSpPr txBox="1"/>
          <p:nvPr/>
        </p:nvSpPr>
        <p:spPr>
          <a:xfrm>
            <a:off x="9098280" y="2642616"/>
            <a:ext cx="2423160" cy="868680"/>
          </a:xfrm>
          <a:prstGeom prst="rect">
            <a:avLst/>
          </a:prstGeom>
          <a:noFill/>
          <a:ln/>
        </p:spPr>
        <p:txBody>
          <a:bodyPr wrap="square" lIns="0" tIns="0" rIns="0" bIns="0" rtlCol="0" anchor="ctr"/>
          <a:lstStyle/>
          <a:p>
            <a:pPr indent="0" marL="0">
              <a:buNone/>
            </a:pPr>
            <a:r>
              <a:rPr lang="en-US" sz="1400" dirty="0">
                <a:solidFill>
                  <a:schemeClr val="tx1"/>
                </a:solidFill>
              </a:rPr>
              <a:t>Check containment per edge: "part outlives whole", "part predates whole".</a:t>
            </a:r>
            <a:endParaRPr lang="en-US" sz="1400" dirty="0"/>
          </a:p>
        </p:txBody>
      </p:sp>
      <p:sp>
        <p:nvSpPr>
          <p:cNvPr id="20" name="box-408"/>
          <p:cNvSpPr/>
          <p:nvPr/>
        </p:nvSpPr>
        <p:spPr>
          <a:xfrm>
            <a:off x="6812280" y="3739896"/>
            <a:ext cx="4846320" cy="1051560"/>
          </a:xfrm>
          <a:prstGeom prst="roundRect">
            <a:avLst>
              <a:gd name="adj" fmla="val 6957"/>
            </a:avLst>
          </a:prstGeom>
          <a:solidFill>
            <a:schemeClr val="bg2"/>
          </a:solidFill>
          <a:ln w="12700">
            <a:solidFill>
              <a:schemeClr val="bg2"/>
            </a:solidFill>
            <a:prstDash val="solid"/>
          </a:ln>
        </p:spPr>
      </p:sp>
      <p:sp>
        <p:nvSpPr>
          <p:cNvPr id="21" name="chip-409"/>
          <p:cNvSpPr txBox="1"/>
          <p:nvPr/>
        </p:nvSpPr>
        <p:spPr>
          <a:xfrm>
            <a:off x="6995160" y="4087368"/>
            <a:ext cx="1920240" cy="347472"/>
          </a:xfrm>
          <a:prstGeom prst="roundRect">
            <a:avLst>
              <a:gd name="adj" fmla="val 31579"/>
            </a:avLst>
          </a:prstGeom>
          <a:solidFill>
            <a:schemeClr val="accent4"/>
          </a:solidFill>
          <a:ln>
            <a:solidFill>
              <a:schemeClr val="accent4"/>
            </a:solidFill>
          </a:ln>
        </p:spPr>
        <p:txBody>
          <a:bodyPr wrap="square" lIns="0" tIns="0" rIns="0" bIns="0" rtlCol="0" anchor="ctr"/>
          <a:lstStyle/>
          <a:p>
            <a:pPr algn="ctr" indent="0" marL="0">
              <a:buNone/>
            </a:pPr>
            <a:r>
              <a:rPr lang="en-US" sz="1300" b="1" dirty="0">
                <a:solidFill>
                  <a:schemeClr val="bg1"/>
                </a:solidFill>
              </a:rPr>
              <a:t>Conditional bounds</a:t>
            </a:r>
            <a:endParaRPr lang="en-US" sz="1300" dirty="0"/>
          </a:p>
        </p:txBody>
      </p:sp>
      <p:sp>
        <p:nvSpPr>
          <p:cNvPr id="22" name="text-410"/>
          <p:cNvSpPr txBox="1"/>
          <p:nvPr/>
        </p:nvSpPr>
        <p:spPr>
          <a:xfrm>
            <a:off x="9098280" y="3849624"/>
            <a:ext cx="2423160" cy="868680"/>
          </a:xfrm>
          <a:prstGeom prst="rect">
            <a:avLst/>
          </a:prstGeom>
          <a:noFill/>
          <a:ln/>
        </p:spPr>
        <p:txBody>
          <a:bodyPr wrap="square" lIns="0" tIns="0" rIns="0" bIns="0" rtlCol="0" anchor="ctr"/>
          <a:lstStyle/>
          <a:p>
            <a:pPr indent="0" marL="0">
              <a:buNone/>
            </a:pPr>
            <a:r>
              <a:rPr lang="en-US" sz="1400" dirty="0">
                <a:solidFill>
                  <a:schemeClr val="tx1"/>
                </a:solidFill>
              </a:rPr>
              <a:t>Bounds that need containment are kept, labelled as such.</a:t>
            </a:r>
            <a:endParaRPr lang="en-US" sz="1400" dirty="0"/>
          </a:p>
        </p:txBody>
      </p:sp>
      <p:sp>
        <p:nvSpPr>
          <p:cNvPr id="23" name="box-411"/>
          <p:cNvSpPr/>
          <p:nvPr/>
        </p:nvSpPr>
        <p:spPr>
          <a:xfrm>
            <a:off x="6812280" y="4983480"/>
            <a:ext cx="4846320" cy="1143000"/>
          </a:xfrm>
          <a:prstGeom prst="roundRect">
            <a:avLst>
              <a:gd name="adj" fmla="val 6400"/>
            </a:avLst>
          </a:prstGeom>
          <a:solidFill>
            <a:schemeClr val="bg1"/>
          </a:solidFill>
          <a:ln w="12700">
            <a:solidFill>
              <a:schemeClr val="accent5"/>
            </a:solidFill>
            <a:prstDash val="solid"/>
          </a:ln>
        </p:spPr>
      </p:sp>
      <p:sp>
        <p:nvSpPr>
          <p:cNvPr id="24" name="text-412"/>
          <p:cNvSpPr txBox="1"/>
          <p:nvPr/>
        </p:nvSpPr>
        <p:spPr>
          <a:xfrm>
            <a:off x="7040880" y="5120640"/>
            <a:ext cx="4434840" cy="914400"/>
          </a:xfrm>
          <a:prstGeom prst="rect">
            <a:avLst/>
          </a:prstGeom>
          <a:noFill/>
          <a:ln/>
        </p:spPr>
        <p:txBody>
          <a:bodyPr wrap="square" lIns="0" tIns="0" rIns="0" bIns="0" rtlCol="0" anchor="ctr"/>
          <a:lstStyle/>
          <a:p>
            <a:pPr indent="0" marL="0">
              <a:buNone/>
            </a:pPr>
            <a:r>
              <a:rPr lang="en-US" sz="1500" b="1" dirty="0">
                <a:solidFill>
                  <a:schemeClr val="tx1"/>
                </a:solidFill>
              </a:rPr>
              <a:t>5 part_of edges flagged. </a:t>
            </a:r>
            <a:pPr indent="0" marL="0">
              <a:buNone/>
            </a:pPr>
            <a:r>
              <a:rPr lang="en-US" sz="1500" dirty="0">
                <a:solidFill>
                  <a:schemeClr val="tx1"/>
                </a:solidFill>
              </a:rPr>
              <a:t>3 look like phases (otic pit, neural groove, lung saccule); 2 are knock-on effects of other errors.</a:t>
            </a:r>
            <a:endParaRPr lang="en-US" sz="15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Curating start and end times, with evidence</a:t>
            </a:r>
            <a:endParaRPr lang="en-US" sz="3000" dirty="0"/>
          </a:p>
        </p:txBody>
      </p:sp>
      <p:sp>
        <p:nvSpPr>
          <p:cNvPr id="3" name="box-413"/>
          <p:cNvSpPr/>
          <p:nvPr/>
        </p:nvSpPr>
        <p:spPr>
          <a:xfrm>
            <a:off x="548640" y="1371600"/>
            <a:ext cx="2606040" cy="2651760"/>
          </a:xfrm>
          <a:prstGeom prst="roundRect">
            <a:avLst>
              <a:gd name="adj" fmla="val 2807"/>
            </a:avLst>
          </a:prstGeom>
          <a:solidFill>
            <a:schemeClr val="bg2"/>
          </a:solidFill>
          <a:ln w="12700">
            <a:solidFill>
              <a:schemeClr val="bg2"/>
            </a:solidFill>
            <a:prstDash val="solid"/>
          </a:ln>
        </p:spPr>
      </p:sp>
      <p:sp>
        <p:nvSpPr>
          <p:cNvPr id="4" name="text-414"/>
          <p:cNvSpPr txBox="1"/>
          <p:nvPr/>
        </p:nvSpPr>
        <p:spPr>
          <a:xfrm>
            <a:off x="731520" y="1536192"/>
            <a:ext cx="224028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  Claim</a:t>
            </a:r>
            <a:endParaRPr lang="en-US" sz="2000" dirty="0"/>
          </a:p>
        </p:txBody>
      </p:sp>
      <p:sp>
        <p:nvSpPr>
          <p:cNvPr id="5" name="text-415"/>
          <p:cNvSpPr txBox="1"/>
          <p:nvPr/>
        </p:nvSpPr>
        <p:spPr>
          <a:xfrm>
            <a:off x="731520" y="2057400"/>
            <a:ext cx="2240280" cy="914400"/>
          </a:xfrm>
          <a:prstGeom prst="rect">
            <a:avLst/>
          </a:prstGeom>
          <a:noFill/>
          <a:ln/>
        </p:spPr>
        <p:txBody>
          <a:bodyPr wrap="square" lIns="0" tIns="0" rIns="0" bIns="0" rtlCol="0" anchor="t"/>
          <a:lstStyle/>
          <a:p>
            <a:pPr indent="0" marL="0">
              <a:buNone/>
            </a:pPr>
            <a:r>
              <a:rPr lang="en-US" sz="1500" b="1" dirty="0">
                <a:solidFill>
                  <a:schemeClr val="tx1"/>
                </a:solidFill>
              </a:rPr>
              <a:t>neural tube marginal layer starts during CS12</a:t>
            </a:r>
            <a:endParaRPr lang="en-US" sz="1500" dirty="0"/>
          </a:p>
        </p:txBody>
      </p:sp>
      <p:sp>
        <p:nvSpPr>
          <p:cNvPr id="6" name="text-416"/>
          <p:cNvSpPr txBox="1"/>
          <p:nvPr/>
        </p:nvSpPr>
        <p:spPr>
          <a:xfrm>
            <a:off x="731520" y="3017520"/>
            <a:ext cx="2240280" cy="868680"/>
          </a:xfrm>
          <a:prstGeom prst="rect">
            <a:avLst/>
          </a:prstGeom>
          <a:noFill/>
          <a:ln/>
        </p:spPr>
        <p:txBody>
          <a:bodyPr wrap="square" lIns="0" tIns="0" rIns="0" bIns="0" rtlCol="0" anchor="t"/>
          <a:lstStyle/>
          <a:p>
            <a:pPr indent="0" marL="0">
              <a:buNone/>
            </a:pPr>
            <a:r>
              <a:rPr lang="en-US" sz="1300" dirty="0">
                <a:solidFill>
                  <a:schemeClr val="accent6"/>
                </a:solidFill>
              </a:rPr>
              <a:t>structure · predicate · stage · point or interval onset</a:t>
            </a:r>
            <a:endParaRPr lang="en-US" sz="1300" dirty="0"/>
          </a:p>
        </p:txBody>
      </p:sp>
      <p:sp>
        <p:nvSpPr>
          <p:cNvPr id="7" name="arrow-417"/>
          <p:cNvSpPr/>
          <p:nvPr/>
        </p:nvSpPr>
        <p:spPr>
          <a:xfrm>
            <a:off x="3182112" y="2697480"/>
            <a:ext cx="192024" cy="914"/>
          </a:xfrm>
          <a:prstGeom prst="line">
            <a:avLst/>
          </a:prstGeom>
          <a:noFill/>
          <a:ln w="25400">
            <a:solidFill>
              <a:schemeClr val="accent1"/>
            </a:solidFill>
            <a:prstDash val="solid"/>
            <a:tailEnd type="triangle"/>
          </a:ln>
        </p:spPr>
      </p:sp>
      <p:sp>
        <p:nvSpPr>
          <p:cNvPr id="8" name="box-418"/>
          <p:cNvSpPr/>
          <p:nvPr/>
        </p:nvSpPr>
        <p:spPr>
          <a:xfrm>
            <a:off x="3401568" y="1371600"/>
            <a:ext cx="2606040" cy="2651760"/>
          </a:xfrm>
          <a:prstGeom prst="roundRect">
            <a:avLst>
              <a:gd name="adj" fmla="val 2807"/>
            </a:avLst>
          </a:prstGeom>
          <a:solidFill>
            <a:schemeClr val="accent1"/>
          </a:solidFill>
          <a:ln w="12700">
            <a:solidFill>
              <a:schemeClr val="bg2"/>
            </a:solidFill>
            <a:prstDash val="solid"/>
          </a:ln>
        </p:spPr>
      </p:sp>
      <p:sp>
        <p:nvSpPr>
          <p:cNvPr id="9" name="text-419"/>
          <p:cNvSpPr txBox="1"/>
          <p:nvPr/>
        </p:nvSpPr>
        <p:spPr>
          <a:xfrm>
            <a:off x="3584448" y="1536192"/>
            <a:ext cx="224028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2  Evidence</a:t>
            </a:r>
            <a:endParaRPr lang="en-US" sz="2000" dirty="0"/>
          </a:p>
        </p:txBody>
      </p:sp>
      <p:sp>
        <p:nvSpPr>
          <p:cNvPr id="10" name="text-420"/>
          <p:cNvSpPr txBox="1"/>
          <p:nvPr/>
        </p:nvSpPr>
        <p:spPr>
          <a:xfrm>
            <a:off x="3584448" y="2057400"/>
            <a:ext cx="2240280" cy="914400"/>
          </a:xfrm>
          <a:prstGeom prst="rect">
            <a:avLst/>
          </a:prstGeom>
          <a:noFill/>
          <a:ln/>
        </p:spPr>
        <p:txBody>
          <a:bodyPr wrap="square" lIns="0" tIns="0" rIns="0" bIns="0" rtlCol="0" anchor="t"/>
          <a:lstStyle/>
          <a:p>
            <a:pPr indent="0" marL="0">
              <a:buNone/>
            </a:pPr>
            <a:r>
              <a:rPr lang="en-US" sz="1500" b="1" i="1" dirty="0">
                <a:solidFill>
                  <a:schemeClr val="bg1"/>
                </a:solidFill>
              </a:rPr>
              <a:t>"in most embryos a marginal layer begins to develop"</a:t>
            </a:r>
            <a:endParaRPr lang="en-US" sz="1500" dirty="0"/>
          </a:p>
        </p:txBody>
      </p:sp>
      <p:sp>
        <p:nvSpPr>
          <p:cNvPr id="11" name="text-421"/>
          <p:cNvSpPr txBox="1"/>
          <p:nvPr/>
        </p:nvSpPr>
        <p:spPr>
          <a:xfrm>
            <a:off x="3584448" y="3017520"/>
            <a:ext cx="2240280" cy="868680"/>
          </a:xfrm>
          <a:prstGeom prst="rect">
            <a:avLst/>
          </a:prstGeom>
          <a:noFill/>
          <a:ln/>
        </p:spPr>
        <p:txBody>
          <a:bodyPr wrap="square" lIns="0" tIns="0" rIns="0" bIns="0" rtlCol="0" anchor="t"/>
          <a:lstStyle/>
          <a:p>
            <a:pPr indent="0" marL="0">
              <a:buNone/>
            </a:pPr>
            <a:r>
              <a:rPr lang="en-US" sz="1300" dirty="0">
                <a:solidFill>
                  <a:schemeClr val="bg2"/>
                </a:solidFill>
              </a:rPr>
              <a:t>verbatim from O'Rahilly &amp; Müller (1987), stage 12</a:t>
            </a:r>
            <a:endParaRPr lang="en-US" sz="1300" dirty="0"/>
          </a:p>
        </p:txBody>
      </p:sp>
      <p:sp>
        <p:nvSpPr>
          <p:cNvPr id="12" name="arrow-422"/>
          <p:cNvSpPr/>
          <p:nvPr/>
        </p:nvSpPr>
        <p:spPr>
          <a:xfrm>
            <a:off x="6035040" y="2697480"/>
            <a:ext cx="192024" cy="914"/>
          </a:xfrm>
          <a:prstGeom prst="line">
            <a:avLst/>
          </a:prstGeom>
          <a:noFill/>
          <a:ln w="25400">
            <a:solidFill>
              <a:schemeClr val="accent1"/>
            </a:solidFill>
            <a:prstDash val="solid"/>
            <a:tailEnd type="triangle"/>
          </a:ln>
        </p:spPr>
      </p:sp>
      <p:sp>
        <p:nvSpPr>
          <p:cNvPr id="13" name="box-423"/>
          <p:cNvSpPr/>
          <p:nvPr/>
        </p:nvSpPr>
        <p:spPr>
          <a:xfrm>
            <a:off x="6254496" y="1371600"/>
            <a:ext cx="2606040" cy="2651760"/>
          </a:xfrm>
          <a:prstGeom prst="roundRect">
            <a:avLst>
              <a:gd name="adj" fmla="val 2807"/>
            </a:avLst>
          </a:prstGeom>
          <a:solidFill>
            <a:schemeClr val="bg2"/>
          </a:solidFill>
          <a:ln w="12700">
            <a:solidFill>
              <a:schemeClr val="bg2"/>
            </a:solidFill>
            <a:prstDash val="solid"/>
          </a:ln>
        </p:spPr>
      </p:sp>
      <p:sp>
        <p:nvSpPr>
          <p:cNvPr id="14" name="text-424"/>
          <p:cNvSpPr txBox="1"/>
          <p:nvPr/>
        </p:nvSpPr>
        <p:spPr>
          <a:xfrm>
            <a:off x="6437376" y="1536192"/>
            <a:ext cx="224028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3  Verify</a:t>
            </a:r>
            <a:endParaRPr lang="en-US" sz="2000" dirty="0"/>
          </a:p>
        </p:txBody>
      </p:sp>
      <p:sp>
        <p:nvSpPr>
          <p:cNvPr id="15" name="text-425"/>
          <p:cNvSpPr txBox="1"/>
          <p:nvPr/>
        </p:nvSpPr>
        <p:spPr>
          <a:xfrm>
            <a:off x="6437376" y="2057400"/>
            <a:ext cx="2240280" cy="914400"/>
          </a:xfrm>
          <a:prstGeom prst="rect">
            <a:avLst/>
          </a:prstGeom>
          <a:noFill/>
          <a:ln/>
        </p:spPr>
        <p:txBody>
          <a:bodyPr wrap="square" lIns="0" tIns="0" rIns="0" bIns="0" rtlCol="0" anchor="t"/>
          <a:lstStyle/>
          <a:p>
            <a:pPr indent="0" marL="0">
              <a:buNone/>
            </a:pPr>
            <a:r>
              <a:rPr lang="en-US" sz="1500" b="1" dirty="0">
                <a:solidFill>
                  <a:schemeClr val="tx1"/>
                </a:solidFill>
              </a:rPr>
              <a:t>checked as the record is written</a:t>
            </a:r>
            <a:endParaRPr lang="en-US" sz="1500" dirty="0"/>
          </a:p>
        </p:txBody>
      </p:sp>
      <p:sp>
        <p:nvSpPr>
          <p:cNvPr id="16" name="text-426"/>
          <p:cNvSpPr txBox="1"/>
          <p:nvPr/>
        </p:nvSpPr>
        <p:spPr>
          <a:xfrm>
            <a:off x="6437376" y="3017520"/>
            <a:ext cx="2240280" cy="868680"/>
          </a:xfrm>
          <a:prstGeom prst="rect">
            <a:avLst/>
          </a:prstGeom>
          <a:noFill/>
          <a:ln/>
        </p:spPr>
        <p:txBody>
          <a:bodyPr wrap="square" lIns="0" tIns="0" rIns="0" bIns="0" rtlCol="0" anchor="t"/>
          <a:lstStyle/>
          <a:p>
            <a:pPr indent="0" marL="0">
              <a:buNone/>
            </a:pPr>
            <a:r>
              <a:rPr lang="en-US" sz="1300" dirty="0">
                <a:solidFill>
                  <a:schemeClr val="accent6"/>
                </a:solidFill>
              </a:rPr>
              <a:t>rejects paraphrase, wrong stage, mislabelled IDs, hidden hedges</a:t>
            </a:r>
            <a:endParaRPr lang="en-US" sz="1300" dirty="0"/>
          </a:p>
        </p:txBody>
      </p:sp>
      <p:sp>
        <p:nvSpPr>
          <p:cNvPr id="17" name="arrow-427"/>
          <p:cNvSpPr/>
          <p:nvPr/>
        </p:nvSpPr>
        <p:spPr>
          <a:xfrm>
            <a:off x="8887968" y="2697480"/>
            <a:ext cx="192024" cy="914"/>
          </a:xfrm>
          <a:prstGeom prst="line">
            <a:avLst/>
          </a:prstGeom>
          <a:noFill/>
          <a:ln w="25400">
            <a:solidFill>
              <a:schemeClr val="accent1"/>
            </a:solidFill>
            <a:prstDash val="solid"/>
            <a:tailEnd type="triangle"/>
          </a:ln>
        </p:spPr>
      </p:sp>
      <p:sp>
        <p:nvSpPr>
          <p:cNvPr id="18" name="box-428"/>
          <p:cNvSpPr/>
          <p:nvPr/>
        </p:nvSpPr>
        <p:spPr>
          <a:xfrm>
            <a:off x="9107424" y="1371600"/>
            <a:ext cx="2606040" cy="2651760"/>
          </a:xfrm>
          <a:prstGeom prst="roundRect">
            <a:avLst>
              <a:gd name="adj" fmla="val 2807"/>
            </a:avLst>
          </a:prstGeom>
          <a:solidFill>
            <a:schemeClr val="bg2"/>
          </a:solidFill>
          <a:ln w="12700">
            <a:solidFill>
              <a:schemeClr val="bg2"/>
            </a:solidFill>
            <a:prstDash val="solid"/>
          </a:ln>
        </p:spPr>
      </p:sp>
      <p:sp>
        <p:nvSpPr>
          <p:cNvPr id="19" name="text-429"/>
          <p:cNvSpPr txBox="1"/>
          <p:nvPr/>
        </p:nvSpPr>
        <p:spPr>
          <a:xfrm>
            <a:off x="9290304" y="1536192"/>
            <a:ext cx="224028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4  Publish</a:t>
            </a:r>
            <a:endParaRPr lang="en-US" sz="2000" dirty="0"/>
          </a:p>
        </p:txBody>
      </p:sp>
      <p:sp>
        <p:nvSpPr>
          <p:cNvPr id="20" name="text-430"/>
          <p:cNvSpPr txBox="1"/>
          <p:nvPr/>
        </p:nvSpPr>
        <p:spPr>
          <a:xfrm>
            <a:off x="9290304" y="2057400"/>
            <a:ext cx="2240280" cy="914400"/>
          </a:xfrm>
          <a:prstGeom prst="rect">
            <a:avLst/>
          </a:prstGeom>
          <a:noFill/>
          <a:ln/>
        </p:spPr>
        <p:txBody>
          <a:bodyPr wrap="square" lIns="0" tIns="0" rIns="0" bIns="0" rtlCol="0" anchor="t"/>
          <a:lstStyle/>
          <a:p>
            <a:pPr indent="0" marL="0">
              <a:buNone/>
            </a:pPr>
            <a:r>
              <a:rPr lang="en-US" sz="1500" b="1" dirty="0">
                <a:solidFill>
                  <a:schemeClr val="tx1"/>
                </a:solidFill>
              </a:rPr>
              <a:t>taxon-scoped axiom in OWL</a:t>
            </a:r>
            <a:endParaRPr lang="en-US" sz="1500" dirty="0"/>
          </a:p>
        </p:txBody>
      </p:sp>
      <p:sp>
        <p:nvSpPr>
          <p:cNvPr id="21" name="text-431"/>
          <p:cNvSpPr txBox="1"/>
          <p:nvPr/>
        </p:nvSpPr>
        <p:spPr>
          <a:xfrm>
            <a:off x="9290304" y="3017520"/>
            <a:ext cx="2240280" cy="868680"/>
          </a:xfrm>
          <a:prstGeom prst="rect">
            <a:avLst/>
          </a:prstGeom>
          <a:noFill/>
          <a:ln/>
        </p:spPr>
        <p:txBody>
          <a:bodyPr wrap="square" lIns="0" tIns="0" rIns="0" bIns="0" rtlCol="0" anchor="t"/>
          <a:lstStyle/>
          <a:p>
            <a:pPr indent="0" marL="0">
              <a:buNone/>
            </a:pPr>
            <a:r>
              <a:rPr lang="en-US" sz="1300" dirty="0">
                <a:solidFill>
                  <a:schemeClr val="accent6"/>
                </a:solidFill>
              </a:rPr>
              <a:t>only sourced rows are offered to Uberon</a:t>
            </a:r>
            <a:endParaRPr lang="en-US" sz="1300" dirty="0"/>
          </a:p>
        </p:txBody>
      </p:sp>
      <p:sp>
        <p:nvSpPr>
          <p:cNvPr id="22" name="text-432"/>
          <p:cNvSpPr txBox="1"/>
          <p:nvPr/>
        </p:nvSpPr>
        <p:spPr>
          <a:xfrm>
            <a:off x="548640" y="4343400"/>
            <a:ext cx="2194560" cy="7772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174</a:t>
            </a:r>
            <a:endParaRPr lang="en-US" sz="4400" dirty="0"/>
          </a:p>
        </p:txBody>
      </p:sp>
      <p:sp>
        <p:nvSpPr>
          <p:cNvPr id="23" name="text-433"/>
          <p:cNvSpPr txBox="1"/>
          <p:nvPr/>
        </p:nvSpPr>
        <p:spPr>
          <a:xfrm>
            <a:off x="548640" y="5120640"/>
            <a:ext cx="2194560" cy="640080"/>
          </a:xfrm>
          <a:prstGeom prst="rect">
            <a:avLst/>
          </a:prstGeom>
          <a:noFill/>
          <a:ln/>
        </p:spPr>
        <p:txBody>
          <a:bodyPr wrap="square" lIns="0" tIns="0" rIns="0" bIns="0" rtlCol="0" anchor="t"/>
          <a:lstStyle/>
          <a:p>
            <a:pPr indent="0" marL="0">
              <a:buNone/>
            </a:pPr>
            <a:r>
              <a:rPr lang="en-US" sz="1400" dirty="0">
                <a:solidFill>
                  <a:schemeClr val="accent6"/>
                </a:solidFill>
              </a:rPr>
              <a:t>live rows, 113 structures</a:t>
            </a:r>
            <a:endParaRPr lang="en-US" sz="1400" dirty="0"/>
          </a:p>
        </p:txBody>
      </p:sp>
      <p:sp>
        <p:nvSpPr>
          <p:cNvPr id="24" name="text-434"/>
          <p:cNvSpPr txBox="1"/>
          <p:nvPr/>
        </p:nvSpPr>
        <p:spPr>
          <a:xfrm>
            <a:off x="2926080" y="4343400"/>
            <a:ext cx="2194560" cy="7772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60</a:t>
            </a:r>
            <a:endParaRPr lang="en-US" sz="4400" dirty="0"/>
          </a:p>
        </p:txBody>
      </p:sp>
      <p:sp>
        <p:nvSpPr>
          <p:cNvPr id="25" name="text-435"/>
          <p:cNvSpPr txBox="1"/>
          <p:nvPr/>
        </p:nvSpPr>
        <p:spPr>
          <a:xfrm>
            <a:off x="2926080" y="5120640"/>
            <a:ext cx="2194560" cy="640080"/>
          </a:xfrm>
          <a:prstGeom prst="rect">
            <a:avLst/>
          </a:prstGeom>
          <a:noFill/>
          <a:ln/>
        </p:spPr>
        <p:txBody>
          <a:bodyPr wrap="square" lIns="0" tIns="0" rIns="0" bIns="0" rtlCol="0" anchor="t"/>
          <a:lstStyle/>
          <a:p>
            <a:pPr indent="0" marL="0">
              <a:buNone/>
            </a:pPr>
            <a:r>
              <a:rPr lang="en-US" sz="1400" dirty="0">
                <a:solidFill>
                  <a:schemeClr val="accent6"/>
                </a:solidFill>
              </a:rPr>
              <a:t>with a quoted passage</a:t>
            </a:r>
            <a:endParaRPr lang="en-US" sz="1400" dirty="0"/>
          </a:p>
        </p:txBody>
      </p:sp>
      <p:sp>
        <p:nvSpPr>
          <p:cNvPr id="26" name="text-436"/>
          <p:cNvSpPr txBox="1"/>
          <p:nvPr/>
        </p:nvSpPr>
        <p:spPr>
          <a:xfrm>
            <a:off x="5303520" y="4343400"/>
            <a:ext cx="2194560" cy="77724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33</a:t>
            </a:r>
            <a:endParaRPr lang="en-US" sz="4400" dirty="0"/>
          </a:p>
        </p:txBody>
      </p:sp>
      <p:sp>
        <p:nvSpPr>
          <p:cNvPr id="27" name="text-437"/>
          <p:cNvSpPr txBox="1"/>
          <p:nvPr/>
        </p:nvSpPr>
        <p:spPr>
          <a:xfrm>
            <a:off x="5303520" y="5120640"/>
            <a:ext cx="2194560" cy="640080"/>
          </a:xfrm>
          <a:prstGeom prst="rect">
            <a:avLst/>
          </a:prstGeom>
          <a:noFill/>
          <a:ln/>
        </p:spPr>
        <p:txBody>
          <a:bodyPr wrap="square" lIns="0" tIns="0" rIns="0" bIns="0" rtlCol="0" anchor="t"/>
          <a:lstStyle/>
          <a:p>
            <a:pPr indent="0" marL="0">
              <a:buNone/>
            </a:pPr>
            <a:r>
              <a:rPr lang="en-US" sz="1400" dirty="0">
                <a:solidFill>
                  <a:schemeClr val="accent6"/>
                </a:solidFill>
              </a:rPr>
              <a:t>ready to go to Uberon</a:t>
            </a:r>
            <a:endParaRPr lang="en-US" sz="1400" dirty="0"/>
          </a:p>
        </p:txBody>
      </p:sp>
      <p:sp>
        <p:nvSpPr>
          <p:cNvPr id="28" name="box-438"/>
          <p:cNvSpPr/>
          <p:nvPr/>
        </p:nvSpPr>
        <p:spPr>
          <a:xfrm>
            <a:off x="7863840" y="4297680"/>
            <a:ext cx="3794760" cy="1828800"/>
          </a:xfrm>
          <a:prstGeom prst="roundRect">
            <a:avLst>
              <a:gd name="adj" fmla="val 4000"/>
            </a:avLst>
          </a:prstGeom>
          <a:solidFill>
            <a:schemeClr val="bg2"/>
          </a:solidFill>
          <a:ln w="12700">
            <a:solidFill>
              <a:schemeClr val="bg2"/>
            </a:solidFill>
            <a:prstDash val="solid"/>
          </a:ln>
        </p:spPr>
      </p:sp>
      <p:sp>
        <p:nvSpPr>
          <p:cNvPr id="29" name="text-439"/>
          <p:cNvSpPr txBox="1"/>
          <p:nvPr/>
        </p:nvSpPr>
        <p:spPr>
          <a:xfrm>
            <a:off x="8092440" y="4434840"/>
            <a:ext cx="3383280" cy="365760"/>
          </a:xfrm>
          <a:prstGeom prst="rect">
            <a:avLst/>
          </a:prstGeom>
          <a:noFill/>
          <a:ln/>
        </p:spPr>
        <p:txBody>
          <a:bodyPr wrap="square" lIns="0" tIns="0" rIns="0" bIns="0" rtlCol="0" anchor="t"/>
          <a:lstStyle/>
          <a:p>
            <a:pPr indent="0" marL="0">
              <a:buNone/>
            </a:pPr>
            <a:r>
              <a:rPr lang="en-US" sz="1600" b="1" dirty="0">
                <a:solidFill>
                  <a:schemeClr val="tx1"/>
                </a:solidFill>
              </a:rPr>
              <a:t>End bounds are harder</a:t>
            </a:r>
            <a:endParaRPr lang="en-US" sz="1600" dirty="0"/>
          </a:p>
        </p:txBody>
      </p:sp>
      <p:sp>
        <p:nvSpPr>
          <p:cNvPr id="30" name="text-440"/>
          <p:cNvSpPr txBox="1"/>
          <p:nvPr/>
        </p:nvSpPr>
        <p:spPr>
          <a:xfrm>
            <a:off x="8092440" y="4846320"/>
            <a:ext cx="3383280" cy="1188720"/>
          </a:xfrm>
          <a:prstGeom prst="rect">
            <a:avLst/>
          </a:prstGeom>
          <a:noFill/>
          <a:ln/>
        </p:spPr>
        <p:txBody>
          <a:bodyPr wrap="square" lIns="0" tIns="0" rIns="0" bIns="0" rtlCol="0" anchor="t"/>
          <a:lstStyle/>
          <a:p>
            <a:pPr indent="0" marL="0">
              <a:buNone/>
            </a:pPr>
            <a:r>
              <a:rPr lang="en-US" sz="1400" dirty="0">
                <a:solidFill>
                  <a:schemeClr val="tx1"/>
                </a:solidFill>
              </a:rPr>
              <a:t>A start is usually observed: absent, then present. An end is often a naming decision: when an arch stops being an arch.</a:t>
            </a:r>
            <a:endParaRPr lang="en-US" sz="14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Towards an agentic curation loop</a:t>
            </a:r>
            <a:endParaRPr lang="en-US" sz="3000" dirty="0"/>
          </a:p>
        </p:txBody>
      </p:sp>
      <p:sp>
        <p:nvSpPr>
          <p:cNvPr id="3" name="arrow-441"/>
          <p:cNvSpPr/>
          <p:nvPr/>
        </p:nvSpPr>
        <p:spPr>
          <a:xfrm>
            <a:off x="4468117" y="2391340"/>
            <a:ext cx="553081" cy="321470"/>
          </a:xfrm>
          <a:prstGeom prst="line">
            <a:avLst/>
          </a:prstGeom>
          <a:noFill/>
          <a:ln w="25400">
            <a:solidFill>
              <a:schemeClr val="accent4"/>
            </a:solidFill>
            <a:prstDash val="solid"/>
            <a:tailEnd type="triangle"/>
          </a:ln>
        </p:spPr>
      </p:sp>
      <p:sp>
        <p:nvSpPr>
          <p:cNvPr id="4" name="arrow-442"/>
          <p:cNvSpPr/>
          <p:nvPr/>
        </p:nvSpPr>
        <p:spPr>
          <a:xfrm flipH="1">
            <a:off x="5205211" y="3686025"/>
            <a:ext cx="422570" cy="1040430"/>
          </a:xfrm>
          <a:prstGeom prst="line">
            <a:avLst/>
          </a:prstGeom>
          <a:noFill/>
          <a:ln w="25400">
            <a:solidFill>
              <a:schemeClr val="accent4"/>
            </a:solidFill>
            <a:prstDash val="solid"/>
            <a:tailEnd type="triangle"/>
          </a:ln>
        </p:spPr>
      </p:sp>
      <p:sp>
        <p:nvSpPr>
          <p:cNvPr id="5" name="arrow-443"/>
          <p:cNvSpPr/>
          <p:nvPr/>
        </p:nvSpPr>
        <p:spPr>
          <a:xfrm flipH="1">
            <a:off x="3347195" y="5228570"/>
            <a:ext cx="620810" cy="914"/>
          </a:xfrm>
          <a:prstGeom prst="line">
            <a:avLst/>
          </a:prstGeom>
          <a:noFill/>
          <a:ln w="25400">
            <a:solidFill>
              <a:schemeClr val="accent4"/>
            </a:solidFill>
            <a:prstDash val="solid"/>
            <a:tailEnd type="triangle"/>
          </a:ln>
        </p:spPr>
      </p:sp>
      <p:sp>
        <p:nvSpPr>
          <p:cNvPr id="6" name="arrow-444"/>
          <p:cNvSpPr/>
          <p:nvPr/>
        </p:nvSpPr>
        <p:spPr>
          <a:xfrm flipH="1" flipV="1">
            <a:off x="1687419" y="3686025"/>
            <a:ext cx="422570" cy="1040430"/>
          </a:xfrm>
          <a:prstGeom prst="line">
            <a:avLst/>
          </a:prstGeom>
          <a:noFill/>
          <a:ln w="25400">
            <a:solidFill>
              <a:schemeClr val="accent4"/>
            </a:solidFill>
            <a:prstDash val="solid"/>
            <a:tailEnd type="triangle"/>
          </a:ln>
        </p:spPr>
      </p:sp>
      <p:sp>
        <p:nvSpPr>
          <p:cNvPr id="7" name="arrow-445"/>
          <p:cNvSpPr/>
          <p:nvPr/>
        </p:nvSpPr>
        <p:spPr>
          <a:xfrm flipV="1">
            <a:off x="2294002" y="2391340"/>
            <a:ext cx="553081" cy="321470"/>
          </a:xfrm>
          <a:prstGeom prst="line">
            <a:avLst/>
          </a:prstGeom>
          <a:noFill/>
          <a:ln w="25400">
            <a:solidFill>
              <a:schemeClr val="accent4"/>
            </a:solidFill>
            <a:prstDash val="solid"/>
            <a:tailEnd type="triangle"/>
          </a:ln>
        </p:spPr>
      </p:sp>
      <p:sp>
        <p:nvSpPr>
          <p:cNvPr id="8" name="loopnode-446"/>
          <p:cNvSpPr/>
          <p:nvPr/>
        </p:nvSpPr>
        <p:spPr>
          <a:xfrm>
            <a:off x="2697480" y="1485900"/>
            <a:ext cx="1920240" cy="868680"/>
          </a:xfrm>
          <a:prstGeom prst="roundRect">
            <a:avLst>
              <a:gd name="adj" fmla="val 10526"/>
            </a:avLst>
          </a:prstGeom>
          <a:solidFill>
            <a:schemeClr val="bg2"/>
          </a:solidFill>
          <a:ln w="15875">
            <a:solidFill>
              <a:schemeClr val="accent1"/>
            </a:solidFill>
            <a:prstDash val="solid"/>
          </a:ln>
        </p:spPr>
      </p:sp>
      <p:sp>
        <p:nvSpPr>
          <p:cNvPr id="9" name="text-447"/>
          <p:cNvSpPr txBox="1"/>
          <p:nvPr/>
        </p:nvSpPr>
        <p:spPr>
          <a:xfrm>
            <a:off x="2807208" y="1540764"/>
            <a:ext cx="1700784" cy="310896"/>
          </a:xfrm>
          <a:prstGeom prst="rect">
            <a:avLst/>
          </a:prstGeom>
          <a:noFill/>
          <a:ln/>
        </p:spPr>
        <p:txBody>
          <a:bodyPr wrap="square" lIns="0" tIns="0" rIns="0" bIns="0" rtlCol="0" anchor="t"/>
          <a:lstStyle/>
          <a:p>
            <a:pPr indent="0" marL="0">
              <a:buNone/>
            </a:pPr>
            <a:r>
              <a:rPr lang="en-US" sz="1500" b="1" dirty="0">
                <a:solidFill>
                  <a:schemeClr val="accent1"/>
                </a:solidFill>
              </a:rPr>
              <a:t>Propose</a:t>
            </a:r>
            <a:endParaRPr lang="en-US" sz="1500" dirty="0"/>
          </a:p>
        </p:txBody>
      </p:sp>
      <p:sp>
        <p:nvSpPr>
          <p:cNvPr id="10" name="text-448"/>
          <p:cNvSpPr txBox="1"/>
          <p:nvPr/>
        </p:nvSpPr>
        <p:spPr>
          <a:xfrm>
            <a:off x="2807208" y="1833372"/>
            <a:ext cx="1700784" cy="402336"/>
          </a:xfrm>
          <a:prstGeom prst="rect">
            <a:avLst/>
          </a:prstGeom>
          <a:noFill/>
          <a:ln/>
        </p:spPr>
        <p:txBody>
          <a:bodyPr wrap="square" lIns="0" tIns="0" rIns="0" bIns="0" rtlCol="0" anchor="t"/>
          <a:lstStyle/>
          <a:p>
            <a:pPr indent="0" marL="0">
              <a:buNone/>
            </a:pPr>
            <a:r>
              <a:rPr lang="en-US" sz="1200" dirty="0">
                <a:solidFill>
                  <a:schemeClr val="tx1"/>
                </a:solidFill>
              </a:rPr>
              <a:t>agents draft bounds from literature</a:t>
            </a:r>
            <a:endParaRPr lang="en-US" sz="1200" dirty="0"/>
          </a:p>
        </p:txBody>
      </p:sp>
      <p:sp>
        <p:nvSpPr>
          <p:cNvPr id="11" name="loopnode-449"/>
          <p:cNvSpPr/>
          <p:nvPr/>
        </p:nvSpPr>
        <p:spPr>
          <a:xfrm>
            <a:off x="4871595" y="2749570"/>
            <a:ext cx="1920240" cy="868680"/>
          </a:xfrm>
          <a:prstGeom prst="roundRect">
            <a:avLst>
              <a:gd name="adj" fmla="val 10526"/>
            </a:avLst>
          </a:prstGeom>
          <a:solidFill>
            <a:schemeClr val="bg2"/>
          </a:solidFill>
          <a:ln w="15875">
            <a:solidFill>
              <a:schemeClr val="accent1"/>
            </a:solidFill>
            <a:prstDash val="solid"/>
          </a:ln>
        </p:spPr>
      </p:sp>
      <p:sp>
        <p:nvSpPr>
          <p:cNvPr id="12" name="text-450"/>
          <p:cNvSpPr txBox="1"/>
          <p:nvPr/>
        </p:nvSpPr>
        <p:spPr>
          <a:xfrm>
            <a:off x="4981323" y="2804434"/>
            <a:ext cx="1700784" cy="310896"/>
          </a:xfrm>
          <a:prstGeom prst="rect">
            <a:avLst/>
          </a:prstGeom>
          <a:noFill/>
          <a:ln/>
        </p:spPr>
        <p:txBody>
          <a:bodyPr wrap="square" lIns="0" tIns="0" rIns="0" bIns="0" rtlCol="0" anchor="t"/>
          <a:lstStyle/>
          <a:p>
            <a:pPr indent="0" marL="0">
              <a:buNone/>
            </a:pPr>
            <a:r>
              <a:rPr lang="en-US" sz="1500" b="1" dirty="0">
                <a:solidFill>
                  <a:schemeClr val="accent1"/>
                </a:solidFill>
              </a:rPr>
              <a:t>Source</a:t>
            </a:r>
            <a:endParaRPr lang="en-US" sz="1500" dirty="0"/>
          </a:p>
        </p:txBody>
      </p:sp>
      <p:sp>
        <p:nvSpPr>
          <p:cNvPr id="13" name="text-451"/>
          <p:cNvSpPr txBox="1"/>
          <p:nvPr/>
        </p:nvSpPr>
        <p:spPr>
          <a:xfrm>
            <a:off x="4981323" y="3097042"/>
            <a:ext cx="1700784" cy="402336"/>
          </a:xfrm>
          <a:prstGeom prst="rect">
            <a:avLst/>
          </a:prstGeom>
          <a:noFill/>
          <a:ln/>
        </p:spPr>
        <p:txBody>
          <a:bodyPr wrap="square" lIns="0" tIns="0" rIns="0" bIns="0" rtlCol="0" anchor="t"/>
          <a:lstStyle/>
          <a:p>
            <a:pPr indent="0" marL="0">
              <a:buNone/>
            </a:pPr>
            <a:r>
              <a:rPr lang="en-US" sz="1200" dirty="0">
                <a:solidFill>
                  <a:schemeClr val="tx1"/>
                </a:solidFill>
              </a:rPr>
              <a:t>find verbatim evidence in corpora</a:t>
            </a:r>
            <a:endParaRPr lang="en-US" sz="1200" dirty="0"/>
          </a:p>
        </p:txBody>
      </p:sp>
      <p:sp>
        <p:nvSpPr>
          <p:cNvPr id="14" name="loopnode-452"/>
          <p:cNvSpPr/>
          <p:nvPr/>
        </p:nvSpPr>
        <p:spPr>
          <a:xfrm>
            <a:off x="4041157" y="4794230"/>
            <a:ext cx="1920240" cy="868680"/>
          </a:xfrm>
          <a:prstGeom prst="roundRect">
            <a:avLst>
              <a:gd name="adj" fmla="val 10526"/>
            </a:avLst>
          </a:prstGeom>
          <a:solidFill>
            <a:schemeClr val="bg2"/>
          </a:solidFill>
          <a:ln w="15875">
            <a:solidFill>
              <a:schemeClr val="accent1"/>
            </a:solidFill>
            <a:prstDash val="solid"/>
          </a:ln>
        </p:spPr>
      </p:sp>
      <p:sp>
        <p:nvSpPr>
          <p:cNvPr id="15" name="text-453"/>
          <p:cNvSpPr txBox="1"/>
          <p:nvPr/>
        </p:nvSpPr>
        <p:spPr>
          <a:xfrm>
            <a:off x="4150885" y="4849094"/>
            <a:ext cx="1700784" cy="310896"/>
          </a:xfrm>
          <a:prstGeom prst="rect">
            <a:avLst/>
          </a:prstGeom>
          <a:noFill/>
          <a:ln/>
        </p:spPr>
        <p:txBody>
          <a:bodyPr wrap="square" lIns="0" tIns="0" rIns="0" bIns="0" rtlCol="0" anchor="t"/>
          <a:lstStyle/>
          <a:p>
            <a:pPr indent="0" marL="0">
              <a:buNone/>
            </a:pPr>
            <a:r>
              <a:rPr lang="en-US" sz="1500" b="1" dirty="0">
                <a:solidFill>
                  <a:schemeClr val="accent1"/>
                </a:solidFill>
              </a:rPr>
              <a:t>Verify</a:t>
            </a:r>
            <a:endParaRPr lang="en-US" sz="1500" dirty="0"/>
          </a:p>
        </p:txBody>
      </p:sp>
      <p:sp>
        <p:nvSpPr>
          <p:cNvPr id="16" name="text-454"/>
          <p:cNvSpPr txBox="1"/>
          <p:nvPr/>
        </p:nvSpPr>
        <p:spPr>
          <a:xfrm>
            <a:off x="4150885" y="5141702"/>
            <a:ext cx="1700784" cy="402336"/>
          </a:xfrm>
          <a:prstGeom prst="rect">
            <a:avLst/>
          </a:prstGeom>
          <a:noFill/>
          <a:ln/>
        </p:spPr>
        <p:txBody>
          <a:bodyPr wrap="square" lIns="0" tIns="0" rIns="0" bIns="0" rtlCol="0" anchor="t"/>
          <a:lstStyle/>
          <a:p>
            <a:pPr indent="0" marL="0">
              <a:buNone/>
            </a:pPr>
            <a:r>
              <a:rPr lang="en-US" sz="1200" dirty="0">
                <a:solidFill>
                  <a:schemeClr val="tx1"/>
                </a:solidFill>
              </a:rPr>
              <a:t>hooks check quote, stage and IDs</a:t>
            </a:r>
            <a:endParaRPr lang="en-US" sz="1200" dirty="0"/>
          </a:p>
        </p:txBody>
      </p:sp>
      <p:sp>
        <p:nvSpPr>
          <p:cNvPr id="17" name="loopnode-455"/>
          <p:cNvSpPr/>
          <p:nvPr/>
        </p:nvSpPr>
        <p:spPr>
          <a:xfrm>
            <a:off x="1353803" y="4794230"/>
            <a:ext cx="1920240" cy="868680"/>
          </a:xfrm>
          <a:prstGeom prst="roundRect">
            <a:avLst>
              <a:gd name="adj" fmla="val 10526"/>
            </a:avLst>
          </a:prstGeom>
          <a:solidFill>
            <a:schemeClr val="accent1"/>
          </a:solidFill>
          <a:ln w="15875">
            <a:solidFill>
              <a:schemeClr val="accent1"/>
            </a:solidFill>
            <a:prstDash val="solid"/>
          </a:ln>
        </p:spPr>
      </p:sp>
      <p:sp>
        <p:nvSpPr>
          <p:cNvPr id="18" name="text-456"/>
          <p:cNvSpPr txBox="1"/>
          <p:nvPr/>
        </p:nvSpPr>
        <p:spPr>
          <a:xfrm>
            <a:off x="1463531" y="4849094"/>
            <a:ext cx="1700784" cy="310896"/>
          </a:xfrm>
          <a:prstGeom prst="rect">
            <a:avLst/>
          </a:prstGeom>
          <a:noFill/>
          <a:ln/>
        </p:spPr>
        <p:txBody>
          <a:bodyPr wrap="square" lIns="0" tIns="0" rIns="0" bIns="0" rtlCol="0" anchor="t"/>
          <a:lstStyle/>
          <a:p>
            <a:pPr indent="0" marL="0">
              <a:buNone/>
            </a:pPr>
            <a:r>
              <a:rPr lang="en-US" sz="1500" b="1" dirty="0">
                <a:solidFill>
                  <a:schemeClr val="bg1"/>
                </a:solidFill>
              </a:rPr>
              <a:t>Reason</a:t>
            </a:r>
            <a:endParaRPr lang="en-US" sz="1500" dirty="0"/>
          </a:p>
        </p:txBody>
      </p:sp>
      <p:sp>
        <p:nvSpPr>
          <p:cNvPr id="19" name="text-457"/>
          <p:cNvSpPr txBox="1"/>
          <p:nvPr/>
        </p:nvSpPr>
        <p:spPr>
          <a:xfrm>
            <a:off x="1463531" y="5141702"/>
            <a:ext cx="1700784" cy="402336"/>
          </a:xfrm>
          <a:prstGeom prst="rect">
            <a:avLst/>
          </a:prstGeom>
          <a:noFill/>
          <a:ln/>
        </p:spPr>
        <p:txBody>
          <a:bodyPr wrap="square" lIns="0" tIns="0" rIns="0" bIns="0" rtlCol="0" anchor="t"/>
          <a:lstStyle/>
          <a:p>
            <a:pPr indent="0" marL="0">
              <a:buNone/>
            </a:pPr>
            <a:r>
              <a:rPr lang="en-US" sz="1200" dirty="0">
                <a:solidFill>
                  <a:schemeClr val="bg1"/>
                </a:solidFill>
              </a:rPr>
              <a:t>timing network checks consistency</a:t>
            </a:r>
            <a:endParaRPr lang="en-US" sz="1200" dirty="0"/>
          </a:p>
        </p:txBody>
      </p:sp>
      <p:sp>
        <p:nvSpPr>
          <p:cNvPr id="20" name="loopnode-458"/>
          <p:cNvSpPr/>
          <p:nvPr/>
        </p:nvSpPr>
        <p:spPr>
          <a:xfrm>
            <a:off x="523365" y="2749570"/>
            <a:ext cx="1920240" cy="868680"/>
          </a:xfrm>
          <a:prstGeom prst="roundRect">
            <a:avLst>
              <a:gd name="adj" fmla="val 10526"/>
            </a:avLst>
          </a:prstGeom>
          <a:solidFill>
            <a:schemeClr val="accent1"/>
          </a:solidFill>
          <a:ln w="15875">
            <a:solidFill>
              <a:schemeClr val="accent1"/>
            </a:solidFill>
            <a:prstDash val="solid"/>
          </a:ln>
        </p:spPr>
      </p:sp>
      <p:sp>
        <p:nvSpPr>
          <p:cNvPr id="21" name="text-459"/>
          <p:cNvSpPr txBox="1"/>
          <p:nvPr/>
        </p:nvSpPr>
        <p:spPr>
          <a:xfrm>
            <a:off x="633093" y="2804434"/>
            <a:ext cx="1700784" cy="310896"/>
          </a:xfrm>
          <a:prstGeom prst="rect">
            <a:avLst/>
          </a:prstGeom>
          <a:noFill/>
          <a:ln/>
        </p:spPr>
        <p:txBody>
          <a:bodyPr wrap="square" lIns="0" tIns="0" rIns="0" bIns="0" rtlCol="0" anchor="t"/>
          <a:lstStyle/>
          <a:p>
            <a:pPr indent="0" marL="0">
              <a:buNone/>
            </a:pPr>
            <a:r>
              <a:rPr lang="en-US" sz="1500" b="1" dirty="0">
                <a:solidFill>
                  <a:schemeClr val="bg1"/>
                </a:solidFill>
              </a:rPr>
              <a:t>Triage</a:t>
            </a:r>
            <a:endParaRPr lang="en-US" sz="1500" dirty="0"/>
          </a:p>
        </p:txBody>
      </p:sp>
      <p:sp>
        <p:nvSpPr>
          <p:cNvPr id="22" name="text-460"/>
          <p:cNvSpPr txBox="1"/>
          <p:nvPr/>
        </p:nvSpPr>
        <p:spPr>
          <a:xfrm>
            <a:off x="633093" y="3097042"/>
            <a:ext cx="1700784" cy="402336"/>
          </a:xfrm>
          <a:prstGeom prst="rect">
            <a:avLst/>
          </a:prstGeom>
          <a:noFill/>
          <a:ln/>
        </p:spPr>
        <p:txBody>
          <a:bodyPr wrap="square" lIns="0" tIns="0" rIns="0" bIns="0" rtlCol="0" anchor="t"/>
          <a:lstStyle/>
          <a:p>
            <a:pPr indent="0" marL="0">
              <a:buNone/>
            </a:pPr>
            <a:r>
              <a:rPr lang="en-US" sz="1200" dirty="0">
                <a:solidFill>
                  <a:schemeClr val="bg1"/>
                </a:solidFill>
              </a:rPr>
              <a:t>conflicts become ranked tasks</a:t>
            </a:r>
            <a:endParaRPr lang="en-US" sz="1200" dirty="0"/>
          </a:p>
        </p:txBody>
      </p:sp>
      <p:sp>
        <p:nvSpPr>
          <p:cNvPr id="23" name="badge-461"/>
          <p:cNvSpPr/>
          <p:nvPr/>
        </p:nvSpPr>
        <p:spPr>
          <a:xfrm>
            <a:off x="3291840" y="3246120"/>
            <a:ext cx="731520" cy="731520"/>
          </a:xfrm>
          <a:prstGeom prst="ellipse">
            <a:avLst/>
          </a:prstGeom>
          <a:solidFill>
            <a:schemeClr val="accent2"/>
          </a:solidFill>
          <a:ln w="12700">
            <a:solidFill>
              <a:schemeClr val="accent2"/>
            </a:solidFill>
            <a:prstDash val="solid"/>
          </a:ln>
        </p:spPr>
      </p:sp>
      <p:pic>
        <p:nvPicPr>
          <p:cNvPr id="24" name="icon-462" descr="preencoded.png">    </p:cNvPr>
          <p:cNvPicPr>
            <a:picLocks noChangeAspect="1"/>
          </p:cNvPicPr>
          <p:nvPr/>
        </p:nvPicPr>
        <p:blipFill>
          <a:blip r:embed="rId1"/>
          <a:stretch>
            <a:fillRect/>
          </a:stretch>
        </p:blipFill>
        <p:spPr>
          <a:xfrm>
            <a:off x="3467405" y="3421685"/>
            <a:ext cx="380390" cy="380390"/>
          </a:xfrm>
          <a:prstGeom prst="rect">
            <a:avLst/>
          </a:prstGeom>
        </p:spPr>
      </p:pic>
      <p:sp>
        <p:nvSpPr>
          <p:cNvPr id="25" name="text-463"/>
          <p:cNvSpPr txBox="1"/>
          <p:nvPr/>
        </p:nvSpPr>
        <p:spPr>
          <a:xfrm>
            <a:off x="2926080" y="4023360"/>
            <a:ext cx="1463040" cy="320040"/>
          </a:xfrm>
          <a:prstGeom prst="rect">
            <a:avLst/>
          </a:prstGeom>
          <a:noFill/>
          <a:ln/>
        </p:spPr>
        <p:txBody>
          <a:bodyPr wrap="square" lIns="0" tIns="0" rIns="0" bIns="0" rtlCol="0" anchor="t"/>
          <a:lstStyle/>
          <a:p>
            <a:pPr algn="ctr" indent="0" marL="0">
              <a:buNone/>
            </a:pPr>
            <a:r>
              <a:rPr lang="en-US" sz="1400" b="1" dirty="0">
                <a:solidFill>
                  <a:schemeClr val="tx1"/>
                </a:solidFill>
              </a:rPr>
              <a:t>curator</a:t>
            </a:r>
            <a:endParaRPr lang="en-US" sz="1400" dirty="0"/>
          </a:p>
        </p:txBody>
      </p:sp>
      <p:sp>
        <p:nvSpPr>
          <p:cNvPr id="26" name="box-464"/>
          <p:cNvSpPr/>
          <p:nvPr/>
        </p:nvSpPr>
        <p:spPr>
          <a:xfrm>
            <a:off x="7040880" y="1325880"/>
            <a:ext cx="4617720" cy="4800600"/>
          </a:xfrm>
          <a:prstGeom prst="roundRect">
            <a:avLst>
              <a:gd name="adj" fmla="val 1584"/>
            </a:avLst>
          </a:prstGeom>
          <a:solidFill>
            <a:schemeClr val="bg2"/>
          </a:solidFill>
          <a:ln w="12700">
            <a:solidFill>
              <a:schemeClr val="bg2"/>
            </a:solidFill>
            <a:prstDash val="solid"/>
          </a:ln>
        </p:spPr>
      </p:sp>
      <p:sp>
        <p:nvSpPr>
          <p:cNvPr id="27" name="text-465"/>
          <p:cNvSpPr txBox="1"/>
          <p:nvPr/>
        </p:nvSpPr>
        <p:spPr>
          <a:xfrm>
            <a:off x="7269480" y="1508760"/>
            <a:ext cx="4206240" cy="365760"/>
          </a:xfrm>
          <a:prstGeom prst="rect">
            <a:avLst/>
          </a:prstGeom>
          <a:noFill/>
          <a:ln/>
        </p:spPr>
        <p:txBody>
          <a:bodyPr wrap="square" lIns="0" tIns="0" rIns="0" bIns="0" rtlCol="0" anchor="t"/>
          <a:lstStyle/>
          <a:p>
            <a:pPr indent="0" marL="0">
              <a:buNone/>
            </a:pPr>
            <a:r>
              <a:rPr lang="en-US" sz="1800" b="1" dirty="0">
                <a:solidFill>
                  <a:schemeClr val="accent1"/>
                </a:solidFill>
              </a:rPr>
              <a:t>What the reasoner adds</a:t>
            </a:r>
            <a:endParaRPr lang="en-US" sz="1800" dirty="0"/>
          </a:p>
        </p:txBody>
      </p:sp>
      <p:sp>
        <p:nvSpPr>
          <p:cNvPr id="28" name="text-466"/>
          <p:cNvSpPr txBox="1"/>
          <p:nvPr/>
        </p:nvSpPr>
        <p:spPr>
          <a:xfrm>
            <a:off x="7269480" y="1920240"/>
            <a:ext cx="4206240" cy="1463040"/>
          </a:xfrm>
          <a:prstGeom prst="rect">
            <a:avLst/>
          </a:prstGeom>
          <a:noFill/>
          <a:ln/>
        </p:spPr>
        <p:txBody>
          <a:bodyPr wrap="square" lIns="0" tIns="0" rIns="0" bIns="0" rtlCol="0" anchor="t"/>
          <a:lstStyle/>
          <a:p>
            <a:pPr indent="0" marL="0">
              <a:buNone/>
            </a:pPr>
            <a:r>
              <a:rPr lang="en-US" sz="1500" dirty="0">
                <a:solidFill>
                  <a:schemeClr val="tx1"/>
                </a:solidFill>
              </a:rPr>
              <a:t>It tells agents and curators where to look. Each conflict names the two bounds and the Uberon path between them: which claim to source next, or which relation to question.</a:t>
            </a:r>
            <a:endParaRPr lang="en-US" sz="1500" dirty="0"/>
          </a:p>
        </p:txBody>
      </p:sp>
      <p:sp>
        <p:nvSpPr>
          <p:cNvPr id="29" name="text-467"/>
          <p:cNvSpPr txBox="1"/>
          <p:nvPr/>
        </p:nvSpPr>
        <p:spPr>
          <a:xfrm>
            <a:off x="7269480" y="3520440"/>
            <a:ext cx="4206240" cy="365760"/>
          </a:xfrm>
          <a:prstGeom prst="rect">
            <a:avLst/>
          </a:prstGeom>
          <a:noFill/>
          <a:ln/>
        </p:spPr>
        <p:txBody>
          <a:bodyPr wrap="square" lIns="0" tIns="0" rIns="0" bIns="0" rtlCol="0" anchor="t"/>
          <a:lstStyle/>
          <a:p>
            <a:pPr indent="0" marL="0">
              <a:buNone/>
            </a:pPr>
            <a:r>
              <a:rPr lang="en-US" sz="1800" b="1" dirty="0">
                <a:solidFill>
                  <a:schemeClr val="accent1"/>
                </a:solidFill>
              </a:rPr>
              <a:t>Already in place</a:t>
            </a:r>
            <a:endParaRPr lang="en-US" sz="1800" dirty="0"/>
          </a:p>
        </p:txBody>
      </p:sp>
      <p:sp>
        <p:nvSpPr>
          <p:cNvPr id="30" name="text-468"/>
          <p:cNvSpPr txBox="1"/>
          <p:nvPr/>
        </p:nvSpPr>
        <p:spPr>
          <a:xfrm>
            <a:off x="7269480" y="3931920"/>
            <a:ext cx="420624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 stage-by-stage corpus of the staging reference, with a quote finder</a:t>
            </a:r>
            <a:endParaRPr lang="en-US" sz="1500" dirty="0"/>
          </a:p>
          <a:p>
            <a:pPr marL="342900" indent="-342900">
              <a:spcAft>
                <a:spcPts val="600"/>
              </a:spcAft>
              <a:buSzPct val="100000"/>
              <a:buChar char="•"/>
            </a:pPr>
            <a:r>
              <a:rPr lang="en-US" sz="1500" dirty="0">
                <a:solidFill>
                  <a:schemeClr val="tx1"/>
                </a:solidFill>
              </a:rPr>
              <a:t>Write-time checks that reject unverifiable evidence</a:t>
            </a:r>
            <a:endParaRPr lang="en-US" sz="1500" dirty="0"/>
          </a:p>
          <a:p>
            <a:pPr marL="342900" indent="-342900">
              <a:spcAft>
                <a:spcPts val="600"/>
              </a:spcAft>
              <a:buSzPct val="100000"/>
              <a:buChar char="•"/>
            </a:pPr>
            <a:r>
              <a:rPr lang="en-US" sz="1500" dirty="0">
                <a:solidFill>
                  <a:schemeClr val="tx1"/>
                </a:solidFill>
              </a:rPr>
              <a:t>The timing network, with conflict reports per axiom</a:t>
            </a:r>
            <a:endParaRPr lang="en-US" sz="15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The proof of concept</a:t>
            </a:r>
            <a:endParaRPr lang="en-US" sz="3000" dirty="0"/>
          </a:p>
        </p:txBody>
      </p:sp>
      <p:sp>
        <p:nvSpPr>
          <p:cNvPr id="3" name="text-469"/>
          <p:cNvSpPr txBox="1"/>
          <p:nvPr/>
        </p:nvSpPr>
        <p:spPr>
          <a:xfrm>
            <a:off x="548640" y="1325880"/>
            <a:ext cx="2468880" cy="365760"/>
          </a:xfrm>
          <a:prstGeom prst="rect">
            <a:avLst/>
          </a:prstGeom>
          <a:noFill/>
          <a:ln/>
        </p:spPr>
        <p:txBody>
          <a:bodyPr wrap="square" lIns="0" tIns="0" rIns="0" bIns="0" rtlCol="0" anchor="t"/>
          <a:lstStyle/>
          <a:p>
            <a:pPr indent="0" marL="0">
              <a:buNone/>
            </a:pPr>
            <a:r>
              <a:rPr lang="en-US" sz="1600" b="1" dirty="0">
                <a:solidFill>
                  <a:schemeClr val="accent1"/>
                </a:solidFill>
              </a:rPr>
              <a:t>Inputs</a:t>
            </a:r>
            <a:endParaRPr lang="en-US" sz="1600" dirty="0"/>
          </a:p>
        </p:txBody>
      </p:sp>
      <p:sp>
        <p:nvSpPr>
          <p:cNvPr id="4" name="pipe-470"/>
          <p:cNvSpPr txBox="1"/>
          <p:nvPr/>
        </p:nvSpPr>
        <p:spPr>
          <a:xfrm>
            <a:off x="548640" y="1783080"/>
            <a:ext cx="2468880" cy="685800"/>
          </a:xfrm>
          <a:prstGeom prst="roundRect">
            <a:avLst>
              <a:gd name="adj" fmla="val 10667"/>
            </a:avLst>
          </a:prstGeom>
          <a:solidFill>
            <a:schemeClr val="bg2"/>
          </a:solidFill>
          <a:ln>
            <a:solidFill>
              <a:schemeClr val="bg2"/>
            </a:solidFill>
          </a:ln>
        </p:spPr>
        <p:txBody>
          <a:bodyPr wrap="square" lIns="0" tIns="76200" rIns="76200" bIns="0" rtlCol="0" anchor="ctr"/>
          <a:lstStyle/>
          <a:p>
            <a:pPr algn="ctr" indent="0" marL="0">
              <a:buNone/>
            </a:pPr>
            <a:r>
              <a:rPr lang="en-US" sz="1400" dirty="0">
                <a:solidFill>
                  <a:schemeClr val="tx1"/>
                </a:solidFill>
              </a:rPr>
              <a:t>Curated table</a:t>
            </a:r>
            <a:endParaRPr lang="en-US" sz="1400" dirty="0"/>
          </a:p>
          <a:p>
            <a:pPr algn="ctr" indent="0" marL="0">
              <a:buNone/>
            </a:pPr>
            <a:r>
              <a:rPr lang="en-US" sz="1400" dirty="0">
                <a:solidFill>
                  <a:schemeClr val="tx1"/>
                </a:solidFill>
              </a:rPr>
              <a:t>174 rows</a:t>
            </a:r>
            <a:endParaRPr lang="en-US" sz="1400" dirty="0"/>
          </a:p>
        </p:txBody>
      </p:sp>
      <p:sp>
        <p:nvSpPr>
          <p:cNvPr id="5" name="pipe-471"/>
          <p:cNvSpPr txBox="1"/>
          <p:nvPr/>
        </p:nvSpPr>
        <p:spPr>
          <a:xfrm>
            <a:off x="548640" y="2606040"/>
            <a:ext cx="2468880" cy="685800"/>
          </a:xfrm>
          <a:prstGeom prst="roundRect">
            <a:avLst>
              <a:gd name="adj" fmla="val 10667"/>
            </a:avLst>
          </a:prstGeom>
          <a:solidFill>
            <a:schemeClr val="bg2"/>
          </a:solidFill>
          <a:ln>
            <a:solidFill>
              <a:schemeClr val="bg2"/>
            </a:solidFill>
          </a:ln>
        </p:spPr>
        <p:txBody>
          <a:bodyPr wrap="square" lIns="0" tIns="76200" rIns="76200" bIns="0" rtlCol="0" anchor="ctr"/>
          <a:lstStyle/>
          <a:p>
            <a:pPr algn="ctr" indent="0" marL="0">
              <a:buNone/>
            </a:pPr>
            <a:r>
              <a:rPr lang="en-US" sz="1400" dirty="0">
                <a:solidFill>
                  <a:schemeClr val="tx1"/>
                </a:solidFill>
              </a:rPr>
              <a:t>Uberon</a:t>
            </a:r>
            <a:endParaRPr lang="en-US" sz="1400" dirty="0"/>
          </a:p>
          <a:p>
            <a:pPr algn="ctr" indent="0" marL="0">
              <a:buNone/>
            </a:pPr>
            <a:r>
              <a:rPr lang="en-US" sz="1400" dirty="0">
                <a:solidFill>
                  <a:schemeClr val="tx1"/>
                </a:solidFill>
              </a:rPr>
              <a:t>30k relations</a:t>
            </a:r>
            <a:endParaRPr lang="en-US" sz="1400" dirty="0"/>
          </a:p>
        </p:txBody>
      </p:sp>
      <p:sp>
        <p:nvSpPr>
          <p:cNvPr id="6" name="pipe-472"/>
          <p:cNvSpPr txBox="1"/>
          <p:nvPr/>
        </p:nvSpPr>
        <p:spPr>
          <a:xfrm>
            <a:off x="548640" y="3429000"/>
            <a:ext cx="2468880" cy="685800"/>
          </a:xfrm>
          <a:prstGeom prst="roundRect">
            <a:avLst>
              <a:gd name="adj" fmla="val 10667"/>
            </a:avLst>
          </a:prstGeom>
          <a:solidFill>
            <a:schemeClr val="bg2"/>
          </a:solidFill>
          <a:ln>
            <a:solidFill>
              <a:schemeClr val="bg2"/>
            </a:solidFill>
          </a:ln>
        </p:spPr>
        <p:txBody>
          <a:bodyPr wrap="square" lIns="0" tIns="76200" rIns="76200" bIns="0" rtlCol="0" anchor="ctr"/>
          <a:lstStyle/>
          <a:p>
            <a:pPr algn="ctr" indent="0" marL="0">
              <a:buNone/>
            </a:pPr>
            <a:r>
              <a:rPr lang="en-US" sz="1400" dirty="0">
                <a:solidFill>
                  <a:schemeClr val="tx1"/>
                </a:solidFill>
              </a:rPr>
              <a:t>HsapDv</a:t>
            </a:r>
            <a:endParaRPr lang="en-US" sz="1400" dirty="0"/>
          </a:p>
          <a:p>
            <a:pPr algn="ctr" indent="0" marL="0">
              <a:buNone/>
            </a:pPr>
            <a:r>
              <a:rPr lang="en-US" sz="1400" dirty="0">
                <a:solidFill>
                  <a:schemeClr val="tx1"/>
                </a:solidFill>
              </a:rPr>
              <a:t>stage order</a:t>
            </a:r>
            <a:endParaRPr lang="en-US" sz="1400" dirty="0"/>
          </a:p>
        </p:txBody>
      </p:sp>
      <p:sp>
        <p:nvSpPr>
          <p:cNvPr id="7" name="text-473"/>
          <p:cNvSpPr txBox="1"/>
          <p:nvPr/>
        </p:nvSpPr>
        <p:spPr>
          <a:xfrm>
            <a:off x="3429000" y="1325880"/>
            <a:ext cx="2194560" cy="365760"/>
          </a:xfrm>
          <a:prstGeom prst="rect">
            <a:avLst/>
          </a:prstGeom>
          <a:noFill/>
          <a:ln/>
        </p:spPr>
        <p:txBody>
          <a:bodyPr wrap="square" lIns="0" tIns="0" rIns="0" bIns="0" rtlCol="0" anchor="t"/>
          <a:lstStyle/>
          <a:p>
            <a:pPr indent="0" marL="0">
              <a:buNone/>
            </a:pPr>
            <a:r>
              <a:rPr lang="en-US" sz="1600" b="1" dirty="0">
                <a:solidFill>
                  <a:schemeClr val="accent1"/>
                </a:solidFill>
              </a:rPr>
              <a:t>Export</a:t>
            </a:r>
            <a:endParaRPr lang="en-US" sz="1600" dirty="0"/>
          </a:p>
        </p:txBody>
      </p:sp>
      <p:sp>
        <p:nvSpPr>
          <p:cNvPr id="8" name="pipe-474"/>
          <p:cNvSpPr txBox="1"/>
          <p:nvPr/>
        </p:nvSpPr>
        <p:spPr>
          <a:xfrm>
            <a:off x="3429000" y="1783080"/>
            <a:ext cx="2194560" cy="685800"/>
          </a:xfrm>
          <a:prstGeom prst="roundRect">
            <a:avLst>
              <a:gd name="adj" fmla="val 10667"/>
            </a:avLst>
          </a:prstGeom>
          <a:solidFill>
            <a:schemeClr val="bg2"/>
          </a:solidFill>
          <a:ln>
            <a:solidFill>
              <a:schemeClr val="bg2"/>
            </a:solidFill>
          </a:ln>
        </p:spPr>
        <p:txBody>
          <a:bodyPr wrap="square" lIns="0" tIns="76200" rIns="76200" bIns="0" rtlCol="0" anchor="ctr"/>
          <a:lstStyle/>
          <a:p>
            <a:pPr algn="ctr" indent="0" marL="0">
              <a:buNone/>
            </a:pPr>
            <a:r>
              <a:rPr lang="en-US" sz="1400" dirty="0">
                <a:solidFill>
                  <a:schemeClr val="tx1"/>
                </a:solidFill>
              </a:rPr>
              <a:t>SPARQL over the build artefacts</a:t>
            </a:r>
            <a:endParaRPr lang="en-US" sz="1400" dirty="0"/>
          </a:p>
        </p:txBody>
      </p:sp>
      <p:sp>
        <p:nvSpPr>
          <p:cNvPr id="9" name="pipe-475"/>
          <p:cNvSpPr txBox="1"/>
          <p:nvPr/>
        </p:nvSpPr>
        <p:spPr>
          <a:xfrm>
            <a:off x="3429000" y="2606040"/>
            <a:ext cx="2194560" cy="685800"/>
          </a:xfrm>
          <a:prstGeom prst="roundRect">
            <a:avLst>
              <a:gd name="adj" fmla="val 10667"/>
            </a:avLst>
          </a:prstGeom>
          <a:solidFill>
            <a:schemeClr val="bg2"/>
          </a:solidFill>
          <a:ln>
            <a:solidFill>
              <a:schemeClr val="bg2"/>
            </a:solidFill>
          </a:ln>
        </p:spPr>
        <p:txBody>
          <a:bodyPr wrap="square" lIns="0" tIns="76200" rIns="76200" bIns="0" rtlCol="0" anchor="ctr"/>
          <a:lstStyle/>
          <a:p>
            <a:pPr algn="ctr" indent="0" marL="0">
              <a:buNone/>
            </a:pPr>
            <a:r>
              <a:rPr lang="en-US" sz="1400" dirty="0">
                <a:solidFill>
                  <a:schemeClr val="tx1"/>
                </a:solidFill>
              </a:rPr>
              <a:t>facts, each tagged with its source axiom</a:t>
            </a:r>
            <a:endParaRPr lang="en-US" sz="1400" dirty="0"/>
          </a:p>
        </p:txBody>
      </p:sp>
      <p:sp>
        <p:nvSpPr>
          <p:cNvPr id="10" name="text-476"/>
          <p:cNvSpPr txBox="1"/>
          <p:nvPr/>
        </p:nvSpPr>
        <p:spPr>
          <a:xfrm>
            <a:off x="6035040" y="1325880"/>
            <a:ext cx="2651760" cy="365760"/>
          </a:xfrm>
          <a:prstGeom prst="rect">
            <a:avLst/>
          </a:prstGeom>
          <a:noFill/>
          <a:ln/>
        </p:spPr>
        <p:txBody>
          <a:bodyPr wrap="square" lIns="0" tIns="0" rIns="0" bIns="0" rtlCol="0" anchor="t"/>
          <a:lstStyle/>
          <a:p>
            <a:pPr indent="0" marL="0">
              <a:buNone/>
            </a:pPr>
            <a:r>
              <a:rPr lang="en-US" sz="1600" b="1" dirty="0">
                <a:solidFill>
                  <a:schemeClr val="accent1"/>
                </a:solidFill>
              </a:rPr>
              <a:t>Reason (Soufflé)</a:t>
            </a:r>
            <a:endParaRPr lang="en-US" sz="1600" dirty="0"/>
          </a:p>
        </p:txBody>
      </p:sp>
      <p:sp>
        <p:nvSpPr>
          <p:cNvPr id="11" name="pipe-477"/>
          <p:cNvSpPr txBox="1"/>
          <p:nvPr/>
        </p:nvSpPr>
        <p:spPr>
          <a:xfrm>
            <a:off x="6035040" y="1783080"/>
            <a:ext cx="2651760" cy="685800"/>
          </a:xfrm>
          <a:prstGeom prst="roundRect">
            <a:avLst>
              <a:gd name="adj" fmla="val 10667"/>
            </a:avLst>
          </a:prstGeom>
          <a:solidFill>
            <a:schemeClr val="accent1"/>
          </a:solidFill>
          <a:ln>
            <a:solidFill>
              <a:schemeClr val="accent1"/>
            </a:solidFill>
          </a:ln>
        </p:spPr>
        <p:txBody>
          <a:bodyPr wrap="square" lIns="0" tIns="76200" rIns="76200" bIns="0" rtlCol="0" anchor="ctr"/>
          <a:lstStyle/>
          <a:p>
            <a:pPr algn="ctr" indent="0" marL="0">
              <a:buNone/>
            </a:pPr>
            <a:r>
              <a:rPr lang="en-US" sz="1400" dirty="0">
                <a:solidFill>
                  <a:schemeClr val="bg1"/>
                </a:solidFill>
              </a:rPr>
              <a:t>semantics.dl</a:t>
            </a:r>
            <a:endParaRPr lang="en-US" sz="1400" dirty="0"/>
          </a:p>
          <a:p>
            <a:pPr algn="ctr" indent="0" marL="0">
              <a:buNone/>
            </a:pPr>
            <a:r>
              <a:rPr lang="en-US" sz="1400" dirty="0">
                <a:solidFill>
                  <a:schemeClr val="bg1"/>
                </a:solidFill>
              </a:rPr>
              <a:t>one rule per relation</a:t>
            </a:r>
            <a:endParaRPr lang="en-US" sz="1400" dirty="0"/>
          </a:p>
        </p:txBody>
      </p:sp>
      <p:sp>
        <p:nvSpPr>
          <p:cNvPr id="12" name="pipe-478"/>
          <p:cNvSpPr txBox="1"/>
          <p:nvPr/>
        </p:nvSpPr>
        <p:spPr>
          <a:xfrm>
            <a:off x="6035040" y="2606040"/>
            <a:ext cx="2651760" cy="685800"/>
          </a:xfrm>
          <a:prstGeom prst="roundRect">
            <a:avLst>
              <a:gd name="adj" fmla="val 10667"/>
            </a:avLst>
          </a:prstGeom>
          <a:solidFill>
            <a:schemeClr val="accent1"/>
          </a:solidFill>
          <a:ln>
            <a:solidFill>
              <a:schemeClr val="accent1"/>
            </a:solidFill>
          </a:ln>
        </p:spPr>
        <p:txBody>
          <a:bodyPr wrap="square" lIns="0" tIns="76200" rIns="76200" bIns="0" rtlCol="0" anchor="ctr"/>
          <a:lstStyle/>
          <a:p>
            <a:pPr algn="ctr" indent="0" marL="0">
              <a:buNone/>
            </a:pPr>
            <a:r>
              <a:rPr lang="en-US" sz="1400" dirty="0">
                <a:solidFill>
                  <a:schemeClr val="bg1"/>
                </a:solidFill>
              </a:rPr>
              <a:t>network.dl</a:t>
            </a:r>
            <a:endParaRPr lang="en-US" sz="1400" dirty="0"/>
          </a:p>
          <a:p>
            <a:pPr algn="ctr" indent="0" marL="0">
              <a:buNone/>
            </a:pPr>
            <a:r>
              <a:rPr lang="en-US" sz="1400" dirty="0">
                <a:solidFill>
                  <a:schemeClr val="bg1"/>
                </a:solidFill>
              </a:rPr>
              <a:t>closure, conflicts, bounds</a:t>
            </a:r>
            <a:endParaRPr lang="en-US" sz="1400" dirty="0"/>
          </a:p>
        </p:txBody>
      </p:sp>
      <p:sp>
        <p:nvSpPr>
          <p:cNvPr id="13" name="pipe-479"/>
          <p:cNvSpPr txBox="1"/>
          <p:nvPr/>
        </p:nvSpPr>
        <p:spPr>
          <a:xfrm>
            <a:off x="6035040" y="3429000"/>
            <a:ext cx="2651760" cy="685800"/>
          </a:xfrm>
          <a:prstGeom prst="roundRect">
            <a:avLst>
              <a:gd name="adj" fmla="val 10667"/>
            </a:avLst>
          </a:prstGeom>
          <a:solidFill>
            <a:schemeClr val="accent1"/>
          </a:solidFill>
          <a:ln>
            <a:solidFill>
              <a:schemeClr val="accent1"/>
            </a:solidFill>
          </a:ln>
        </p:spPr>
        <p:txBody>
          <a:bodyPr wrap="square" lIns="0" tIns="76200" rIns="76200" bIns="0" rtlCol="0" anchor="ctr"/>
          <a:lstStyle/>
          <a:p>
            <a:pPr algn="ctr" indent="0" marL="0">
              <a:buNone/>
            </a:pPr>
            <a:r>
              <a:rPr lang="en-US" sz="1400" dirty="0">
                <a:solidFill>
                  <a:schemeClr val="bg1"/>
                </a:solidFill>
              </a:rPr>
              <a:t>report.dl</a:t>
            </a:r>
            <a:endParaRPr lang="en-US" sz="1400" dirty="0"/>
          </a:p>
          <a:p>
            <a:pPr algn="ctr" indent="0" marL="0">
              <a:buNone/>
            </a:pPr>
            <a:r>
              <a:rPr lang="en-US" sz="1400" dirty="0">
                <a:solidFill>
                  <a:schemeClr val="bg1"/>
                </a:solidFill>
              </a:rPr>
              <a:t>read-only views</a:t>
            </a:r>
            <a:endParaRPr lang="en-US" sz="1400" dirty="0"/>
          </a:p>
        </p:txBody>
      </p:sp>
      <p:sp>
        <p:nvSpPr>
          <p:cNvPr id="14" name="text-480"/>
          <p:cNvSpPr txBox="1"/>
          <p:nvPr/>
        </p:nvSpPr>
        <p:spPr>
          <a:xfrm>
            <a:off x="9098280" y="1325880"/>
            <a:ext cx="2560320" cy="365760"/>
          </a:xfrm>
          <a:prstGeom prst="rect">
            <a:avLst/>
          </a:prstGeom>
          <a:noFill/>
          <a:ln/>
        </p:spPr>
        <p:txBody>
          <a:bodyPr wrap="square" lIns="0" tIns="0" rIns="0" bIns="0" rtlCol="0" anchor="t"/>
          <a:lstStyle/>
          <a:p>
            <a:pPr indent="0" marL="0">
              <a:buNone/>
            </a:pPr>
            <a:r>
              <a:rPr lang="en-US" sz="1600" b="1" dirty="0">
                <a:solidFill>
                  <a:schemeClr val="accent1"/>
                </a:solidFill>
              </a:rPr>
              <a:t>Outputs</a:t>
            </a:r>
            <a:endParaRPr lang="en-US" sz="1600" dirty="0"/>
          </a:p>
        </p:txBody>
      </p:sp>
      <p:sp>
        <p:nvSpPr>
          <p:cNvPr id="15" name="pipe-481"/>
          <p:cNvSpPr txBox="1"/>
          <p:nvPr/>
        </p:nvSpPr>
        <p:spPr>
          <a:xfrm>
            <a:off x="9098280" y="1783080"/>
            <a:ext cx="2560320" cy="685800"/>
          </a:xfrm>
          <a:prstGeom prst="roundRect">
            <a:avLst>
              <a:gd name="adj" fmla="val 10667"/>
            </a:avLst>
          </a:prstGeom>
          <a:solidFill>
            <a:schemeClr val="accent2"/>
          </a:solidFill>
          <a:ln>
            <a:solidFill>
              <a:schemeClr val="accent2"/>
            </a:solidFill>
          </a:ln>
        </p:spPr>
        <p:txBody>
          <a:bodyPr wrap="square" lIns="0" tIns="76200" rIns="76200" bIns="0" rtlCol="0" anchor="ctr"/>
          <a:lstStyle/>
          <a:p>
            <a:pPr algn="ctr" indent="0" marL="0">
              <a:buNone/>
            </a:pPr>
            <a:r>
              <a:rPr lang="en-US" sz="1400" dirty="0">
                <a:solidFill>
                  <a:schemeClr val="tx1"/>
                </a:solidFill>
              </a:rPr>
              <a:t>Conflicts, explained</a:t>
            </a:r>
            <a:endParaRPr lang="en-US" sz="1400" dirty="0"/>
          </a:p>
        </p:txBody>
      </p:sp>
      <p:sp>
        <p:nvSpPr>
          <p:cNvPr id="16" name="pipe-482"/>
          <p:cNvSpPr txBox="1"/>
          <p:nvPr/>
        </p:nvSpPr>
        <p:spPr>
          <a:xfrm>
            <a:off x="9098280" y="2606040"/>
            <a:ext cx="2560320" cy="685800"/>
          </a:xfrm>
          <a:prstGeom prst="roundRect">
            <a:avLst>
              <a:gd name="adj" fmla="val 10667"/>
            </a:avLst>
          </a:prstGeom>
          <a:solidFill>
            <a:schemeClr val="accent2"/>
          </a:solidFill>
          <a:ln>
            <a:solidFill>
              <a:schemeClr val="accent2"/>
            </a:solidFill>
          </a:ln>
        </p:spPr>
        <p:txBody>
          <a:bodyPr wrap="square" lIns="0" tIns="76200" rIns="76200" bIns="0" rtlCol="0" anchor="ctr"/>
          <a:lstStyle/>
          <a:p>
            <a:pPr algn="ctr" indent="0" marL="0">
              <a:buNone/>
            </a:pPr>
            <a:r>
              <a:rPr lang="en-US" sz="1400" dirty="0">
                <a:solidFill>
                  <a:schemeClr val="tx1"/>
                </a:solidFill>
              </a:rPr>
              <a:t>Bounds, new vs curated</a:t>
            </a:r>
            <a:endParaRPr lang="en-US" sz="1400" dirty="0"/>
          </a:p>
        </p:txBody>
      </p:sp>
      <p:sp>
        <p:nvSpPr>
          <p:cNvPr id="17" name="pipe-483"/>
          <p:cNvSpPr txBox="1"/>
          <p:nvPr/>
        </p:nvSpPr>
        <p:spPr>
          <a:xfrm>
            <a:off x="9098280" y="3429000"/>
            <a:ext cx="2560320" cy="685800"/>
          </a:xfrm>
          <a:prstGeom prst="roundRect">
            <a:avLst>
              <a:gd name="adj" fmla="val 10667"/>
            </a:avLst>
          </a:prstGeom>
          <a:solidFill>
            <a:schemeClr val="accent2"/>
          </a:solidFill>
          <a:ln>
            <a:solidFill>
              <a:schemeClr val="accent2"/>
            </a:solidFill>
          </a:ln>
        </p:spPr>
        <p:txBody>
          <a:bodyPr wrap="square" lIns="0" tIns="76200" rIns="76200" bIns="0" rtlCol="0" anchor="ctr"/>
          <a:lstStyle/>
          <a:p>
            <a:pPr algn="ctr" indent="0" marL="0">
              <a:buNone/>
            </a:pPr>
            <a:r>
              <a:rPr lang="en-US" sz="1400" dirty="0">
                <a:solidFill>
                  <a:schemeClr val="tx1"/>
                </a:solidFill>
              </a:rPr>
              <a:t>Queries</a:t>
            </a:r>
            <a:endParaRPr lang="en-US" sz="1400" dirty="0"/>
          </a:p>
        </p:txBody>
      </p:sp>
      <p:sp>
        <p:nvSpPr>
          <p:cNvPr id="18" name="arrow-484"/>
          <p:cNvSpPr/>
          <p:nvPr/>
        </p:nvSpPr>
        <p:spPr>
          <a:xfrm>
            <a:off x="3063240" y="2697480"/>
            <a:ext cx="320040" cy="914"/>
          </a:xfrm>
          <a:prstGeom prst="line">
            <a:avLst/>
          </a:prstGeom>
          <a:noFill/>
          <a:ln w="25400">
            <a:solidFill>
              <a:schemeClr val="accent1"/>
            </a:solidFill>
            <a:prstDash val="solid"/>
            <a:tailEnd type="triangle"/>
          </a:ln>
        </p:spPr>
      </p:sp>
      <p:sp>
        <p:nvSpPr>
          <p:cNvPr id="19" name="arrow-485"/>
          <p:cNvSpPr/>
          <p:nvPr/>
        </p:nvSpPr>
        <p:spPr>
          <a:xfrm>
            <a:off x="5669280" y="2697480"/>
            <a:ext cx="320040" cy="914"/>
          </a:xfrm>
          <a:prstGeom prst="line">
            <a:avLst/>
          </a:prstGeom>
          <a:noFill/>
          <a:ln w="25400">
            <a:solidFill>
              <a:schemeClr val="accent1"/>
            </a:solidFill>
            <a:prstDash val="solid"/>
            <a:tailEnd type="triangle"/>
          </a:ln>
        </p:spPr>
      </p:sp>
      <p:sp>
        <p:nvSpPr>
          <p:cNvPr id="20" name="arrow-486"/>
          <p:cNvSpPr/>
          <p:nvPr/>
        </p:nvSpPr>
        <p:spPr>
          <a:xfrm>
            <a:off x="8732520" y="2697480"/>
            <a:ext cx="320040" cy="914"/>
          </a:xfrm>
          <a:prstGeom prst="line">
            <a:avLst/>
          </a:prstGeom>
          <a:noFill/>
          <a:ln w="25400">
            <a:solidFill>
              <a:schemeClr val="accent1"/>
            </a:solidFill>
            <a:prstDash val="solid"/>
            <a:tailEnd type="triangle"/>
          </a:ln>
        </p:spPr>
      </p:sp>
      <p:sp>
        <p:nvSpPr>
          <p:cNvPr id="21" name="box-487"/>
          <p:cNvSpPr/>
          <p:nvPr/>
        </p:nvSpPr>
        <p:spPr>
          <a:xfrm>
            <a:off x="548640" y="4434840"/>
            <a:ext cx="2633472" cy="1691640"/>
          </a:xfrm>
          <a:prstGeom prst="roundRect">
            <a:avLst>
              <a:gd name="adj" fmla="val 4324"/>
            </a:avLst>
          </a:prstGeom>
          <a:solidFill>
            <a:schemeClr val="bg2"/>
          </a:solidFill>
          <a:ln w="12700">
            <a:solidFill>
              <a:schemeClr val="bg2"/>
            </a:solidFill>
            <a:prstDash val="solid"/>
          </a:ln>
        </p:spPr>
      </p:sp>
      <p:sp>
        <p:nvSpPr>
          <p:cNvPr id="22" name="text-488"/>
          <p:cNvSpPr txBox="1"/>
          <p:nvPr/>
        </p:nvSpPr>
        <p:spPr>
          <a:xfrm>
            <a:off x="731520" y="4526280"/>
            <a:ext cx="2286000" cy="73152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778</a:t>
            </a:r>
            <a:endParaRPr lang="en-US" sz="3600" dirty="0"/>
          </a:p>
        </p:txBody>
      </p:sp>
      <p:sp>
        <p:nvSpPr>
          <p:cNvPr id="23" name="text-489"/>
          <p:cNvSpPr txBox="1"/>
          <p:nvPr/>
        </p:nvSpPr>
        <p:spPr>
          <a:xfrm>
            <a:off x="731520" y="5257800"/>
            <a:ext cx="2286000" cy="822960"/>
          </a:xfrm>
          <a:prstGeom prst="rect">
            <a:avLst/>
          </a:prstGeom>
          <a:noFill/>
          <a:ln/>
        </p:spPr>
        <p:txBody>
          <a:bodyPr wrap="square" lIns="0" tIns="0" rIns="0" bIns="0" rtlCol="0" anchor="t"/>
          <a:lstStyle/>
          <a:p>
            <a:pPr indent="0" marL="0">
              <a:buNone/>
            </a:pPr>
            <a:r>
              <a:rPr lang="en-US" sz="1300" dirty="0">
                <a:solidFill>
                  <a:schemeClr val="accent6"/>
                </a:solidFill>
              </a:rPr>
              <a:t>structures in the network</a:t>
            </a:r>
            <a:endParaRPr lang="en-US" sz="1300" dirty="0"/>
          </a:p>
        </p:txBody>
      </p:sp>
      <p:sp>
        <p:nvSpPr>
          <p:cNvPr id="24" name="box-490"/>
          <p:cNvSpPr/>
          <p:nvPr/>
        </p:nvSpPr>
        <p:spPr>
          <a:xfrm>
            <a:off x="3364992" y="4434840"/>
            <a:ext cx="2633472" cy="1691640"/>
          </a:xfrm>
          <a:prstGeom prst="roundRect">
            <a:avLst>
              <a:gd name="adj" fmla="val 4324"/>
            </a:avLst>
          </a:prstGeom>
          <a:solidFill>
            <a:schemeClr val="bg2"/>
          </a:solidFill>
          <a:ln w="12700">
            <a:solidFill>
              <a:schemeClr val="bg2"/>
            </a:solidFill>
            <a:prstDash val="solid"/>
          </a:ln>
        </p:spPr>
      </p:sp>
      <p:sp>
        <p:nvSpPr>
          <p:cNvPr id="25" name="text-491"/>
          <p:cNvSpPr txBox="1"/>
          <p:nvPr/>
        </p:nvSpPr>
        <p:spPr>
          <a:xfrm>
            <a:off x="3547872" y="4526280"/>
            <a:ext cx="2286000" cy="73152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1.1 M</a:t>
            </a:r>
            <a:endParaRPr lang="en-US" sz="3600" dirty="0"/>
          </a:p>
        </p:txBody>
      </p:sp>
      <p:sp>
        <p:nvSpPr>
          <p:cNvPr id="26" name="text-492"/>
          <p:cNvSpPr txBox="1"/>
          <p:nvPr/>
        </p:nvSpPr>
        <p:spPr>
          <a:xfrm>
            <a:off x="3547872" y="5257800"/>
            <a:ext cx="2286000" cy="822960"/>
          </a:xfrm>
          <a:prstGeom prst="rect">
            <a:avLst/>
          </a:prstGeom>
          <a:noFill/>
          <a:ln/>
        </p:spPr>
        <p:txBody>
          <a:bodyPr wrap="square" lIns="0" tIns="0" rIns="0" bIns="0" rtlCol="0" anchor="t"/>
          <a:lstStyle/>
          <a:p>
            <a:pPr indent="0" marL="0">
              <a:buNone/>
            </a:pPr>
            <a:r>
              <a:rPr lang="en-US" sz="1300" dirty="0">
                <a:solidFill>
                  <a:schemeClr val="accent6"/>
                </a:solidFill>
              </a:rPr>
              <a:t>entailed orderings</a:t>
            </a:r>
            <a:endParaRPr lang="en-US" sz="1300" dirty="0"/>
          </a:p>
        </p:txBody>
      </p:sp>
      <p:sp>
        <p:nvSpPr>
          <p:cNvPr id="27" name="box-493"/>
          <p:cNvSpPr/>
          <p:nvPr/>
        </p:nvSpPr>
        <p:spPr>
          <a:xfrm>
            <a:off x="6181344" y="4434840"/>
            <a:ext cx="2633472" cy="1691640"/>
          </a:xfrm>
          <a:prstGeom prst="roundRect">
            <a:avLst>
              <a:gd name="adj" fmla="val 4324"/>
            </a:avLst>
          </a:prstGeom>
          <a:solidFill>
            <a:schemeClr val="bg2"/>
          </a:solidFill>
          <a:ln w="12700">
            <a:solidFill>
              <a:schemeClr val="bg2"/>
            </a:solidFill>
            <a:prstDash val="solid"/>
          </a:ln>
        </p:spPr>
      </p:sp>
      <p:sp>
        <p:nvSpPr>
          <p:cNvPr id="28" name="text-494"/>
          <p:cNvSpPr txBox="1"/>
          <p:nvPr/>
        </p:nvSpPr>
        <p:spPr>
          <a:xfrm>
            <a:off x="6364224" y="4526280"/>
            <a:ext cx="2286000" cy="73152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~15 s</a:t>
            </a:r>
            <a:endParaRPr lang="en-US" sz="3600" dirty="0"/>
          </a:p>
        </p:txBody>
      </p:sp>
      <p:sp>
        <p:nvSpPr>
          <p:cNvPr id="29" name="text-495"/>
          <p:cNvSpPr txBox="1"/>
          <p:nvPr/>
        </p:nvSpPr>
        <p:spPr>
          <a:xfrm>
            <a:off x="6364224" y="5257800"/>
            <a:ext cx="2286000" cy="822960"/>
          </a:xfrm>
          <a:prstGeom prst="rect">
            <a:avLst/>
          </a:prstGeom>
          <a:noFill/>
          <a:ln/>
        </p:spPr>
        <p:txBody>
          <a:bodyPr wrap="square" lIns="0" tIns="0" rIns="0" bIns="0" rtlCol="0" anchor="t"/>
          <a:lstStyle/>
          <a:p>
            <a:pPr indent="0" marL="0">
              <a:buNone/>
            </a:pPr>
            <a:r>
              <a:rPr lang="en-US" sz="1300" dirty="0">
                <a:solidFill>
                  <a:schemeClr val="accent6"/>
                </a:solidFill>
              </a:rPr>
              <a:t>per reasoning pass</a:t>
            </a:r>
            <a:endParaRPr lang="en-US" sz="1300" dirty="0"/>
          </a:p>
        </p:txBody>
      </p:sp>
      <p:sp>
        <p:nvSpPr>
          <p:cNvPr id="30" name="box-496"/>
          <p:cNvSpPr/>
          <p:nvPr/>
        </p:nvSpPr>
        <p:spPr>
          <a:xfrm>
            <a:off x="8997696" y="4434840"/>
            <a:ext cx="2633472" cy="1691640"/>
          </a:xfrm>
          <a:prstGeom prst="roundRect">
            <a:avLst>
              <a:gd name="adj" fmla="val 4324"/>
            </a:avLst>
          </a:prstGeom>
          <a:solidFill>
            <a:schemeClr val="bg2"/>
          </a:solidFill>
          <a:ln w="12700">
            <a:solidFill>
              <a:schemeClr val="bg2"/>
            </a:solidFill>
            <a:prstDash val="solid"/>
          </a:ln>
        </p:spPr>
      </p:sp>
      <p:sp>
        <p:nvSpPr>
          <p:cNvPr id="31" name="text-497"/>
          <p:cNvSpPr txBox="1"/>
          <p:nvPr/>
        </p:nvSpPr>
        <p:spPr>
          <a:xfrm>
            <a:off x="9180576" y="4526280"/>
            <a:ext cx="2286000" cy="73152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193</a:t>
            </a:r>
            <a:endParaRPr lang="en-US" sz="3600" dirty="0"/>
          </a:p>
        </p:txBody>
      </p:sp>
      <p:sp>
        <p:nvSpPr>
          <p:cNvPr id="32" name="text-498"/>
          <p:cNvSpPr txBox="1"/>
          <p:nvPr/>
        </p:nvSpPr>
        <p:spPr>
          <a:xfrm>
            <a:off x="9180576" y="5257800"/>
            <a:ext cx="2286000" cy="822960"/>
          </a:xfrm>
          <a:prstGeom prst="rect">
            <a:avLst/>
          </a:prstGeom>
          <a:noFill/>
          <a:ln/>
        </p:spPr>
        <p:txBody>
          <a:bodyPr wrap="square" lIns="0" tIns="0" rIns="0" bIns="0" rtlCol="0" anchor="t"/>
          <a:lstStyle/>
          <a:p>
            <a:pPr indent="0" marL="0">
              <a:buNone/>
            </a:pPr>
            <a:r>
              <a:rPr lang="en-US" sz="1300" dirty="0">
                <a:solidFill>
                  <a:schemeClr val="accent6"/>
                </a:solidFill>
              </a:rPr>
              <a:t>tests: hand-checked cases and random networks against a brute-force solver</a:t>
            </a:r>
            <a:endParaRPr lang="en-US" sz="13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What you can ask the network</a:t>
            </a:r>
            <a:endParaRPr lang="en-US" sz="3000" dirty="0"/>
          </a:p>
        </p:txBody>
      </p:sp>
      <p:sp>
        <p:nvSpPr>
          <p:cNvPr id="3" name="box-499"/>
          <p:cNvSpPr/>
          <p:nvPr/>
        </p:nvSpPr>
        <p:spPr>
          <a:xfrm>
            <a:off x="548640" y="1325880"/>
            <a:ext cx="5440680" cy="2148840"/>
          </a:xfrm>
          <a:prstGeom prst="roundRect">
            <a:avLst>
              <a:gd name="adj" fmla="val 3404"/>
            </a:avLst>
          </a:prstGeom>
          <a:solidFill>
            <a:schemeClr val="bg2"/>
          </a:solidFill>
          <a:ln w="12700">
            <a:solidFill>
              <a:schemeClr val="bg2"/>
            </a:solidFill>
            <a:prstDash val="solid"/>
          </a:ln>
        </p:spPr>
      </p:sp>
      <p:sp>
        <p:nvSpPr>
          <p:cNvPr id="4" name="badge-500"/>
          <p:cNvSpPr/>
          <p:nvPr/>
        </p:nvSpPr>
        <p:spPr>
          <a:xfrm>
            <a:off x="777240" y="1527048"/>
            <a:ext cx="502920" cy="502920"/>
          </a:xfrm>
          <a:prstGeom prst="ellipse">
            <a:avLst/>
          </a:prstGeom>
          <a:solidFill>
            <a:schemeClr val="accent1"/>
          </a:solidFill>
          <a:ln w="12700">
            <a:solidFill>
              <a:schemeClr val="accent1"/>
            </a:solidFill>
            <a:prstDash val="solid"/>
          </a:ln>
        </p:spPr>
      </p:sp>
      <p:pic>
        <p:nvPicPr>
          <p:cNvPr id="5" name="icon-501" descr="preencoded.png">    </p:cNvPr>
          <p:cNvPicPr>
            <a:picLocks noChangeAspect="1"/>
          </p:cNvPicPr>
          <p:nvPr/>
        </p:nvPicPr>
        <p:blipFill>
          <a:blip r:embed="rId1"/>
          <a:stretch>
            <a:fillRect/>
          </a:stretch>
        </p:blipFill>
        <p:spPr>
          <a:xfrm>
            <a:off x="897941" y="1647749"/>
            <a:ext cx="261518" cy="261518"/>
          </a:xfrm>
          <a:prstGeom prst="rect">
            <a:avLst/>
          </a:prstGeom>
        </p:spPr>
      </p:pic>
      <p:sp>
        <p:nvSpPr>
          <p:cNvPr id="6" name="text-502"/>
          <p:cNvSpPr txBox="1"/>
          <p:nvPr/>
        </p:nvSpPr>
        <p:spPr>
          <a:xfrm>
            <a:off x="1417320" y="1508760"/>
            <a:ext cx="4389120" cy="594360"/>
          </a:xfrm>
          <a:prstGeom prst="rect">
            <a:avLst/>
          </a:prstGeom>
          <a:noFill/>
          <a:ln/>
        </p:spPr>
        <p:txBody>
          <a:bodyPr wrap="square" lIns="0" tIns="0" rIns="0" bIns="0" rtlCol="0" anchor="ctr"/>
          <a:lstStyle/>
          <a:p>
            <a:pPr indent="0" marL="0">
              <a:buNone/>
            </a:pPr>
            <a:r>
              <a:rPr lang="en-US" sz="1600" b="1" dirty="0">
                <a:solidFill>
                  <a:schemeClr val="tx1"/>
                </a:solidFill>
              </a:rPr>
              <a:t>Could two structures coexist?</a:t>
            </a:r>
            <a:endParaRPr lang="en-US" sz="1600" dirty="0"/>
          </a:p>
        </p:txBody>
      </p:sp>
      <p:sp>
        <p:nvSpPr>
          <p:cNvPr id="7" name="text-503"/>
          <p:cNvSpPr txBox="1"/>
          <p:nvPr/>
        </p:nvSpPr>
        <p:spPr>
          <a:xfrm>
            <a:off x="1417320" y="2221992"/>
            <a:ext cx="3291840" cy="347472"/>
          </a:xfrm>
          <a:prstGeom prst="rect">
            <a:avLst/>
          </a:prstGeom>
          <a:noFill/>
          <a:ln/>
        </p:spPr>
        <p:txBody>
          <a:bodyPr wrap="square" lIns="0" tIns="0" rIns="0" bIns="0" rtlCol="0" anchor="t"/>
          <a:lstStyle/>
          <a:p>
            <a:pPr indent="0" marL="0">
              <a:buNone/>
            </a:pPr>
            <a:r>
              <a:rPr lang="en-US" sz="1400" dirty="0">
                <a:solidFill>
                  <a:schemeClr val="tx1"/>
                </a:solidFill>
              </a:rPr>
              <a:t>heart tube · atrial septum primum</a:t>
            </a:r>
            <a:endParaRPr lang="en-US" sz="1400" dirty="0"/>
          </a:p>
        </p:txBody>
      </p:sp>
      <p:sp>
        <p:nvSpPr>
          <p:cNvPr id="8" name="text-504"/>
          <p:cNvSpPr txBox="1"/>
          <p:nvPr/>
        </p:nvSpPr>
        <p:spPr>
          <a:xfrm>
            <a:off x="4709160" y="2221992"/>
            <a:ext cx="1097280" cy="347472"/>
          </a:xfrm>
          <a:prstGeom prst="rect">
            <a:avLst/>
          </a:prstGeom>
          <a:noFill/>
          <a:ln/>
        </p:spPr>
        <p:txBody>
          <a:bodyPr wrap="square" lIns="0" tIns="0" rIns="0" bIns="0" rtlCol="0" anchor="t"/>
          <a:lstStyle/>
          <a:p>
            <a:pPr algn="r" indent="0" marL="0">
              <a:buNone/>
            </a:pPr>
            <a:r>
              <a:rPr lang="en-US" sz="1400" b="1" dirty="0">
                <a:solidFill>
                  <a:schemeClr val="accent3"/>
                </a:solidFill>
              </a:rPr>
              <a:t>never</a:t>
            </a:r>
            <a:endParaRPr lang="en-US" sz="1400" dirty="0"/>
          </a:p>
        </p:txBody>
      </p:sp>
      <p:sp>
        <p:nvSpPr>
          <p:cNvPr id="9" name="text-505"/>
          <p:cNvSpPr txBox="1"/>
          <p:nvPr/>
        </p:nvSpPr>
        <p:spPr>
          <a:xfrm>
            <a:off x="1417320" y="2606040"/>
            <a:ext cx="3291840" cy="347472"/>
          </a:xfrm>
          <a:prstGeom prst="rect">
            <a:avLst/>
          </a:prstGeom>
          <a:noFill/>
          <a:ln/>
        </p:spPr>
        <p:txBody>
          <a:bodyPr wrap="square" lIns="0" tIns="0" rIns="0" bIns="0" rtlCol="0" anchor="t"/>
          <a:lstStyle/>
          <a:p>
            <a:pPr indent="0" marL="0">
              <a:buNone/>
            </a:pPr>
            <a:r>
              <a:rPr lang="en-US" sz="1400" dirty="0">
                <a:solidFill>
                  <a:schemeClr val="tx1"/>
                </a:solidFill>
              </a:rPr>
              <a:t>intermediate mesoderm · mesonephros</a:t>
            </a:r>
            <a:endParaRPr lang="en-US" sz="1400" dirty="0"/>
          </a:p>
        </p:txBody>
      </p:sp>
      <p:sp>
        <p:nvSpPr>
          <p:cNvPr id="10" name="text-506"/>
          <p:cNvSpPr txBox="1"/>
          <p:nvPr/>
        </p:nvSpPr>
        <p:spPr>
          <a:xfrm>
            <a:off x="4709160" y="2606040"/>
            <a:ext cx="1097280" cy="347472"/>
          </a:xfrm>
          <a:prstGeom prst="rect">
            <a:avLst/>
          </a:prstGeom>
          <a:noFill/>
          <a:ln/>
        </p:spPr>
        <p:txBody>
          <a:bodyPr wrap="square" lIns="0" tIns="0" rIns="0" bIns="0" rtlCol="0" anchor="t"/>
          <a:lstStyle/>
          <a:p>
            <a:pPr algn="r" indent="0" marL="0">
              <a:buNone/>
            </a:pPr>
            <a:r>
              <a:rPr lang="en-US" sz="1400" b="1" dirty="0">
                <a:solidFill>
                  <a:schemeClr val="accent1"/>
                </a:solidFill>
              </a:rPr>
              <a:t>certainly</a:t>
            </a:r>
            <a:endParaRPr lang="en-US" sz="1400" dirty="0"/>
          </a:p>
        </p:txBody>
      </p:sp>
      <p:sp>
        <p:nvSpPr>
          <p:cNvPr id="11" name="text-507"/>
          <p:cNvSpPr txBox="1"/>
          <p:nvPr/>
        </p:nvSpPr>
        <p:spPr>
          <a:xfrm>
            <a:off x="1417320" y="2990088"/>
            <a:ext cx="3291840" cy="347472"/>
          </a:xfrm>
          <a:prstGeom prst="rect">
            <a:avLst/>
          </a:prstGeom>
          <a:noFill/>
          <a:ln/>
        </p:spPr>
        <p:txBody>
          <a:bodyPr wrap="square" lIns="0" tIns="0" rIns="0" bIns="0" rtlCol="0" anchor="t"/>
          <a:lstStyle/>
          <a:p>
            <a:pPr indent="0" marL="0">
              <a:buNone/>
            </a:pPr>
            <a:r>
              <a:rPr lang="en-US" sz="1400" dirty="0">
                <a:solidFill>
                  <a:schemeClr val="tx1"/>
                </a:solidFill>
              </a:rPr>
              <a:t>optic vesicle · optic cup</a:t>
            </a:r>
            <a:endParaRPr lang="en-US" sz="1400" dirty="0"/>
          </a:p>
        </p:txBody>
      </p:sp>
      <p:sp>
        <p:nvSpPr>
          <p:cNvPr id="12" name="text-508"/>
          <p:cNvSpPr txBox="1"/>
          <p:nvPr/>
        </p:nvSpPr>
        <p:spPr>
          <a:xfrm>
            <a:off x="4709160" y="2990088"/>
            <a:ext cx="1097280" cy="347472"/>
          </a:xfrm>
          <a:prstGeom prst="rect">
            <a:avLst/>
          </a:prstGeom>
          <a:noFill/>
          <a:ln/>
        </p:spPr>
        <p:txBody>
          <a:bodyPr wrap="square" lIns="0" tIns="0" rIns="0" bIns="0" rtlCol="0" anchor="t"/>
          <a:lstStyle/>
          <a:p>
            <a:pPr algn="r" indent="0" marL="0">
              <a:buNone/>
            </a:pPr>
            <a:r>
              <a:rPr lang="en-US" sz="1400" b="1" dirty="0">
                <a:solidFill>
                  <a:schemeClr val="accent1"/>
                </a:solidFill>
              </a:rPr>
              <a:t>unknown</a:t>
            </a:r>
            <a:endParaRPr lang="en-US" sz="1400" dirty="0"/>
          </a:p>
        </p:txBody>
      </p:sp>
      <p:sp>
        <p:nvSpPr>
          <p:cNvPr id="13" name="box-509"/>
          <p:cNvSpPr/>
          <p:nvPr/>
        </p:nvSpPr>
        <p:spPr>
          <a:xfrm>
            <a:off x="6172200" y="1325880"/>
            <a:ext cx="5440680" cy="2148840"/>
          </a:xfrm>
          <a:prstGeom prst="roundRect">
            <a:avLst>
              <a:gd name="adj" fmla="val 3404"/>
            </a:avLst>
          </a:prstGeom>
          <a:solidFill>
            <a:schemeClr val="bg2"/>
          </a:solidFill>
          <a:ln w="12700">
            <a:solidFill>
              <a:schemeClr val="bg2"/>
            </a:solidFill>
            <a:prstDash val="solid"/>
          </a:ln>
        </p:spPr>
      </p:sp>
      <p:sp>
        <p:nvSpPr>
          <p:cNvPr id="14" name="badge-510"/>
          <p:cNvSpPr/>
          <p:nvPr/>
        </p:nvSpPr>
        <p:spPr>
          <a:xfrm>
            <a:off x="6400800" y="1527048"/>
            <a:ext cx="502920" cy="502920"/>
          </a:xfrm>
          <a:prstGeom prst="ellipse">
            <a:avLst/>
          </a:prstGeom>
          <a:solidFill>
            <a:schemeClr val="accent1"/>
          </a:solidFill>
          <a:ln w="12700">
            <a:solidFill>
              <a:schemeClr val="accent1"/>
            </a:solidFill>
            <a:prstDash val="solid"/>
          </a:ln>
        </p:spPr>
      </p:sp>
      <p:pic>
        <p:nvPicPr>
          <p:cNvPr id="15" name="icon-511" descr="preencoded.png">    </p:cNvPr>
          <p:cNvPicPr>
            <a:picLocks noChangeAspect="1"/>
          </p:cNvPicPr>
          <p:nvPr/>
        </p:nvPicPr>
        <p:blipFill>
          <a:blip r:embed="rId2"/>
          <a:stretch>
            <a:fillRect/>
          </a:stretch>
        </p:blipFill>
        <p:spPr>
          <a:xfrm>
            <a:off x="6521501" y="1647749"/>
            <a:ext cx="261518" cy="261518"/>
          </a:xfrm>
          <a:prstGeom prst="rect">
            <a:avLst/>
          </a:prstGeom>
        </p:spPr>
      </p:pic>
      <p:sp>
        <p:nvSpPr>
          <p:cNvPr id="16" name="text-512"/>
          <p:cNvSpPr txBox="1"/>
          <p:nvPr/>
        </p:nvSpPr>
        <p:spPr>
          <a:xfrm>
            <a:off x="7040880" y="1508760"/>
            <a:ext cx="4389120" cy="594360"/>
          </a:xfrm>
          <a:prstGeom prst="rect">
            <a:avLst/>
          </a:prstGeom>
          <a:noFill/>
          <a:ln/>
        </p:spPr>
        <p:txBody>
          <a:bodyPr wrap="square" lIns="0" tIns="0" rIns="0" bIns="0" rtlCol="0" anchor="ctr"/>
          <a:lstStyle/>
          <a:p>
            <a:pPr indent="0" marL="0">
              <a:buNone/>
            </a:pPr>
            <a:r>
              <a:rPr lang="en-US" sz="1600" b="1" dirty="0">
                <a:solidFill>
                  <a:schemeClr val="tx1"/>
                </a:solidFill>
              </a:rPr>
              <a:t>What develops from intermediate mesoderm, and when?</a:t>
            </a:r>
            <a:endParaRPr lang="en-US" sz="1600" dirty="0"/>
          </a:p>
        </p:txBody>
      </p:sp>
      <p:sp>
        <p:nvSpPr>
          <p:cNvPr id="17" name="text-513"/>
          <p:cNvSpPr txBox="1"/>
          <p:nvPr/>
        </p:nvSpPr>
        <p:spPr>
          <a:xfrm>
            <a:off x="7040880" y="2221992"/>
            <a:ext cx="3291840" cy="347472"/>
          </a:xfrm>
          <a:prstGeom prst="rect">
            <a:avLst/>
          </a:prstGeom>
          <a:noFill/>
          <a:ln/>
        </p:spPr>
        <p:txBody>
          <a:bodyPr wrap="square" lIns="0" tIns="0" rIns="0" bIns="0" rtlCol="0" anchor="t"/>
          <a:lstStyle/>
          <a:p>
            <a:pPr indent="0" marL="0">
              <a:buNone/>
            </a:pPr>
            <a:r>
              <a:rPr lang="en-US" sz="1400" dirty="0">
                <a:solidFill>
                  <a:schemeClr val="tx1"/>
                </a:solidFill>
              </a:rPr>
              <a:t>metanephros</a:t>
            </a:r>
            <a:endParaRPr lang="en-US" sz="1400" dirty="0"/>
          </a:p>
        </p:txBody>
      </p:sp>
      <p:sp>
        <p:nvSpPr>
          <p:cNvPr id="18" name="text-514"/>
          <p:cNvSpPr txBox="1"/>
          <p:nvPr/>
        </p:nvSpPr>
        <p:spPr>
          <a:xfrm>
            <a:off x="10332720" y="2221992"/>
            <a:ext cx="1097280" cy="347472"/>
          </a:xfrm>
          <a:prstGeom prst="rect">
            <a:avLst/>
          </a:prstGeom>
          <a:noFill/>
          <a:ln/>
        </p:spPr>
        <p:txBody>
          <a:bodyPr wrap="square" lIns="0" tIns="0" rIns="0" bIns="0" rtlCol="0" anchor="t"/>
          <a:lstStyle/>
          <a:p>
            <a:pPr algn="r" indent="0" marL="0">
              <a:buNone/>
            </a:pPr>
            <a:r>
              <a:rPr lang="en-US" sz="1400" b="1" dirty="0">
                <a:solidFill>
                  <a:schemeClr val="accent1"/>
                </a:solidFill>
              </a:rPr>
              <a:t>CS14</a:t>
            </a:r>
            <a:endParaRPr lang="en-US" sz="1400" dirty="0"/>
          </a:p>
        </p:txBody>
      </p:sp>
      <p:sp>
        <p:nvSpPr>
          <p:cNvPr id="19" name="text-515"/>
          <p:cNvSpPr txBox="1"/>
          <p:nvPr/>
        </p:nvSpPr>
        <p:spPr>
          <a:xfrm>
            <a:off x="7040880" y="2606040"/>
            <a:ext cx="3291840" cy="347472"/>
          </a:xfrm>
          <a:prstGeom prst="rect">
            <a:avLst/>
          </a:prstGeom>
          <a:noFill/>
          <a:ln/>
        </p:spPr>
        <p:txBody>
          <a:bodyPr wrap="square" lIns="0" tIns="0" rIns="0" bIns="0" rtlCol="0" anchor="t"/>
          <a:lstStyle/>
          <a:p>
            <a:pPr indent="0" marL="0">
              <a:buNone/>
            </a:pPr>
            <a:r>
              <a:rPr lang="en-US" sz="1400" dirty="0">
                <a:solidFill>
                  <a:schemeClr val="tx1"/>
                </a:solidFill>
              </a:rPr>
              <a:t>gonadal ridge</a:t>
            </a:r>
            <a:endParaRPr lang="en-US" sz="1400" dirty="0"/>
          </a:p>
        </p:txBody>
      </p:sp>
      <p:sp>
        <p:nvSpPr>
          <p:cNvPr id="20" name="text-516"/>
          <p:cNvSpPr txBox="1"/>
          <p:nvPr/>
        </p:nvSpPr>
        <p:spPr>
          <a:xfrm>
            <a:off x="10332720" y="2606040"/>
            <a:ext cx="1097280" cy="347472"/>
          </a:xfrm>
          <a:prstGeom prst="rect">
            <a:avLst/>
          </a:prstGeom>
          <a:noFill/>
          <a:ln/>
        </p:spPr>
        <p:txBody>
          <a:bodyPr wrap="square" lIns="0" tIns="0" rIns="0" bIns="0" rtlCol="0" anchor="t"/>
          <a:lstStyle/>
          <a:p>
            <a:pPr algn="r" indent="0" marL="0">
              <a:buNone/>
            </a:pPr>
            <a:r>
              <a:rPr lang="en-US" sz="1400" b="1" dirty="0">
                <a:solidFill>
                  <a:schemeClr val="accent1"/>
                </a:solidFill>
              </a:rPr>
              <a:t>CS15</a:t>
            </a:r>
            <a:endParaRPr lang="en-US" sz="1400" dirty="0"/>
          </a:p>
        </p:txBody>
      </p:sp>
      <p:sp>
        <p:nvSpPr>
          <p:cNvPr id="21" name="text-517"/>
          <p:cNvSpPr txBox="1"/>
          <p:nvPr/>
        </p:nvSpPr>
        <p:spPr>
          <a:xfrm>
            <a:off x="7040880" y="2990088"/>
            <a:ext cx="3291840" cy="347472"/>
          </a:xfrm>
          <a:prstGeom prst="rect">
            <a:avLst/>
          </a:prstGeom>
          <a:noFill/>
          <a:ln/>
        </p:spPr>
        <p:txBody>
          <a:bodyPr wrap="square" lIns="0" tIns="0" rIns="0" bIns="0" rtlCol="0" anchor="t"/>
          <a:lstStyle/>
          <a:p>
            <a:pPr indent="0" marL="0">
              <a:buNone/>
            </a:pPr>
            <a:r>
              <a:rPr lang="en-US" sz="1400" dirty="0">
                <a:solidFill>
                  <a:schemeClr val="tx1"/>
                </a:solidFill>
              </a:rPr>
              <a:t>Müllerian duct</a:t>
            </a:r>
            <a:endParaRPr lang="en-US" sz="1400" dirty="0"/>
          </a:p>
        </p:txBody>
      </p:sp>
      <p:sp>
        <p:nvSpPr>
          <p:cNvPr id="22" name="text-518"/>
          <p:cNvSpPr txBox="1"/>
          <p:nvPr/>
        </p:nvSpPr>
        <p:spPr>
          <a:xfrm>
            <a:off x="10332720" y="2990088"/>
            <a:ext cx="1097280" cy="347472"/>
          </a:xfrm>
          <a:prstGeom prst="rect">
            <a:avLst/>
          </a:prstGeom>
          <a:noFill/>
          <a:ln/>
        </p:spPr>
        <p:txBody>
          <a:bodyPr wrap="square" lIns="0" tIns="0" rIns="0" bIns="0" rtlCol="0" anchor="t"/>
          <a:lstStyle/>
          <a:p>
            <a:pPr algn="r" indent="0" marL="0">
              <a:buNone/>
            </a:pPr>
            <a:r>
              <a:rPr lang="en-US" sz="1400" b="1" dirty="0">
                <a:solidFill>
                  <a:schemeClr val="accent1"/>
                </a:solidFill>
              </a:rPr>
              <a:t>CS16</a:t>
            </a:r>
            <a:endParaRPr lang="en-US" sz="1400" dirty="0"/>
          </a:p>
        </p:txBody>
      </p:sp>
      <p:sp>
        <p:nvSpPr>
          <p:cNvPr id="23" name="box-519"/>
          <p:cNvSpPr/>
          <p:nvPr/>
        </p:nvSpPr>
        <p:spPr>
          <a:xfrm>
            <a:off x="548640" y="3657600"/>
            <a:ext cx="5440680" cy="2148840"/>
          </a:xfrm>
          <a:prstGeom prst="roundRect">
            <a:avLst>
              <a:gd name="adj" fmla="val 3404"/>
            </a:avLst>
          </a:prstGeom>
          <a:solidFill>
            <a:schemeClr val="bg2"/>
          </a:solidFill>
          <a:ln w="12700">
            <a:solidFill>
              <a:schemeClr val="bg2"/>
            </a:solidFill>
            <a:prstDash val="solid"/>
          </a:ln>
        </p:spPr>
      </p:sp>
      <p:sp>
        <p:nvSpPr>
          <p:cNvPr id="24" name="badge-520"/>
          <p:cNvSpPr/>
          <p:nvPr/>
        </p:nvSpPr>
        <p:spPr>
          <a:xfrm>
            <a:off x="777240" y="3858768"/>
            <a:ext cx="502920" cy="502920"/>
          </a:xfrm>
          <a:prstGeom prst="ellipse">
            <a:avLst/>
          </a:prstGeom>
          <a:solidFill>
            <a:schemeClr val="accent1"/>
          </a:solidFill>
          <a:ln w="12700">
            <a:solidFill>
              <a:schemeClr val="accent1"/>
            </a:solidFill>
            <a:prstDash val="solid"/>
          </a:ln>
        </p:spPr>
      </p:sp>
      <p:pic>
        <p:nvPicPr>
          <p:cNvPr id="25" name="icon-521" descr="preencoded.png">    </p:cNvPr>
          <p:cNvPicPr>
            <a:picLocks noChangeAspect="1"/>
          </p:cNvPicPr>
          <p:nvPr/>
        </p:nvPicPr>
        <p:blipFill>
          <a:blip r:embed="rId3"/>
          <a:stretch>
            <a:fillRect/>
          </a:stretch>
        </p:blipFill>
        <p:spPr>
          <a:xfrm>
            <a:off x="897941" y="3979469"/>
            <a:ext cx="261518" cy="261518"/>
          </a:xfrm>
          <a:prstGeom prst="rect">
            <a:avLst/>
          </a:prstGeom>
        </p:spPr>
      </p:pic>
      <p:sp>
        <p:nvSpPr>
          <p:cNvPr id="26" name="text-522"/>
          <p:cNvSpPr txBox="1"/>
          <p:nvPr/>
        </p:nvSpPr>
        <p:spPr>
          <a:xfrm>
            <a:off x="1417320" y="3840480"/>
            <a:ext cx="4389120" cy="594360"/>
          </a:xfrm>
          <a:prstGeom prst="rect">
            <a:avLst/>
          </a:prstGeom>
          <a:noFill/>
          <a:ln/>
        </p:spPr>
        <p:txBody>
          <a:bodyPr wrap="square" lIns="0" tIns="0" rIns="0" bIns="0" rtlCol="0" anchor="ctr"/>
          <a:lstStyle/>
          <a:p>
            <a:pPr indent="0" marL="0">
              <a:buNone/>
            </a:pPr>
            <a:r>
              <a:rPr lang="en-US" sz="1600" b="1" dirty="0">
                <a:solidFill>
                  <a:schemeClr val="tx1"/>
                </a:solidFill>
              </a:rPr>
              <a:t>What is present during CS12?</a:t>
            </a:r>
            <a:endParaRPr lang="en-US" sz="1600" dirty="0"/>
          </a:p>
        </p:txBody>
      </p:sp>
      <p:sp>
        <p:nvSpPr>
          <p:cNvPr id="27" name="text-523"/>
          <p:cNvSpPr txBox="1"/>
          <p:nvPr/>
        </p:nvSpPr>
        <p:spPr>
          <a:xfrm>
            <a:off x="1417320" y="4553712"/>
            <a:ext cx="3291840" cy="347472"/>
          </a:xfrm>
          <a:prstGeom prst="rect">
            <a:avLst/>
          </a:prstGeom>
          <a:noFill/>
          <a:ln/>
        </p:spPr>
        <p:txBody>
          <a:bodyPr wrap="square" lIns="0" tIns="0" rIns="0" bIns="0" rtlCol="0" anchor="t"/>
          <a:lstStyle/>
          <a:p>
            <a:pPr indent="0" marL="0">
              <a:buNone/>
            </a:pPr>
            <a:r>
              <a:rPr lang="en-US" sz="1400" dirty="0">
                <a:solidFill>
                  <a:schemeClr val="tx1"/>
                </a:solidFill>
              </a:rPr>
              <a:t>certainly</a:t>
            </a:r>
            <a:endParaRPr lang="en-US" sz="1400" dirty="0"/>
          </a:p>
        </p:txBody>
      </p:sp>
      <p:sp>
        <p:nvSpPr>
          <p:cNvPr id="28" name="text-524"/>
          <p:cNvSpPr txBox="1"/>
          <p:nvPr/>
        </p:nvSpPr>
        <p:spPr>
          <a:xfrm>
            <a:off x="4709160" y="4553712"/>
            <a:ext cx="1097280" cy="347472"/>
          </a:xfrm>
          <a:prstGeom prst="rect">
            <a:avLst/>
          </a:prstGeom>
          <a:noFill/>
          <a:ln/>
        </p:spPr>
        <p:txBody>
          <a:bodyPr wrap="square" lIns="0" tIns="0" rIns="0" bIns="0" rtlCol="0" anchor="t"/>
          <a:lstStyle/>
          <a:p>
            <a:pPr algn="r" indent="0" marL="0">
              <a:buNone/>
            </a:pPr>
            <a:r>
              <a:rPr lang="en-US" sz="1400" b="1" dirty="0">
                <a:solidFill>
                  <a:schemeClr val="accent1"/>
                </a:solidFill>
              </a:rPr>
              <a:t>132</a:t>
            </a:r>
            <a:endParaRPr lang="en-US" sz="1400" dirty="0"/>
          </a:p>
        </p:txBody>
      </p:sp>
      <p:sp>
        <p:nvSpPr>
          <p:cNvPr id="29" name="text-525"/>
          <p:cNvSpPr txBox="1"/>
          <p:nvPr/>
        </p:nvSpPr>
        <p:spPr>
          <a:xfrm>
            <a:off x="1417320" y="4937760"/>
            <a:ext cx="3291840" cy="347472"/>
          </a:xfrm>
          <a:prstGeom prst="rect">
            <a:avLst/>
          </a:prstGeom>
          <a:noFill/>
          <a:ln/>
        </p:spPr>
        <p:txBody>
          <a:bodyPr wrap="square" lIns="0" tIns="0" rIns="0" bIns="0" rtlCol="0" anchor="t"/>
          <a:lstStyle/>
          <a:p>
            <a:pPr indent="0" marL="0">
              <a:buNone/>
            </a:pPr>
            <a:r>
              <a:rPr lang="en-US" sz="1400" dirty="0">
                <a:solidFill>
                  <a:schemeClr val="tx1"/>
                </a:solidFill>
              </a:rPr>
              <a:t>possibly</a:t>
            </a:r>
            <a:endParaRPr lang="en-US" sz="1400" dirty="0"/>
          </a:p>
        </p:txBody>
      </p:sp>
      <p:sp>
        <p:nvSpPr>
          <p:cNvPr id="30" name="text-526"/>
          <p:cNvSpPr txBox="1"/>
          <p:nvPr/>
        </p:nvSpPr>
        <p:spPr>
          <a:xfrm>
            <a:off x="4709160" y="4937760"/>
            <a:ext cx="1097280" cy="347472"/>
          </a:xfrm>
          <a:prstGeom prst="rect">
            <a:avLst/>
          </a:prstGeom>
          <a:noFill/>
          <a:ln/>
        </p:spPr>
        <p:txBody>
          <a:bodyPr wrap="square" lIns="0" tIns="0" rIns="0" bIns="0" rtlCol="0" anchor="t"/>
          <a:lstStyle/>
          <a:p>
            <a:pPr algn="r" indent="0" marL="0">
              <a:buNone/>
            </a:pPr>
            <a:r>
              <a:rPr lang="en-US" sz="1400" b="1" dirty="0">
                <a:solidFill>
                  <a:schemeClr val="accent1"/>
                </a:solidFill>
              </a:rPr>
              <a:t>291</a:t>
            </a:r>
            <a:endParaRPr lang="en-US" sz="1400" dirty="0"/>
          </a:p>
        </p:txBody>
      </p:sp>
      <p:sp>
        <p:nvSpPr>
          <p:cNvPr id="31" name="text-527"/>
          <p:cNvSpPr txBox="1"/>
          <p:nvPr/>
        </p:nvSpPr>
        <p:spPr>
          <a:xfrm>
            <a:off x="1417320" y="5321808"/>
            <a:ext cx="3291840" cy="347472"/>
          </a:xfrm>
          <a:prstGeom prst="rect">
            <a:avLst/>
          </a:prstGeom>
          <a:noFill/>
          <a:ln/>
        </p:spPr>
        <p:txBody>
          <a:bodyPr wrap="square" lIns="0" tIns="0" rIns="0" bIns="0" rtlCol="0" anchor="t"/>
          <a:lstStyle/>
          <a:p>
            <a:pPr indent="0" marL="0">
              <a:buNone/>
            </a:pPr>
            <a:r>
              <a:rPr lang="en-US" sz="1400" dirty="0">
                <a:solidFill>
                  <a:schemeClr val="tx1"/>
                </a:solidFill>
              </a:rPr>
              <a:t>e.g. arches, lung bud, forelimb bud</a:t>
            </a:r>
            <a:endParaRPr lang="en-US" sz="1400" dirty="0"/>
          </a:p>
        </p:txBody>
      </p:sp>
      <p:sp>
        <p:nvSpPr>
          <p:cNvPr id="32" name="box-528"/>
          <p:cNvSpPr/>
          <p:nvPr/>
        </p:nvSpPr>
        <p:spPr>
          <a:xfrm>
            <a:off x="6172200" y="3657600"/>
            <a:ext cx="5440680" cy="2148840"/>
          </a:xfrm>
          <a:prstGeom prst="roundRect">
            <a:avLst>
              <a:gd name="adj" fmla="val 3404"/>
            </a:avLst>
          </a:prstGeom>
          <a:solidFill>
            <a:schemeClr val="bg2"/>
          </a:solidFill>
          <a:ln w="12700">
            <a:solidFill>
              <a:schemeClr val="bg2"/>
            </a:solidFill>
            <a:prstDash val="solid"/>
          </a:ln>
        </p:spPr>
      </p:sp>
      <p:sp>
        <p:nvSpPr>
          <p:cNvPr id="33" name="badge-529"/>
          <p:cNvSpPr/>
          <p:nvPr/>
        </p:nvSpPr>
        <p:spPr>
          <a:xfrm>
            <a:off x="6400800" y="3858768"/>
            <a:ext cx="502920" cy="502920"/>
          </a:xfrm>
          <a:prstGeom prst="ellipse">
            <a:avLst/>
          </a:prstGeom>
          <a:solidFill>
            <a:schemeClr val="accent1"/>
          </a:solidFill>
          <a:ln w="12700">
            <a:solidFill>
              <a:schemeClr val="accent1"/>
            </a:solidFill>
            <a:prstDash val="solid"/>
          </a:ln>
        </p:spPr>
      </p:sp>
      <p:pic>
        <p:nvPicPr>
          <p:cNvPr id="34" name="icon-530" descr="preencoded.png">    </p:cNvPr>
          <p:cNvPicPr>
            <a:picLocks noChangeAspect="1"/>
          </p:cNvPicPr>
          <p:nvPr/>
        </p:nvPicPr>
        <p:blipFill>
          <a:blip r:embed="rId4"/>
          <a:stretch>
            <a:fillRect/>
          </a:stretch>
        </p:blipFill>
        <p:spPr>
          <a:xfrm>
            <a:off x="6521501" y="3979469"/>
            <a:ext cx="261518" cy="261518"/>
          </a:xfrm>
          <a:prstGeom prst="rect">
            <a:avLst/>
          </a:prstGeom>
        </p:spPr>
      </p:pic>
      <p:sp>
        <p:nvSpPr>
          <p:cNvPr id="35" name="text-531"/>
          <p:cNvSpPr txBox="1"/>
          <p:nvPr/>
        </p:nvSpPr>
        <p:spPr>
          <a:xfrm>
            <a:off x="7040880" y="3840480"/>
            <a:ext cx="4389120" cy="594360"/>
          </a:xfrm>
          <a:prstGeom prst="rect">
            <a:avLst/>
          </a:prstGeom>
          <a:noFill/>
          <a:ln/>
        </p:spPr>
        <p:txBody>
          <a:bodyPr wrap="square" lIns="0" tIns="0" rIns="0" bIns="0" rtlCol="0" anchor="ctr"/>
          <a:lstStyle/>
          <a:p>
            <a:pPr indent="0" marL="0">
              <a:buNone/>
            </a:pPr>
            <a:r>
              <a:rPr lang="en-US" sz="1600" b="1" dirty="0">
                <a:solidFill>
                  <a:schemeClr val="tx1"/>
                </a:solidFill>
              </a:rPr>
              <a:t>What must exist before metanephros starts?</a:t>
            </a:r>
            <a:endParaRPr lang="en-US" sz="1600" dirty="0"/>
          </a:p>
        </p:txBody>
      </p:sp>
      <p:sp>
        <p:nvSpPr>
          <p:cNvPr id="36" name="text-532"/>
          <p:cNvSpPr txBox="1"/>
          <p:nvPr/>
        </p:nvSpPr>
        <p:spPr>
          <a:xfrm>
            <a:off x="7040880" y="4553712"/>
            <a:ext cx="3291840" cy="347472"/>
          </a:xfrm>
          <a:prstGeom prst="rect">
            <a:avLst/>
          </a:prstGeom>
          <a:noFill/>
          <a:ln/>
        </p:spPr>
        <p:txBody>
          <a:bodyPr wrap="square" lIns="0" tIns="0" rIns="0" bIns="0" rtlCol="0" anchor="t"/>
          <a:lstStyle/>
          <a:p>
            <a:pPr indent="0" marL="0">
              <a:buNone/>
            </a:pPr>
            <a:r>
              <a:rPr lang="en-US" sz="1400" dirty="0">
                <a:solidFill>
                  <a:schemeClr val="tx1"/>
                </a:solidFill>
              </a:rPr>
              <a:t>ureteric bud</a:t>
            </a:r>
            <a:endParaRPr lang="en-US" sz="1400" dirty="0"/>
          </a:p>
        </p:txBody>
      </p:sp>
      <p:sp>
        <p:nvSpPr>
          <p:cNvPr id="37" name="text-533"/>
          <p:cNvSpPr txBox="1"/>
          <p:nvPr/>
        </p:nvSpPr>
        <p:spPr>
          <a:xfrm>
            <a:off x="7040880" y="4937760"/>
            <a:ext cx="3291840" cy="347472"/>
          </a:xfrm>
          <a:prstGeom prst="rect">
            <a:avLst/>
          </a:prstGeom>
          <a:noFill/>
          <a:ln/>
        </p:spPr>
        <p:txBody>
          <a:bodyPr wrap="square" lIns="0" tIns="0" rIns="0" bIns="0" rtlCol="0" anchor="t"/>
          <a:lstStyle/>
          <a:p>
            <a:pPr indent="0" marL="0">
              <a:buNone/>
            </a:pPr>
            <a:r>
              <a:rPr lang="en-US" sz="1400" dirty="0">
                <a:solidFill>
                  <a:schemeClr val="tx1"/>
                </a:solidFill>
              </a:rPr>
              <a:t>metanephric mesenchyme</a:t>
            </a:r>
            <a:endParaRPr lang="en-US" sz="1400" dirty="0"/>
          </a:p>
        </p:txBody>
      </p:sp>
      <p:sp>
        <p:nvSpPr>
          <p:cNvPr id="38" name="text-534"/>
          <p:cNvSpPr txBox="1"/>
          <p:nvPr/>
        </p:nvSpPr>
        <p:spPr>
          <a:xfrm>
            <a:off x="7040880" y="5321808"/>
            <a:ext cx="3291840" cy="347472"/>
          </a:xfrm>
          <a:prstGeom prst="rect">
            <a:avLst/>
          </a:prstGeom>
          <a:noFill/>
          <a:ln/>
        </p:spPr>
        <p:txBody>
          <a:bodyPr wrap="square" lIns="0" tIns="0" rIns="0" bIns="0" rtlCol="0" anchor="t"/>
          <a:lstStyle/>
          <a:p>
            <a:pPr indent="0" marL="0">
              <a:buNone/>
            </a:pPr>
            <a:r>
              <a:rPr lang="en-US" sz="1400" dirty="0">
                <a:solidFill>
                  <a:schemeClr val="tx1"/>
                </a:solidFill>
              </a:rPr>
              <a:t>mesonephros, and more</a:t>
            </a:r>
            <a:endParaRPr lang="en-US" sz="1400" dirty="0"/>
          </a:p>
        </p:txBody>
      </p:sp>
      <p:sp>
        <p:nvSpPr>
          <p:cNvPr id="39" name="text-535"/>
          <p:cNvSpPr txBox="1"/>
          <p:nvPr/>
        </p:nvSpPr>
        <p:spPr>
          <a:xfrm>
            <a:off x="548640" y="6035040"/>
            <a:ext cx="11064240" cy="457200"/>
          </a:xfrm>
          <a:prstGeom prst="rect">
            <a:avLst/>
          </a:prstGeom>
          <a:noFill/>
          <a:ln/>
        </p:spPr>
        <p:txBody>
          <a:bodyPr wrap="square" lIns="0" tIns="0" rIns="0" bIns="0" rtlCol="0" anchor="t"/>
          <a:lstStyle/>
          <a:p>
            <a:pPr indent="0" marL="0">
              <a:buNone/>
            </a:pPr>
            <a:r>
              <a:rPr lang="en-US" sz="1300" i="1" dirty="0">
                <a:solidFill>
                  <a:schemeClr val="accent6"/>
                </a:solidFill>
              </a:rPr>
              <a:t>"Certainly" means entailed by the curated bounds plus Uberon. "Unknown": the optic vesicle ends and the optic cup starts in the same stage, so their order is open.</a:t>
            </a:r>
            <a:endParaRPr lang="en-US" sz="13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How a timing conflict is found</a:t>
            </a:r>
            <a:endParaRPr lang="en-US" sz="3000" dirty="0"/>
          </a:p>
        </p:txBody>
      </p:sp>
      <p:sp>
        <p:nvSpPr>
          <p:cNvPr id="3" name="text-536"/>
          <p:cNvSpPr txBox="1"/>
          <p:nvPr/>
        </p:nvSpPr>
        <p:spPr>
          <a:xfrm>
            <a:off x="548640" y="1325880"/>
            <a:ext cx="6766560" cy="365760"/>
          </a:xfrm>
          <a:prstGeom prst="rect">
            <a:avLst/>
          </a:prstGeom>
          <a:noFill/>
          <a:ln/>
        </p:spPr>
        <p:txBody>
          <a:bodyPr wrap="square" lIns="0" tIns="0" rIns="0" bIns="0" rtlCol="0" anchor="t"/>
          <a:lstStyle/>
          <a:p>
            <a:pPr indent="0" marL="0">
              <a:buNone/>
            </a:pPr>
            <a:r>
              <a:rPr lang="en-US" sz="1800" b="1" dirty="0">
                <a:solidFill>
                  <a:schemeClr val="accent1"/>
                </a:solidFill>
              </a:rPr>
              <a:t>Neural tube marginal layer vs mantle layer</a:t>
            </a:r>
            <a:endParaRPr lang="en-US" sz="1800" dirty="0"/>
          </a:p>
        </p:txBody>
      </p:sp>
      <p:sp>
        <p:nvSpPr>
          <p:cNvPr id="4" name="stage-537"/>
          <p:cNvSpPr txBox="1"/>
          <p:nvPr/>
        </p:nvSpPr>
        <p:spPr>
          <a:xfrm>
            <a:off x="548640" y="1783080"/>
            <a:ext cx="169164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CS11</a:t>
            </a:r>
            <a:endParaRPr lang="en-US" sz="1200" dirty="0"/>
          </a:p>
        </p:txBody>
      </p:sp>
      <p:sp>
        <p:nvSpPr>
          <p:cNvPr id="5" name="stage-538"/>
          <p:cNvSpPr txBox="1"/>
          <p:nvPr/>
        </p:nvSpPr>
        <p:spPr>
          <a:xfrm>
            <a:off x="2240280" y="1783080"/>
            <a:ext cx="169164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CS12</a:t>
            </a:r>
            <a:endParaRPr lang="en-US" sz="1200" dirty="0"/>
          </a:p>
        </p:txBody>
      </p:sp>
      <p:sp>
        <p:nvSpPr>
          <p:cNvPr id="6" name="stage-539"/>
          <p:cNvSpPr txBox="1"/>
          <p:nvPr/>
        </p:nvSpPr>
        <p:spPr>
          <a:xfrm>
            <a:off x="3931920" y="1783080"/>
            <a:ext cx="1691640" cy="384048"/>
          </a:xfrm>
          <a:prstGeom prst="rect">
            <a:avLst/>
          </a:prstGeom>
          <a:solidFill>
            <a:schemeClr val="bg2"/>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CS13</a:t>
            </a:r>
            <a:endParaRPr lang="en-US" sz="1200" dirty="0"/>
          </a:p>
        </p:txBody>
      </p:sp>
      <p:sp>
        <p:nvSpPr>
          <p:cNvPr id="7" name="stage-540"/>
          <p:cNvSpPr txBox="1"/>
          <p:nvPr/>
        </p:nvSpPr>
        <p:spPr>
          <a:xfrm>
            <a:off x="5623560" y="1783080"/>
            <a:ext cx="1691640" cy="384048"/>
          </a:xfrm>
          <a:prstGeom prst="rect">
            <a:avLst/>
          </a:prstGeom>
          <a:solidFill>
            <a:schemeClr val="bg1"/>
          </a:solidFill>
          <a:ln w="9525">
            <a:solidFill>
              <a:schemeClr val="accent5"/>
            </a:solidFill>
          </a:ln>
        </p:spPr>
        <p:txBody>
          <a:bodyPr wrap="square" lIns="0" tIns="0" rIns="0" bIns="0" rtlCol="0" anchor="ctr"/>
          <a:lstStyle/>
          <a:p>
            <a:pPr algn="ctr" indent="0" marL="0">
              <a:buNone/>
            </a:pPr>
            <a:r>
              <a:rPr lang="en-US" sz="1200" dirty="0">
                <a:solidFill>
                  <a:schemeClr val="accent6"/>
                </a:solidFill>
              </a:rPr>
              <a:t>CS14</a:t>
            </a:r>
            <a:endParaRPr lang="en-US" sz="1200" dirty="0"/>
          </a:p>
        </p:txBody>
      </p:sp>
      <p:sp>
        <p:nvSpPr>
          <p:cNvPr id="8" name="bar-541"/>
          <p:cNvSpPr txBox="1"/>
          <p:nvPr/>
        </p:nvSpPr>
        <p:spPr>
          <a:xfrm>
            <a:off x="2832354" y="2377440"/>
            <a:ext cx="4482846" cy="329184"/>
          </a:xfrm>
          <a:prstGeom prst="roundRect">
            <a:avLst>
              <a:gd name="adj" fmla="val 19444"/>
            </a:avLst>
          </a:prstGeom>
          <a:solidFill>
            <a:schemeClr val="accent2"/>
          </a:solidFill>
          <a:ln>
            <a:solidFill>
              <a:schemeClr val="accent2"/>
            </a:solidFill>
          </a:ln>
        </p:spPr>
        <p:txBody>
          <a:bodyPr wrap="square" lIns="0" tIns="101600" rIns="101600" bIns="0" rtlCol="0" anchor="ctr"/>
          <a:lstStyle/>
          <a:p>
            <a:pPr algn="l" indent="0" marL="0">
              <a:buNone/>
            </a:pPr>
            <a:r>
              <a:rPr lang="en-US" sz="1300" dirty="0">
                <a:solidFill>
                  <a:schemeClr val="tx1"/>
                </a:solidFill>
              </a:rPr>
              <a:t>marginal layer · CS12 · sourced</a:t>
            </a:r>
            <a:endParaRPr lang="en-US" sz="1300" dirty="0"/>
          </a:p>
        </p:txBody>
      </p:sp>
      <p:sp>
        <p:nvSpPr>
          <p:cNvPr id="9" name="bar-542"/>
          <p:cNvSpPr txBox="1"/>
          <p:nvPr/>
        </p:nvSpPr>
        <p:spPr>
          <a:xfrm>
            <a:off x="4523994" y="2834640"/>
            <a:ext cx="2791206" cy="329184"/>
          </a:xfrm>
          <a:prstGeom prst="roundRect">
            <a:avLst>
              <a:gd name="adj" fmla="val 19444"/>
            </a:avLst>
          </a:prstGeom>
          <a:solidFill>
            <a:schemeClr val="accent6"/>
          </a:solidFill>
          <a:ln>
            <a:solidFill>
              <a:schemeClr val="accent6"/>
            </a:solidFill>
          </a:ln>
        </p:spPr>
        <p:txBody>
          <a:bodyPr wrap="square" lIns="0" tIns="101600" rIns="101600" bIns="0" rtlCol="0" anchor="ctr"/>
          <a:lstStyle/>
          <a:p>
            <a:pPr algn="l" indent="0" marL="0">
              <a:buNone/>
            </a:pPr>
            <a:r>
              <a:rPr lang="en-US" sz="1300" dirty="0">
                <a:solidFill>
                  <a:schemeClr val="bg1"/>
                </a:solidFill>
              </a:rPr>
              <a:t>mantle layer · CS13 · sourced</a:t>
            </a:r>
            <a:endParaRPr lang="en-US" sz="1300" dirty="0"/>
          </a:p>
        </p:txBody>
      </p:sp>
      <p:sp>
        <p:nvSpPr>
          <p:cNvPr id="10" name="text-543"/>
          <p:cNvSpPr txBox="1"/>
          <p:nvPr/>
        </p:nvSpPr>
        <p:spPr>
          <a:xfrm>
            <a:off x="548640" y="3429000"/>
            <a:ext cx="6766560" cy="365760"/>
          </a:xfrm>
          <a:prstGeom prst="rect">
            <a:avLst/>
          </a:prstGeom>
          <a:noFill/>
          <a:ln/>
        </p:spPr>
        <p:txBody>
          <a:bodyPr wrap="square" lIns="0" tIns="0" rIns="0" bIns="0" rtlCol="0" anchor="t"/>
          <a:lstStyle/>
          <a:p>
            <a:pPr indent="0" marL="0">
              <a:buNone/>
            </a:pPr>
            <a:r>
              <a:rPr lang="en-US" sz="1500" b="1" dirty="0">
                <a:solidFill>
                  <a:schemeClr val="accent3"/>
                </a:solidFill>
              </a:rPr>
              <a:t>Uberon:  marginal layer develops_from mantle layer</a:t>
            </a:r>
            <a:endParaRPr lang="en-US" sz="1500" dirty="0"/>
          </a:p>
        </p:txBody>
      </p:sp>
      <p:sp>
        <p:nvSpPr>
          <p:cNvPr id="11" name="box-544"/>
          <p:cNvSpPr/>
          <p:nvPr/>
        </p:nvSpPr>
        <p:spPr>
          <a:xfrm>
            <a:off x="548640" y="3931920"/>
            <a:ext cx="6766560" cy="1600200"/>
          </a:xfrm>
          <a:prstGeom prst="roundRect">
            <a:avLst>
              <a:gd name="adj" fmla="val 4571"/>
            </a:avLst>
          </a:prstGeom>
          <a:solidFill>
            <a:schemeClr val="bg2"/>
          </a:solidFill>
          <a:ln w="12700">
            <a:solidFill>
              <a:schemeClr val="bg2"/>
            </a:solidFill>
            <a:prstDash val="solid"/>
          </a:ln>
        </p:spPr>
      </p:sp>
      <p:sp>
        <p:nvSpPr>
          <p:cNvPr id="12" name="text-545"/>
          <p:cNvSpPr txBox="1"/>
          <p:nvPr/>
        </p:nvSpPr>
        <p:spPr>
          <a:xfrm>
            <a:off x="777240" y="4041648"/>
            <a:ext cx="6400800" cy="1417320"/>
          </a:xfrm>
          <a:prstGeom prst="rect">
            <a:avLst/>
          </a:prstGeom>
          <a:noFill/>
          <a:ln/>
        </p:spPr>
        <p:txBody>
          <a:bodyPr wrap="square" lIns="0" tIns="0" rIns="0" bIns="0" rtlCol="0" anchor="t"/>
          <a:lstStyle/>
          <a:p>
            <a:pPr indent="0" marL="0">
              <a:buNone/>
            </a:pPr>
            <a:r>
              <a:rPr lang="en-US" sz="1500" dirty="0">
                <a:solidFill>
                  <a:schemeClr val="tx1"/>
                </a:solidFill>
                <a:latin typeface="Cambria" pitchFamily="34" charset="0"/>
                <a:ea typeface="Cambria" pitchFamily="34" charset="-122"/>
                <a:cs typeface="Cambria" pitchFamily="34" charset="-120"/>
              </a:rPr>
              <a:t>start(CS13)  ≤  s(mantle)</a:t>
            </a:r>
            <a:endParaRPr lang="en-US" sz="1500" dirty="0"/>
          </a:p>
          <a:p>
            <a:pPr indent="0" marL="0">
              <a:buNone/>
            </a:pPr>
            <a:r>
              <a:rPr lang="en-US" sz="1500" dirty="0">
                <a:solidFill>
                  <a:schemeClr val="tx1"/>
                </a:solidFill>
                <a:latin typeface="Cambria" pitchFamily="34" charset="0"/>
                <a:ea typeface="Cambria" pitchFamily="34" charset="-122"/>
                <a:cs typeface="Cambria" pitchFamily="34" charset="-120"/>
              </a:rPr>
              <a:t>                &lt;  s(marginal)       develops_from</a:t>
            </a:r>
            <a:endParaRPr lang="en-US" sz="1500" dirty="0"/>
          </a:p>
          <a:p>
            <a:pPr indent="0" marL="0">
              <a:buNone/>
            </a:pPr>
            <a:r>
              <a:rPr lang="en-US" sz="1500" dirty="0">
                <a:solidFill>
                  <a:schemeClr val="tx1"/>
                </a:solidFill>
                <a:latin typeface="Cambria" pitchFamily="34" charset="0"/>
                <a:ea typeface="Cambria" pitchFamily="34" charset="-122"/>
                <a:cs typeface="Cambria" pitchFamily="34" charset="-120"/>
              </a:rPr>
              <a:t>                &lt;  end(CS12)  =  start(CS13)</a:t>
            </a:r>
            <a:endParaRPr lang="en-US" sz="1500" dirty="0"/>
          </a:p>
          <a:p>
            <a:pPr indent="0" marL="0">
              <a:buNone/>
            </a:pPr>
            <a:r>
              <a:rPr lang="en-US" sz="1500" b="1" dirty="0">
                <a:solidFill>
                  <a:schemeClr val="accent3"/>
                </a:solidFill>
                <a:latin typeface="Cambria" pitchFamily="34" charset="0"/>
                <a:ea typeface="Cambria" pitchFamily="34" charset="-122"/>
                <a:cs typeface="Cambria" pitchFamily="34" charset="-120"/>
              </a:rPr>
              <a:t>⇒  a point strictly before itself</a:t>
            </a:r>
            <a:endParaRPr lang="en-US" sz="1500" dirty="0"/>
          </a:p>
        </p:txBody>
      </p:sp>
      <p:sp>
        <p:nvSpPr>
          <p:cNvPr id="13" name="text-546"/>
          <p:cNvSpPr txBox="1"/>
          <p:nvPr/>
        </p:nvSpPr>
        <p:spPr>
          <a:xfrm>
            <a:off x="548640" y="5669280"/>
            <a:ext cx="6766560" cy="502920"/>
          </a:xfrm>
          <a:prstGeom prst="rect">
            <a:avLst/>
          </a:prstGeom>
          <a:noFill/>
          <a:ln/>
        </p:spPr>
        <p:txBody>
          <a:bodyPr wrap="square" lIns="0" tIns="0" rIns="0" bIns="0" rtlCol="0" anchor="t"/>
          <a:lstStyle/>
          <a:p>
            <a:pPr indent="0" marL="0">
              <a:buNone/>
            </a:pPr>
            <a:r>
              <a:rPr lang="en-US" sz="1300" i="1" dirty="0">
                <a:solidFill>
                  <a:schemeClr val="accent6"/>
                </a:solidFill>
              </a:rPr>
              <a:t>Uberon's axiom note says the layer "forms from axons": what it is made of, not what it develops from.</a:t>
            </a:r>
            <a:endParaRPr lang="en-US" sz="1300" dirty="0"/>
          </a:p>
        </p:txBody>
      </p:sp>
      <p:sp>
        <p:nvSpPr>
          <p:cNvPr id="14" name="box-547"/>
          <p:cNvSpPr/>
          <p:nvPr/>
        </p:nvSpPr>
        <p:spPr>
          <a:xfrm>
            <a:off x="7680960" y="1325880"/>
            <a:ext cx="3977640" cy="1417320"/>
          </a:xfrm>
          <a:prstGeom prst="roundRect">
            <a:avLst>
              <a:gd name="adj" fmla="val 5161"/>
            </a:avLst>
          </a:prstGeom>
          <a:solidFill>
            <a:schemeClr val="bg2"/>
          </a:solidFill>
          <a:ln w="12700">
            <a:solidFill>
              <a:schemeClr val="bg2"/>
            </a:solidFill>
            <a:prstDash val="solid"/>
          </a:ln>
        </p:spPr>
      </p:sp>
      <p:sp>
        <p:nvSpPr>
          <p:cNvPr id="15" name="num-548"/>
          <p:cNvSpPr/>
          <p:nvPr/>
        </p:nvSpPr>
        <p:spPr>
          <a:xfrm>
            <a:off x="7863840" y="1508760"/>
            <a:ext cx="457200" cy="457200"/>
          </a:xfrm>
          <a:prstGeom prst="ellipse">
            <a:avLst/>
          </a:prstGeom>
          <a:solidFill>
            <a:schemeClr val="accent1"/>
          </a:solidFill>
          <a:ln w="12700">
            <a:solidFill>
              <a:schemeClr val="accent1"/>
            </a:solidFill>
            <a:prstDash val="solid"/>
          </a:ln>
        </p:spPr>
      </p:sp>
      <p:sp>
        <p:nvSpPr>
          <p:cNvPr id="16" name="text-549"/>
          <p:cNvSpPr txBox="1"/>
          <p:nvPr/>
        </p:nvSpPr>
        <p:spPr>
          <a:xfrm>
            <a:off x="7863840" y="1508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7" name="text-550"/>
          <p:cNvSpPr txBox="1"/>
          <p:nvPr/>
        </p:nvSpPr>
        <p:spPr>
          <a:xfrm>
            <a:off x="8503920" y="1527048"/>
            <a:ext cx="3017520" cy="365760"/>
          </a:xfrm>
          <a:prstGeom prst="rect">
            <a:avLst/>
          </a:prstGeom>
          <a:noFill/>
          <a:ln/>
        </p:spPr>
        <p:txBody>
          <a:bodyPr wrap="square" lIns="0" tIns="0" rIns="0" bIns="0" rtlCol="0" anchor="t"/>
          <a:lstStyle/>
          <a:p>
            <a:pPr indent="0" marL="0">
              <a:buNone/>
            </a:pPr>
            <a:r>
              <a:rPr lang="en-US" sz="1600" b="1" dirty="0">
                <a:solidFill>
                  <a:schemeClr val="tx1"/>
                </a:solidFill>
              </a:rPr>
              <a:t>Find</a:t>
            </a:r>
            <a:endParaRPr lang="en-US" sz="1600" dirty="0"/>
          </a:p>
        </p:txBody>
      </p:sp>
      <p:sp>
        <p:nvSpPr>
          <p:cNvPr id="18" name="text-551"/>
          <p:cNvSpPr txBox="1"/>
          <p:nvPr/>
        </p:nvSpPr>
        <p:spPr>
          <a:xfrm>
            <a:off x="8503920" y="1892808"/>
            <a:ext cx="3017520" cy="777240"/>
          </a:xfrm>
          <a:prstGeom prst="rect">
            <a:avLst/>
          </a:prstGeom>
          <a:noFill/>
          <a:ln/>
        </p:spPr>
        <p:txBody>
          <a:bodyPr wrap="square" lIns="0" tIns="0" rIns="0" bIns="0" rtlCol="0" anchor="t"/>
          <a:lstStyle/>
          <a:p>
            <a:pPr indent="0" marL="0">
              <a:buNone/>
            </a:pPr>
            <a:r>
              <a:rPr lang="en-US" sz="1400" dirty="0">
                <a:solidFill>
                  <a:schemeClr val="tx1"/>
                </a:solidFill>
              </a:rPr>
              <a:t>a chain of statements that puts some point strictly before itself</a:t>
            </a:r>
            <a:endParaRPr lang="en-US" sz="1400" dirty="0"/>
          </a:p>
        </p:txBody>
      </p:sp>
      <p:sp>
        <p:nvSpPr>
          <p:cNvPr id="19" name="box-552"/>
          <p:cNvSpPr/>
          <p:nvPr/>
        </p:nvSpPr>
        <p:spPr>
          <a:xfrm>
            <a:off x="7680960" y="2926080"/>
            <a:ext cx="3977640" cy="1417320"/>
          </a:xfrm>
          <a:prstGeom prst="roundRect">
            <a:avLst>
              <a:gd name="adj" fmla="val 5161"/>
            </a:avLst>
          </a:prstGeom>
          <a:solidFill>
            <a:schemeClr val="bg2"/>
          </a:solidFill>
          <a:ln w="12700">
            <a:solidFill>
              <a:schemeClr val="bg2"/>
            </a:solidFill>
            <a:prstDash val="solid"/>
          </a:ln>
        </p:spPr>
      </p:sp>
      <p:sp>
        <p:nvSpPr>
          <p:cNvPr id="20" name="num-553"/>
          <p:cNvSpPr/>
          <p:nvPr/>
        </p:nvSpPr>
        <p:spPr>
          <a:xfrm>
            <a:off x="7863840" y="3108960"/>
            <a:ext cx="457200" cy="457200"/>
          </a:xfrm>
          <a:prstGeom prst="ellipse">
            <a:avLst/>
          </a:prstGeom>
          <a:solidFill>
            <a:schemeClr val="accent1"/>
          </a:solidFill>
          <a:ln w="12700">
            <a:solidFill>
              <a:schemeClr val="accent1"/>
            </a:solidFill>
            <a:prstDash val="solid"/>
          </a:ln>
        </p:spPr>
      </p:sp>
      <p:sp>
        <p:nvSpPr>
          <p:cNvPr id="21" name="text-554"/>
          <p:cNvSpPr txBox="1"/>
          <p:nvPr/>
        </p:nvSpPr>
        <p:spPr>
          <a:xfrm>
            <a:off x="786384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2" name="text-555"/>
          <p:cNvSpPr txBox="1"/>
          <p:nvPr/>
        </p:nvSpPr>
        <p:spPr>
          <a:xfrm>
            <a:off x="8503920" y="3127248"/>
            <a:ext cx="3017520" cy="365760"/>
          </a:xfrm>
          <a:prstGeom prst="rect">
            <a:avLst/>
          </a:prstGeom>
          <a:noFill/>
          <a:ln/>
        </p:spPr>
        <p:txBody>
          <a:bodyPr wrap="square" lIns="0" tIns="0" rIns="0" bIns="0" rtlCol="0" anchor="t"/>
          <a:lstStyle/>
          <a:p>
            <a:pPr indent="0" marL="0">
              <a:buNone/>
            </a:pPr>
            <a:r>
              <a:rPr lang="en-US" sz="1600" b="1" dirty="0">
                <a:solidFill>
                  <a:schemeClr val="tx1"/>
                </a:solidFill>
              </a:rPr>
              <a:t>Explain</a:t>
            </a:r>
            <a:endParaRPr lang="en-US" sz="1600" dirty="0"/>
          </a:p>
        </p:txBody>
      </p:sp>
      <p:sp>
        <p:nvSpPr>
          <p:cNvPr id="23" name="text-556"/>
          <p:cNvSpPr txBox="1"/>
          <p:nvPr/>
        </p:nvSpPr>
        <p:spPr>
          <a:xfrm>
            <a:off x="8503920" y="3493008"/>
            <a:ext cx="3017520" cy="777240"/>
          </a:xfrm>
          <a:prstGeom prst="rect">
            <a:avLst/>
          </a:prstGeom>
          <a:noFill/>
          <a:ln/>
        </p:spPr>
        <p:txBody>
          <a:bodyPr wrap="square" lIns="0" tIns="0" rIns="0" bIns="0" rtlCol="0" anchor="t"/>
          <a:lstStyle/>
          <a:p>
            <a:pPr indent="0" marL="0">
              <a:buNone/>
            </a:pPr>
            <a:r>
              <a:rPr lang="en-US" sz="1400" dirty="0">
                <a:solidFill>
                  <a:schemeClr val="tx1"/>
                </a:solidFill>
              </a:rPr>
              <a:t>as two curated bounds plus the Uberon path joining them, with who asserted each</a:t>
            </a:r>
            <a:endParaRPr lang="en-US" sz="1400" dirty="0"/>
          </a:p>
        </p:txBody>
      </p:sp>
      <p:sp>
        <p:nvSpPr>
          <p:cNvPr id="24" name="box-557"/>
          <p:cNvSpPr/>
          <p:nvPr/>
        </p:nvSpPr>
        <p:spPr>
          <a:xfrm>
            <a:off x="7680960" y="4526280"/>
            <a:ext cx="3977640" cy="1417320"/>
          </a:xfrm>
          <a:prstGeom prst="roundRect">
            <a:avLst>
              <a:gd name="adj" fmla="val 5161"/>
            </a:avLst>
          </a:prstGeom>
          <a:solidFill>
            <a:schemeClr val="bg2"/>
          </a:solidFill>
          <a:ln w="12700">
            <a:solidFill>
              <a:schemeClr val="bg2"/>
            </a:solidFill>
            <a:prstDash val="solid"/>
          </a:ln>
        </p:spPr>
      </p:sp>
      <p:sp>
        <p:nvSpPr>
          <p:cNvPr id="25" name="num-558"/>
          <p:cNvSpPr/>
          <p:nvPr/>
        </p:nvSpPr>
        <p:spPr>
          <a:xfrm>
            <a:off x="7863840" y="4709160"/>
            <a:ext cx="457200" cy="457200"/>
          </a:xfrm>
          <a:prstGeom prst="ellipse">
            <a:avLst/>
          </a:prstGeom>
          <a:solidFill>
            <a:schemeClr val="accent1"/>
          </a:solidFill>
          <a:ln w="12700">
            <a:solidFill>
              <a:schemeClr val="accent1"/>
            </a:solidFill>
            <a:prstDash val="solid"/>
          </a:ln>
        </p:spPr>
      </p:sp>
      <p:sp>
        <p:nvSpPr>
          <p:cNvPr id="26" name="text-559"/>
          <p:cNvSpPr txBox="1"/>
          <p:nvPr/>
        </p:nvSpPr>
        <p:spPr>
          <a:xfrm>
            <a:off x="7863840" y="4709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7" name="text-560"/>
          <p:cNvSpPr txBox="1"/>
          <p:nvPr/>
        </p:nvSpPr>
        <p:spPr>
          <a:xfrm>
            <a:off x="8503920" y="4727448"/>
            <a:ext cx="3017520" cy="365760"/>
          </a:xfrm>
          <a:prstGeom prst="rect">
            <a:avLst/>
          </a:prstGeom>
          <a:noFill/>
          <a:ln/>
        </p:spPr>
        <p:txBody>
          <a:bodyPr wrap="square" lIns="0" tIns="0" rIns="0" bIns="0" rtlCol="0" anchor="t"/>
          <a:lstStyle/>
          <a:p>
            <a:pPr indent="0" marL="0">
              <a:buNone/>
            </a:pPr>
            <a:r>
              <a:rPr lang="en-US" sz="1600" b="1" dirty="0">
                <a:solidFill>
                  <a:schemeClr val="tx1"/>
                </a:solidFill>
              </a:rPr>
              <a:t>Withhold and rerun</a:t>
            </a:r>
            <a:endParaRPr lang="en-US" sz="1600" dirty="0"/>
          </a:p>
        </p:txBody>
      </p:sp>
      <p:sp>
        <p:nvSpPr>
          <p:cNvPr id="28" name="text-561"/>
          <p:cNvSpPr txBox="1"/>
          <p:nvPr/>
        </p:nvSpPr>
        <p:spPr>
          <a:xfrm>
            <a:off x="8503920" y="5093208"/>
            <a:ext cx="3017520" cy="777240"/>
          </a:xfrm>
          <a:prstGeom prst="rect">
            <a:avLst/>
          </a:prstGeom>
          <a:noFill/>
          <a:ln/>
        </p:spPr>
        <p:txBody>
          <a:bodyPr wrap="square" lIns="0" tIns="0" rIns="0" bIns="0" rtlCol="0" anchor="t"/>
          <a:lstStyle/>
          <a:p>
            <a:pPr indent="0" marL="0">
              <a:buNone/>
            </a:pPr>
            <a:r>
              <a:rPr lang="en-US" sz="1400" dirty="0">
                <a:solidFill>
                  <a:schemeClr val="tx1"/>
                </a:solidFill>
              </a:rPr>
              <a:t>set those axioms aside, so other bounds come from a consistent remainder</a:t>
            </a:r>
            <a:endParaRPr lang="en-US" sz="14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What the first run found</a:t>
            </a:r>
            <a:endParaRPr lang="en-US" sz="3000" dirty="0"/>
          </a:p>
        </p:txBody>
      </p:sp>
      <p:sp>
        <p:nvSpPr>
          <p:cNvPr id="3" name="text-562"/>
          <p:cNvSpPr txBox="1"/>
          <p:nvPr/>
        </p:nvSpPr>
        <p:spPr>
          <a:xfrm>
            <a:off x="548640" y="1280160"/>
            <a:ext cx="1051560" cy="1005840"/>
          </a:xfrm>
          <a:prstGeom prst="rect">
            <a:avLst/>
          </a:prstGeom>
          <a:noFill/>
          <a:ln/>
        </p:spPr>
        <p:txBody>
          <a:bodyPr wrap="square" lIns="0" tIns="0" rIns="0" bIns="0" rtlCol="0" anchor="t"/>
          <a:lstStyle/>
          <a:p>
            <a:pPr algn="r" indent="0" marL="0">
              <a:buNone/>
            </a:pPr>
            <a:r>
              <a:rPr lang="en-US" sz="6000" b="1" dirty="0">
                <a:solidFill>
                  <a:schemeClr val="accent1"/>
                </a:solidFill>
                <a:latin typeface="Cambria" pitchFamily="34" charset="0"/>
                <a:ea typeface="Cambria" pitchFamily="34" charset="-122"/>
                <a:cs typeface="Cambria" pitchFamily="34" charset="-120"/>
              </a:rPr>
              <a:t>1</a:t>
            </a:r>
            <a:endParaRPr lang="en-US" sz="6000" dirty="0"/>
          </a:p>
        </p:txBody>
      </p:sp>
      <p:sp>
        <p:nvSpPr>
          <p:cNvPr id="4" name="text-563"/>
          <p:cNvSpPr txBox="1"/>
          <p:nvPr/>
        </p:nvSpPr>
        <p:spPr>
          <a:xfrm>
            <a:off x="1783080" y="1508760"/>
            <a:ext cx="2331720" cy="731520"/>
          </a:xfrm>
          <a:prstGeom prst="rect">
            <a:avLst/>
          </a:prstGeom>
          <a:noFill/>
          <a:ln/>
        </p:spPr>
        <p:txBody>
          <a:bodyPr wrap="square" lIns="0" tIns="0" rIns="0" bIns="0" rtlCol="0" anchor="ctr"/>
          <a:lstStyle/>
          <a:p>
            <a:pPr indent="0" marL="0">
              <a:buNone/>
            </a:pPr>
            <a:r>
              <a:rPr lang="en-US" sz="1500" dirty="0">
                <a:solidFill>
                  <a:schemeClr val="tx1"/>
                </a:solidFill>
              </a:rPr>
              <a:t>inconsistency in HsapDv itself</a:t>
            </a:r>
            <a:endParaRPr lang="en-US" sz="1500" dirty="0"/>
          </a:p>
        </p:txBody>
      </p:sp>
      <p:sp>
        <p:nvSpPr>
          <p:cNvPr id="5" name="text-564"/>
          <p:cNvSpPr txBox="1"/>
          <p:nvPr/>
        </p:nvSpPr>
        <p:spPr>
          <a:xfrm>
            <a:off x="4297680" y="1280160"/>
            <a:ext cx="1051560" cy="1005840"/>
          </a:xfrm>
          <a:prstGeom prst="rect">
            <a:avLst/>
          </a:prstGeom>
          <a:noFill/>
          <a:ln/>
        </p:spPr>
        <p:txBody>
          <a:bodyPr wrap="square" lIns="0" tIns="0" rIns="0" bIns="0" rtlCol="0" anchor="t"/>
          <a:lstStyle/>
          <a:p>
            <a:pPr algn="r" indent="0" marL="0">
              <a:buNone/>
            </a:pPr>
            <a:r>
              <a:rPr lang="en-US" sz="6000" b="1" dirty="0">
                <a:solidFill>
                  <a:schemeClr val="accent1"/>
                </a:solidFill>
                <a:latin typeface="Cambria" pitchFamily="34" charset="0"/>
                <a:ea typeface="Cambria" pitchFamily="34" charset="-122"/>
                <a:cs typeface="Cambria" pitchFamily="34" charset="-120"/>
              </a:rPr>
              <a:t>10</a:t>
            </a:r>
            <a:endParaRPr lang="en-US" sz="6000" dirty="0"/>
          </a:p>
        </p:txBody>
      </p:sp>
      <p:sp>
        <p:nvSpPr>
          <p:cNvPr id="6" name="text-565"/>
          <p:cNvSpPr txBox="1"/>
          <p:nvPr/>
        </p:nvSpPr>
        <p:spPr>
          <a:xfrm>
            <a:off x="5532120" y="1508760"/>
            <a:ext cx="2331720" cy="731520"/>
          </a:xfrm>
          <a:prstGeom prst="rect">
            <a:avLst/>
          </a:prstGeom>
          <a:noFill/>
          <a:ln/>
        </p:spPr>
        <p:txBody>
          <a:bodyPr wrap="square" lIns="0" tIns="0" rIns="0" bIns="0" rtlCol="0" anchor="ctr"/>
          <a:lstStyle/>
          <a:p>
            <a:pPr indent="0" marL="0">
              <a:buNone/>
            </a:pPr>
            <a:r>
              <a:rPr lang="en-US" sz="1500" dirty="0">
                <a:solidFill>
                  <a:schemeClr val="tx1"/>
                </a:solidFill>
              </a:rPr>
              <a:t>timing conflicts, over 40 structures</a:t>
            </a:r>
            <a:endParaRPr lang="en-US" sz="1500" dirty="0"/>
          </a:p>
        </p:txBody>
      </p:sp>
      <p:sp>
        <p:nvSpPr>
          <p:cNvPr id="7" name="text-566"/>
          <p:cNvSpPr txBox="1"/>
          <p:nvPr/>
        </p:nvSpPr>
        <p:spPr>
          <a:xfrm>
            <a:off x="8046720" y="1280160"/>
            <a:ext cx="1051560" cy="1005840"/>
          </a:xfrm>
          <a:prstGeom prst="rect">
            <a:avLst/>
          </a:prstGeom>
          <a:noFill/>
          <a:ln/>
        </p:spPr>
        <p:txBody>
          <a:bodyPr wrap="square" lIns="0" tIns="0" rIns="0" bIns="0" rtlCol="0" anchor="t"/>
          <a:lstStyle/>
          <a:p>
            <a:pPr algn="r" indent="0" marL="0">
              <a:buNone/>
            </a:pPr>
            <a:r>
              <a:rPr lang="en-US" sz="6000" b="1" dirty="0">
                <a:solidFill>
                  <a:schemeClr val="accent3"/>
                </a:solidFill>
                <a:latin typeface="Cambria" pitchFamily="34" charset="0"/>
                <a:ea typeface="Cambria" pitchFamily="34" charset="-122"/>
                <a:cs typeface="Cambria" pitchFamily="34" charset="-120"/>
              </a:rPr>
              <a:t>7</a:t>
            </a:r>
            <a:endParaRPr lang="en-US" sz="6000" dirty="0"/>
          </a:p>
        </p:txBody>
      </p:sp>
      <p:sp>
        <p:nvSpPr>
          <p:cNvPr id="8" name="text-567"/>
          <p:cNvSpPr txBox="1"/>
          <p:nvPr/>
        </p:nvSpPr>
        <p:spPr>
          <a:xfrm>
            <a:off x="9281160" y="1508760"/>
            <a:ext cx="2331720" cy="731520"/>
          </a:xfrm>
          <a:prstGeom prst="rect">
            <a:avLst/>
          </a:prstGeom>
          <a:noFill/>
          <a:ln/>
        </p:spPr>
        <p:txBody>
          <a:bodyPr wrap="square" lIns="0" tIns="0" rIns="0" bIns="0" rtlCol="0" anchor="ctr"/>
          <a:lstStyle/>
          <a:p>
            <a:pPr indent="0" marL="0">
              <a:buNone/>
            </a:pPr>
            <a:r>
              <a:rPr lang="en-US" sz="1500" dirty="0">
                <a:solidFill>
                  <a:schemeClr val="tx1"/>
                </a:solidFill>
              </a:rPr>
              <a:t>point at Uberon's relations, not our stage data</a:t>
            </a:r>
            <a:endParaRPr lang="en-US" sz="1500" dirty="0"/>
          </a:p>
        </p:txBody>
      </p:sp>
      <p:sp>
        <p:nvSpPr>
          <p:cNvPr id="9" name="box-568"/>
          <p:cNvSpPr/>
          <p:nvPr/>
        </p:nvSpPr>
        <p:spPr>
          <a:xfrm>
            <a:off x="548640" y="2606040"/>
            <a:ext cx="2633472" cy="2880360"/>
          </a:xfrm>
          <a:prstGeom prst="roundRect">
            <a:avLst>
              <a:gd name="adj" fmla="val 2778"/>
            </a:avLst>
          </a:prstGeom>
          <a:solidFill>
            <a:schemeClr val="bg2"/>
          </a:solidFill>
          <a:ln w="12700">
            <a:solidFill>
              <a:schemeClr val="bg2"/>
            </a:solidFill>
            <a:prstDash val="solid"/>
          </a:ln>
        </p:spPr>
      </p:sp>
      <p:sp>
        <p:nvSpPr>
          <p:cNvPr id="10" name="badge-569"/>
          <p:cNvSpPr/>
          <p:nvPr/>
        </p:nvSpPr>
        <p:spPr>
          <a:xfrm>
            <a:off x="749808" y="2788920"/>
            <a:ext cx="548640" cy="548640"/>
          </a:xfrm>
          <a:prstGeom prst="ellipse">
            <a:avLst/>
          </a:prstGeom>
          <a:solidFill>
            <a:schemeClr val="accent3"/>
          </a:solidFill>
          <a:ln w="12700">
            <a:solidFill>
              <a:schemeClr val="accent3"/>
            </a:solidFill>
            <a:prstDash val="solid"/>
          </a:ln>
        </p:spPr>
      </p:sp>
      <p:pic>
        <p:nvPicPr>
          <p:cNvPr id="11" name="icon-570" descr="preencoded.png">    </p:cNvPr>
          <p:cNvPicPr>
            <a:picLocks noChangeAspect="1"/>
          </p:cNvPicPr>
          <p:nvPr/>
        </p:nvPicPr>
        <p:blipFill>
          <a:blip r:embed="rId1"/>
          <a:stretch>
            <a:fillRect/>
          </a:stretch>
        </p:blipFill>
        <p:spPr>
          <a:xfrm>
            <a:off x="881482" y="2920594"/>
            <a:ext cx="285293" cy="285293"/>
          </a:xfrm>
          <a:prstGeom prst="rect">
            <a:avLst/>
          </a:prstGeom>
        </p:spPr>
      </p:pic>
      <p:sp>
        <p:nvSpPr>
          <p:cNvPr id="12" name="text-571"/>
          <p:cNvSpPr txBox="1"/>
          <p:nvPr/>
        </p:nvSpPr>
        <p:spPr>
          <a:xfrm>
            <a:off x="749808" y="3474720"/>
            <a:ext cx="2240280" cy="640080"/>
          </a:xfrm>
          <a:prstGeom prst="rect">
            <a:avLst/>
          </a:prstGeom>
          <a:noFill/>
          <a:ln/>
        </p:spPr>
        <p:txBody>
          <a:bodyPr wrap="square" lIns="0" tIns="0" rIns="0" bIns="0" rtlCol="0" anchor="t"/>
          <a:lstStyle/>
          <a:p>
            <a:pPr indent="0" marL="0">
              <a:buNone/>
            </a:pPr>
            <a:r>
              <a:rPr lang="en-US" sz="1600" b="1" dirty="0">
                <a:solidFill>
                  <a:schemeClr val="tx1"/>
                </a:solidFill>
              </a:rPr>
              <a:t>An edge runs backwards</a:t>
            </a:r>
            <a:endParaRPr lang="en-US" sz="1600" dirty="0"/>
          </a:p>
        </p:txBody>
      </p:sp>
      <p:sp>
        <p:nvSpPr>
          <p:cNvPr id="13" name="text-572"/>
          <p:cNvSpPr txBox="1"/>
          <p:nvPr/>
        </p:nvSpPr>
        <p:spPr>
          <a:xfrm>
            <a:off x="749808" y="3931920"/>
            <a:ext cx="2240280" cy="1463040"/>
          </a:xfrm>
          <a:prstGeom prst="rect">
            <a:avLst/>
          </a:prstGeom>
          <a:noFill/>
          <a:ln/>
        </p:spPr>
        <p:txBody>
          <a:bodyPr wrap="square" lIns="0" tIns="0" rIns="0" bIns="0" rtlCol="0" anchor="t"/>
          <a:lstStyle/>
          <a:p>
            <a:pPr indent="0" marL="0">
              <a:buNone/>
            </a:pPr>
            <a:r>
              <a:rPr lang="en-US" sz="1400" dirty="0">
                <a:solidFill>
                  <a:schemeClr val="tx1"/>
                </a:solidFill>
              </a:rPr>
              <a:t>neural plate regions made to develop from neural tube regions; lung saccule as part of the alveolus</a:t>
            </a:r>
            <a:endParaRPr lang="en-US" sz="1400" dirty="0"/>
          </a:p>
        </p:txBody>
      </p:sp>
      <p:sp>
        <p:nvSpPr>
          <p:cNvPr id="14" name="box-573"/>
          <p:cNvSpPr/>
          <p:nvPr/>
        </p:nvSpPr>
        <p:spPr>
          <a:xfrm>
            <a:off x="3364992" y="2606040"/>
            <a:ext cx="2633472" cy="2880360"/>
          </a:xfrm>
          <a:prstGeom prst="roundRect">
            <a:avLst>
              <a:gd name="adj" fmla="val 2778"/>
            </a:avLst>
          </a:prstGeom>
          <a:solidFill>
            <a:schemeClr val="bg2"/>
          </a:solidFill>
          <a:ln w="12700">
            <a:solidFill>
              <a:schemeClr val="bg2"/>
            </a:solidFill>
            <a:prstDash val="solid"/>
          </a:ln>
        </p:spPr>
      </p:sp>
      <p:sp>
        <p:nvSpPr>
          <p:cNvPr id="15" name="badge-574"/>
          <p:cNvSpPr/>
          <p:nvPr/>
        </p:nvSpPr>
        <p:spPr>
          <a:xfrm>
            <a:off x="3566160" y="2788920"/>
            <a:ext cx="548640" cy="548640"/>
          </a:xfrm>
          <a:prstGeom prst="ellipse">
            <a:avLst/>
          </a:prstGeom>
          <a:solidFill>
            <a:schemeClr val="accent3"/>
          </a:solidFill>
          <a:ln w="12700">
            <a:solidFill>
              <a:schemeClr val="accent3"/>
            </a:solidFill>
            <a:prstDash val="solid"/>
          </a:ln>
        </p:spPr>
      </p:sp>
      <p:pic>
        <p:nvPicPr>
          <p:cNvPr id="16" name="icon-575" descr="preencoded.png">    </p:cNvPr>
          <p:cNvPicPr>
            <a:picLocks noChangeAspect="1"/>
          </p:cNvPicPr>
          <p:nvPr/>
        </p:nvPicPr>
        <p:blipFill>
          <a:blip r:embed="rId2"/>
          <a:stretch>
            <a:fillRect/>
          </a:stretch>
        </p:blipFill>
        <p:spPr>
          <a:xfrm>
            <a:off x="3697834" y="2920594"/>
            <a:ext cx="285293" cy="285293"/>
          </a:xfrm>
          <a:prstGeom prst="rect">
            <a:avLst/>
          </a:prstGeom>
        </p:spPr>
      </p:pic>
      <p:sp>
        <p:nvSpPr>
          <p:cNvPr id="17" name="text-576"/>
          <p:cNvSpPr txBox="1"/>
          <p:nvPr/>
        </p:nvSpPr>
        <p:spPr>
          <a:xfrm>
            <a:off x="3566160" y="3474720"/>
            <a:ext cx="2240280" cy="640080"/>
          </a:xfrm>
          <a:prstGeom prst="rect">
            <a:avLst/>
          </a:prstGeom>
          <a:noFill/>
          <a:ln/>
        </p:spPr>
        <p:txBody>
          <a:bodyPr wrap="square" lIns="0" tIns="0" rIns="0" bIns="0" rtlCol="0" anchor="t"/>
          <a:lstStyle/>
          <a:p>
            <a:pPr indent="0" marL="0">
              <a:buNone/>
            </a:pPr>
            <a:r>
              <a:rPr lang="en-US" sz="1600" b="1" dirty="0">
                <a:solidFill>
                  <a:schemeClr val="tx1"/>
                </a:solidFill>
              </a:rPr>
              <a:t>True in other taxa</a:t>
            </a:r>
            <a:endParaRPr lang="en-US" sz="1600" dirty="0"/>
          </a:p>
        </p:txBody>
      </p:sp>
      <p:sp>
        <p:nvSpPr>
          <p:cNvPr id="18" name="text-577"/>
          <p:cNvSpPr txBox="1"/>
          <p:nvPr/>
        </p:nvSpPr>
        <p:spPr>
          <a:xfrm>
            <a:off x="3566160" y="3931920"/>
            <a:ext cx="2240280" cy="1463040"/>
          </a:xfrm>
          <a:prstGeom prst="rect">
            <a:avLst/>
          </a:prstGeom>
          <a:noFill/>
          <a:ln/>
        </p:spPr>
        <p:txBody>
          <a:bodyPr wrap="square" lIns="0" tIns="0" rIns="0" bIns="0" rtlCol="0" anchor="t"/>
          <a:lstStyle/>
          <a:p>
            <a:pPr indent="0" marL="0">
              <a:buNone/>
            </a:pPr>
            <a:r>
              <a:rPr lang="en-US" sz="1400" dirty="0">
                <a:solidFill>
                  <a:schemeClr val="tx1"/>
                </a:solidFill>
              </a:rPr>
              <a:t>amnion from amniotic folds, as in chick; the human amnion forms by cavitation</a:t>
            </a:r>
            <a:endParaRPr lang="en-US" sz="1400" dirty="0"/>
          </a:p>
        </p:txBody>
      </p:sp>
      <p:sp>
        <p:nvSpPr>
          <p:cNvPr id="19" name="box-578"/>
          <p:cNvSpPr/>
          <p:nvPr/>
        </p:nvSpPr>
        <p:spPr>
          <a:xfrm>
            <a:off x="6181344" y="2606040"/>
            <a:ext cx="2633472" cy="2880360"/>
          </a:xfrm>
          <a:prstGeom prst="roundRect">
            <a:avLst>
              <a:gd name="adj" fmla="val 2778"/>
            </a:avLst>
          </a:prstGeom>
          <a:solidFill>
            <a:schemeClr val="bg2"/>
          </a:solidFill>
          <a:ln w="12700">
            <a:solidFill>
              <a:schemeClr val="bg2"/>
            </a:solidFill>
            <a:prstDash val="solid"/>
          </a:ln>
        </p:spPr>
      </p:sp>
      <p:sp>
        <p:nvSpPr>
          <p:cNvPr id="20" name="badge-579"/>
          <p:cNvSpPr/>
          <p:nvPr/>
        </p:nvSpPr>
        <p:spPr>
          <a:xfrm>
            <a:off x="6382512" y="2788920"/>
            <a:ext cx="548640" cy="548640"/>
          </a:xfrm>
          <a:prstGeom prst="ellipse">
            <a:avLst/>
          </a:prstGeom>
          <a:solidFill>
            <a:schemeClr val="accent3"/>
          </a:solidFill>
          <a:ln w="12700">
            <a:solidFill>
              <a:schemeClr val="accent3"/>
            </a:solidFill>
            <a:prstDash val="solid"/>
          </a:ln>
        </p:spPr>
      </p:sp>
      <p:pic>
        <p:nvPicPr>
          <p:cNvPr id="21" name="icon-580" descr="preencoded.png">    </p:cNvPr>
          <p:cNvPicPr>
            <a:picLocks noChangeAspect="1"/>
          </p:cNvPicPr>
          <p:nvPr/>
        </p:nvPicPr>
        <p:blipFill>
          <a:blip r:embed="rId3"/>
          <a:stretch>
            <a:fillRect/>
          </a:stretch>
        </p:blipFill>
        <p:spPr>
          <a:xfrm>
            <a:off x="6514186" y="2920594"/>
            <a:ext cx="285293" cy="285293"/>
          </a:xfrm>
          <a:prstGeom prst="rect">
            <a:avLst/>
          </a:prstGeom>
        </p:spPr>
      </p:pic>
      <p:sp>
        <p:nvSpPr>
          <p:cNvPr id="22" name="text-581"/>
          <p:cNvSpPr txBox="1"/>
          <p:nvPr/>
        </p:nvSpPr>
        <p:spPr>
          <a:xfrm>
            <a:off x="6382512" y="3474720"/>
            <a:ext cx="2240280" cy="640080"/>
          </a:xfrm>
          <a:prstGeom prst="rect">
            <a:avLst/>
          </a:prstGeom>
          <a:noFill/>
          <a:ln/>
        </p:spPr>
        <p:txBody>
          <a:bodyPr wrap="square" lIns="0" tIns="0" rIns="0" bIns="0" rtlCol="0" anchor="t"/>
          <a:lstStyle/>
          <a:p>
            <a:pPr indent="0" marL="0">
              <a:buNone/>
            </a:pPr>
            <a:r>
              <a:rPr lang="en-US" sz="1600" b="1" dirty="0">
                <a:solidFill>
                  <a:schemeClr val="tx1"/>
                </a:solidFill>
              </a:rPr>
              <a:t>part_of for a later phase</a:t>
            </a:r>
            <a:endParaRPr lang="en-US" sz="1600" dirty="0"/>
          </a:p>
        </p:txBody>
      </p:sp>
      <p:sp>
        <p:nvSpPr>
          <p:cNvPr id="23" name="text-582"/>
          <p:cNvSpPr txBox="1"/>
          <p:nvPr/>
        </p:nvSpPr>
        <p:spPr>
          <a:xfrm>
            <a:off x="6382512" y="3931920"/>
            <a:ext cx="2240280" cy="1463040"/>
          </a:xfrm>
          <a:prstGeom prst="rect">
            <a:avLst/>
          </a:prstGeom>
          <a:noFill/>
          <a:ln/>
        </p:spPr>
        <p:txBody>
          <a:bodyPr wrap="square" lIns="0" tIns="0" rIns="0" bIns="0" rtlCol="0" anchor="t"/>
          <a:lstStyle/>
          <a:p>
            <a:pPr indent="0" marL="0">
              <a:buNone/>
            </a:pPr>
            <a:r>
              <a:rPr lang="en-US" sz="1400" dirty="0">
                <a:solidFill>
                  <a:schemeClr val="tx1"/>
                </a:solidFill>
              </a:rPr>
              <a:t>otic pit recorded as part of the otic placode</a:t>
            </a:r>
            <a:endParaRPr lang="en-US" sz="1400" dirty="0"/>
          </a:p>
        </p:txBody>
      </p:sp>
      <p:sp>
        <p:nvSpPr>
          <p:cNvPr id="24" name="box-583"/>
          <p:cNvSpPr/>
          <p:nvPr/>
        </p:nvSpPr>
        <p:spPr>
          <a:xfrm>
            <a:off x="8997696" y="2606040"/>
            <a:ext cx="2633472" cy="2880360"/>
          </a:xfrm>
          <a:prstGeom prst="roundRect">
            <a:avLst>
              <a:gd name="adj" fmla="val 2778"/>
            </a:avLst>
          </a:prstGeom>
          <a:solidFill>
            <a:schemeClr val="bg2"/>
          </a:solidFill>
          <a:ln w="12700">
            <a:solidFill>
              <a:schemeClr val="bg2"/>
            </a:solidFill>
            <a:prstDash val="solid"/>
          </a:ln>
        </p:spPr>
      </p:sp>
      <p:sp>
        <p:nvSpPr>
          <p:cNvPr id="25" name="badge-584"/>
          <p:cNvSpPr/>
          <p:nvPr/>
        </p:nvSpPr>
        <p:spPr>
          <a:xfrm>
            <a:off x="9198864" y="2788920"/>
            <a:ext cx="548640" cy="548640"/>
          </a:xfrm>
          <a:prstGeom prst="ellipse">
            <a:avLst/>
          </a:prstGeom>
          <a:solidFill>
            <a:schemeClr val="accent4"/>
          </a:solidFill>
          <a:ln w="12700">
            <a:solidFill>
              <a:schemeClr val="accent4"/>
            </a:solidFill>
            <a:prstDash val="solid"/>
          </a:ln>
        </p:spPr>
      </p:sp>
      <p:pic>
        <p:nvPicPr>
          <p:cNvPr id="26" name="icon-585" descr="preencoded.png">    </p:cNvPr>
          <p:cNvPicPr>
            <a:picLocks noChangeAspect="1"/>
          </p:cNvPicPr>
          <p:nvPr/>
        </p:nvPicPr>
        <p:blipFill>
          <a:blip r:embed="rId4"/>
          <a:stretch>
            <a:fillRect/>
          </a:stretch>
        </p:blipFill>
        <p:spPr>
          <a:xfrm>
            <a:off x="9330538" y="2920594"/>
            <a:ext cx="285293" cy="285293"/>
          </a:xfrm>
          <a:prstGeom prst="rect">
            <a:avLst/>
          </a:prstGeom>
        </p:spPr>
      </p:pic>
      <p:sp>
        <p:nvSpPr>
          <p:cNvPr id="27" name="text-586"/>
          <p:cNvSpPr txBox="1"/>
          <p:nvPr/>
        </p:nvSpPr>
        <p:spPr>
          <a:xfrm>
            <a:off x="9198864" y="3474720"/>
            <a:ext cx="2240280" cy="640080"/>
          </a:xfrm>
          <a:prstGeom prst="rect">
            <a:avLst/>
          </a:prstGeom>
          <a:noFill/>
          <a:ln/>
        </p:spPr>
        <p:txBody>
          <a:bodyPr wrap="square" lIns="0" tIns="0" rIns="0" bIns="0" rtlCol="0" anchor="t"/>
          <a:lstStyle/>
          <a:p>
            <a:pPr indent="0" marL="0">
              <a:buNone/>
            </a:pPr>
            <a:r>
              <a:rPr lang="en-US" sz="1600" b="1" dirty="0">
                <a:solidFill>
                  <a:schemeClr val="tx1"/>
                </a:solidFill>
              </a:rPr>
              <a:t>Our own data</a:t>
            </a:r>
            <a:endParaRPr lang="en-US" sz="1600" dirty="0"/>
          </a:p>
        </p:txBody>
      </p:sp>
      <p:sp>
        <p:nvSpPr>
          <p:cNvPr id="28" name="text-587"/>
          <p:cNvSpPr txBox="1"/>
          <p:nvPr/>
        </p:nvSpPr>
        <p:spPr>
          <a:xfrm>
            <a:off x="9198864" y="3931920"/>
            <a:ext cx="2240280" cy="1463040"/>
          </a:xfrm>
          <a:prstGeom prst="rect">
            <a:avLst/>
          </a:prstGeom>
          <a:noFill/>
          <a:ln/>
        </p:spPr>
        <p:txBody>
          <a:bodyPr wrap="square" lIns="0" tIns="0" rIns="0" bIns="0" rtlCol="0" anchor="t"/>
          <a:lstStyle/>
          <a:p>
            <a:pPr indent="0" marL="0">
              <a:buNone/>
            </a:pPr>
            <a:r>
              <a:rPr lang="en-US" sz="1400" dirty="0">
                <a:solidFill>
                  <a:schemeClr val="tx1"/>
                </a:solidFill>
              </a:rPr>
              <a:t>a point bound on a generic class, inherited by a subclass that starts later</a:t>
            </a:r>
            <a:endParaRPr lang="en-US" sz="1400" dirty="0"/>
          </a:p>
        </p:txBody>
      </p:sp>
      <p:sp>
        <p:nvSpPr>
          <p:cNvPr id="29" name="text-588"/>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600" b="1" dirty="0">
                <a:solidFill>
                  <a:schemeClr val="accent6"/>
                </a:solidFill>
              </a:rPr>
              <a:t>All four conflicts predicted in advance were found. Under the weakest part_of reading, 2 of the 10 remain.</a:t>
            </a:r>
            <a:endParaRPr lang="en-US" sz="16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Conflicts in detail: six Uberon issues</a:t>
            </a:r>
            <a:endParaRPr lang="en-US" sz="3000" dirty="0"/>
          </a:p>
        </p:txBody>
      </p:sp>
      <p:sp>
        <p:nvSpPr>
          <p:cNvPr id="3" name="box-589"/>
          <p:cNvSpPr/>
          <p:nvPr/>
        </p:nvSpPr>
        <p:spPr>
          <a:xfrm>
            <a:off x="548640" y="1325880"/>
            <a:ext cx="3611880" cy="2377440"/>
          </a:xfrm>
          <a:prstGeom prst="roundRect">
            <a:avLst>
              <a:gd name="adj" fmla="val 3077"/>
            </a:avLst>
          </a:prstGeom>
          <a:solidFill>
            <a:schemeClr val="bg2"/>
          </a:solidFill>
          <a:ln w="12700">
            <a:solidFill>
              <a:schemeClr val="bg2"/>
            </a:solidFill>
            <a:prstDash val="solid"/>
          </a:ln>
        </p:spPr>
      </p:sp>
      <p:sp>
        <p:nvSpPr>
          <p:cNvPr id="4" name="badge-590"/>
          <p:cNvSpPr/>
          <p:nvPr/>
        </p:nvSpPr>
        <p:spPr>
          <a:xfrm>
            <a:off x="731520" y="1490472"/>
            <a:ext cx="411480" cy="411480"/>
          </a:xfrm>
          <a:prstGeom prst="ellipse">
            <a:avLst/>
          </a:prstGeom>
          <a:solidFill>
            <a:schemeClr val="accent3"/>
          </a:solidFill>
          <a:ln w="12700">
            <a:solidFill>
              <a:schemeClr val="accent3"/>
            </a:solidFill>
            <a:prstDash val="solid"/>
          </a:ln>
        </p:spPr>
      </p:sp>
      <p:pic>
        <p:nvPicPr>
          <p:cNvPr id="5" name="icon-591" descr="preencoded.png">    </p:cNvPr>
          <p:cNvPicPr>
            <a:picLocks noChangeAspect="1"/>
          </p:cNvPicPr>
          <p:nvPr/>
        </p:nvPicPr>
        <p:blipFill>
          <a:blip r:embed="rId1"/>
          <a:stretch>
            <a:fillRect/>
          </a:stretch>
        </p:blipFill>
        <p:spPr>
          <a:xfrm>
            <a:off x="830275" y="1589227"/>
            <a:ext cx="213970" cy="213970"/>
          </a:xfrm>
          <a:prstGeom prst="rect">
            <a:avLst/>
          </a:prstGeom>
        </p:spPr>
      </p:pic>
      <p:sp>
        <p:nvSpPr>
          <p:cNvPr id="6" name="text-592"/>
          <p:cNvSpPr txBox="1"/>
          <p:nvPr/>
        </p:nvSpPr>
        <p:spPr>
          <a:xfrm>
            <a:off x="1261872" y="1463040"/>
            <a:ext cx="2743200" cy="457200"/>
          </a:xfrm>
          <a:prstGeom prst="rect">
            <a:avLst/>
          </a:prstGeom>
          <a:noFill/>
          <a:ln/>
        </p:spPr>
        <p:txBody>
          <a:bodyPr wrap="square" lIns="0" tIns="0" rIns="0" bIns="0" rtlCol="0" anchor="ctr"/>
          <a:lstStyle/>
          <a:p>
            <a:pPr indent="0" marL="0">
              <a:buNone/>
            </a:pPr>
            <a:r>
              <a:rPr lang="en-US" sz="1500" b="1" dirty="0">
                <a:solidFill>
                  <a:schemeClr val="tx1"/>
                </a:solidFill>
              </a:rPr>
              <a:t>Marginal layer from mantle layer</a:t>
            </a:r>
            <a:endParaRPr lang="en-US" sz="1500" dirty="0"/>
          </a:p>
        </p:txBody>
      </p:sp>
      <p:sp>
        <p:nvSpPr>
          <p:cNvPr id="7" name="text-593"/>
          <p:cNvSpPr txBox="1"/>
          <p:nvPr/>
        </p:nvSpPr>
        <p:spPr>
          <a:xfrm>
            <a:off x="731520" y="2011680"/>
            <a:ext cx="3246120" cy="566928"/>
          </a:xfrm>
          <a:prstGeom prst="rect">
            <a:avLst/>
          </a:prstGeom>
          <a:noFill/>
          <a:ln/>
        </p:spPr>
        <p:txBody>
          <a:bodyPr wrap="square" lIns="0" tIns="0" rIns="0" bIns="0" rtlCol="0" anchor="t"/>
          <a:lstStyle/>
          <a:p>
            <a:pPr indent="0" marL="0">
              <a:buNone/>
            </a:pPr>
            <a:r>
              <a:rPr lang="en-US" sz="1200" dirty="0">
                <a:solidFill>
                  <a:schemeClr val="accent6"/>
                </a:solidFill>
                <a:latin typeface="Cambria" pitchFamily="34" charset="0"/>
                <a:ea typeface="Cambria" pitchFamily="34" charset="-122"/>
                <a:cs typeface="Cambria" pitchFamily="34" charset="-120"/>
              </a:rPr>
              <a:t>NT marginal layer develops_from NT mantle layer  (note: "forms from axons")</a:t>
            </a:r>
            <a:endParaRPr lang="en-US" sz="1200" dirty="0"/>
          </a:p>
        </p:txBody>
      </p:sp>
      <p:sp>
        <p:nvSpPr>
          <p:cNvPr id="8" name="text-594"/>
          <p:cNvSpPr txBox="1"/>
          <p:nvPr/>
        </p:nvSpPr>
        <p:spPr>
          <a:xfrm>
            <a:off x="731520" y="2587752"/>
            <a:ext cx="3246120" cy="457200"/>
          </a:xfrm>
          <a:prstGeom prst="rect">
            <a:avLst/>
          </a:prstGeom>
          <a:noFill/>
          <a:ln/>
        </p:spPr>
        <p:txBody>
          <a:bodyPr wrap="square" lIns="0" tIns="0" rIns="0" bIns="0" rtlCol="0" anchor="t"/>
          <a:lstStyle/>
          <a:p>
            <a:pPr indent="0" marL="0">
              <a:buNone/>
            </a:pPr>
            <a:r>
              <a:rPr lang="en-US" sz="1300" b="1" dirty="0">
                <a:solidFill>
                  <a:schemeClr val="tx1"/>
                </a:solidFill>
              </a:rPr>
              <a:t>Collides with: </a:t>
            </a:r>
            <a:pPr indent="0" marL="0">
              <a:buNone/>
            </a:pPr>
            <a:r>
              <a:rPr lang="en-US" sz="1300" dirty="0">
                <a:solidFill>
                  <a:schemeClr val="tx1"/>
                </a:solidFill>
              </a:rPr>
              <a:t>marginal starts CS12, mantle CS13; both sourced</a:t>
            </a:r>
            <a:endParaRPr lang="en-US" sz="1300" dirty="0"/>
          </a:p>
        </p:txBody>
      </p:sp>
      <p:sp>
        <p:nvSpPr>
          <p:cNvPr id="9" name="text-595"/>
          <p:cNvSpPr txBox="1"/>
          <p:nvPr/>
        </p:nvSpPr>
        <p:spPr>
          <a:xfrm>
            <a:off x="731520" y="3044952"/>
            <a:ext cx="1874520" cy="594360"/>
          </a:xfrm>
          <a:prstGeom prst="rect">
            <a:avLst/>
          </a:prstGeom>
          <a:noFill/>
          <a:ln/>
        </p:spPr>
        <p:txBody>
          <a:bodyPr wrap="square" lIns="0" tIns="0" rIns="0" bIns="0" rtlCol="0" anchor="t"/>
          <a:lstStyle/>
          <a:p>
            <a:pPr indent="0" marL="0">
              <a:buNone/>
            </a:pPr>
            <a:r>
              <a:rPr lang="en-US" sz="1300" b="1" dirty="0">
                <a:solidFill>
                  <a:schemeClr val="tx1"/>
                </a:solidFill>
              </a:rPr>
              <a:t>Suggested: </a:t>
            </a:r>
            <a:pPr indent="0" marL="0">
              <a:buNone/>
            </a:pPr>
            <a:r>
              <a:rPr lang="en-US" sz="1300" dirty="0">
                <a:solidFill>
                  <a:schemeClr val="tx1"/>
                </a:solidFill>
              </a:rPr>
              <a:t>remove, or derive from the neuroepithelium</a:t>
            </a:r>
            <a:endParaRPr lang="en-US" sz="1300" dirty="0"/>
          </a:p>
        </p:txBody>
      </p:sp>
      <p:sp>
        <p:nvSpPr>
          <p:cNvPr id="10" name="chip-596"/>
          <p:cNvSpPr txBox="1"/>
          <p:nvPr/>
        </p:nvSpPr>
        <p:spPr>
          <a:xfrm>
            <a:off x="2651760" y="3200400"/>
            <a:ext cx="1325880" cy="347472"/>
          </a:xfrm>
          <a:prstGeom prst="roundRect">
            <a:avLst>
              <a:gd name="adj" fmla="val 31579"/>
            </a:avLst>
          </a:prstGeom>
          <a:solidFill>
            <a:schemeClr val="accent3"/>
          </a:solidFill>
          <a:ln>
            <a:solidFill>
              <a:schemeClr val="accent3"/>
            </a:solidFill>
          </a:ln>
        </p:spPr>
        <p:txBody>
          <a:bodyPr wrap="square" lIns="0" tIns="0" rIns="0" bIns="0" rtlCol="0" anchor="ctr"/>
          <a:lstStyle/>
          <a:p>
            <a:pPr algn="ctr" indent="0" marL="0">
              <a:buNone/>
            </a:pPr>
            <a:r>
              <a:rPr lang="en-US" sz="1300" b="1" dirty="0">
                <a:solidFill>
                  <a:schemeClr val="bg1"/>
                </a:solidFill>
              </a:rPr>
              <a:t>likely error</a:t>
            </a:r>
            <a:endParaRPr lang="en-US" sz="1300" dirty="0"/>
          </a:p>
        </p:txBody>
      </p:sp>
      <p:sp>
        <p:nvSpPr>
          <p:cNvPr id="11" name="box-597"/>
          <p:cNvSpPr/>
          <p:nvPr/>
        </p:nvSpPr>
        <p:spPr>
          <a:xfrm>
            <a:off x="4274820" y="1325880"/>
            <a:ext cx="3611880" cy="2377440"/>
          </a:xfrm>
          <a:prstGeom prst="roundRect">
            <a:avLst>
              <a:gd name="adj" fmla="val 3077"/>
            </a:avLst>
          </a:prstGeom>
          <a:solidFill>
            <a:schemeClr val="bg2"/>
          </a:solidFill>
          <a:ln w="12700">
            <a:solidFill>
              <a:schemeClr val="bg2"/>
            </a:solidFill>
            <a:prstDash val="solid"/>
          </a:ln>
        </p:spPr>
      </p:sp>
      <p:sp>
        <p:nvSpPr>
          <p:cNvPr id="12" name="badge-598"/>
          <p:cNvSpPr/>
          <p:nvPr/>
        </p:nvSpPr>
        <p:spPr>
          <a:xfrm>
            <a:off x="4457700" y="1490472"/>
            <a:ext cx="411480" cy="411480"/>
          </a:xfrm>
          <a:prstGeom prst="ellipse">
            <a:avLst/>
          </a:prstGeom>
          <a:solidFill>
            <a:schemeClr val="accent3"/>
          </a:solidFill>
          <a:ln w="12700">
            <a:solidFill>
              <a:schemeClr val="accent3"/>
            </a:solidFill>
            <a:prstDash val="solid"/>
          </a:ln>
        </p:spPr>
      </p:sp>
      <p:pic>
        <p:nvPicPr>
          <p:cNvPr id="13" name="icon-599" descr="preencoded.png">    </p:cNvPr>
          <p:cNvPicPr>
            <a:picLocks noChangeAspect="1"/>
          </p:cNvPicPr>
          <p:nvPr/>
        </p:nvPicPr>
        <p:blipFill>
          <a:blip r:embed="rId2"/>
          <a:stretch>
            <a:fillRect/>
          </a:stretch>
        </p:blipFill>
        <p:spPr>
          <a:xfrm>
            <a:off x="4556455" y="1589227"/>
            <a:ext cx="213970" cy="213970"/>
          </a:xfrm>
          <a:prstGeom prst="rect">
            <a:avLst/>
          </a:prstGeom>
        </p:spPr>
      </p:pic>
      <p:sp>
        <p:nvSpPr>
          <p:cNvPr id="14" name="text-600"/>
          <p:cNvSpPr txBox="1"/>
          <p:nvPr/>
        </p:nvSpPr>
        <p:spPr>
          <a:xfrm>
            <a:off x="4988052" y="1463040"/>
            <a:ext cx="2743200" cy="457200"/>
          </a:xfrm>
          <a:prstGeom prst="rect">
            <a:avLst/>
          </a:prstGeom>
          <a:noFill/>
          <a:ln/>
        </p:spPr>
        <p:txBody>
          <a:bodyPr wrap="square" lIns="0" tIns="0" rIns="0" bIns="0" rtlCol="0" anchor="ctr"/>
          <a:lstStyle/>
          <a:p>
            <a:pPr indent="0" marL="0">
              <a:buNone/>
            </a:pPr>
            <a:r>
              <a:rPr lang="en-US" sz="1500" b="1" dirty="0">
                <a:solidFill>
                  <a:schemeClr val="tx1"/>
                </a:solidFill>
              </a:rPr>
              <a:t>Neural plate from neural tube</a:t>
            </a:r>
            <a:endParaRPr lang="en-US" sz="1500" dirty="0"/>
          </a:p>
        </p:txBody>
      </p:sp>
      <p:sp>
        <p:nvSpPr>
          <p:cNvPr id="15" name="text-601"/>
          <p:cNvSpPr txBox="1"/>
          <p:nvPr/>
        </p:nvSpPr>
        <p:spPr>
          <a:xfrm>
            <a:off x="4457700" y="2011680"/>
            <a:ext cx="3246120" cy="566928"/>
          </a:xfrm>
          <a:prstGeom prst="rect">
            <a:avLst/>
          </a:prstGeom>
          <a:noFill/>
          <a:ln/>
        </p:spPr>
        <p:txBody>
          <a:bodyPr wrap="square" lIns="0" tIns="0" rIns="0" bIns="0" rtlCol="0" anchor="t"/>
          <a:lstStyle/>
          <a:p>
            <a:pPr indent="0" marL="0">
              <a:buNone/>
            </a:pPr>
            <a:r>
              <a:rPr lang="en-US" sz="1200" dirty="0">
                <a:solidFill>
                  <a:schemeClr val="accent6"/>
                </a:solidFill>
                <a:latin typeface="Cambria" pitchFamily="34" charset="0"/>
                <a:ea typeface="Cambria" pitchFamily="34" charset="-122"/>
                <a:cs typeface="Cambria" pitchFamily="34" charset="-120"/>
              </a:rPr>
              <a:t>neural plate regions develop_from presumptive regions, which develop_from neural tube regions  (XAO, ZFA)</a:t>
            </a:r>
            <a:endParaRPr lang="en-US" sz="1200" dirty="0"/>
          </a:p>
        </p:txBody>
      </p:sp>
      <p:sp>
        <p:nvSpPr>
          <p:cNvPr id="16" name="text-602"/>
          <p:cNvSpPr txBox="1"/>
          <p:nvPr/>
        </p:nvSpPr>
        <p:spPr>
          <a:xfrm>
            <a:off x="4457700" y="2587752"/>
            <a:ext cx="3246120" cy="457200"/>
          </a:xfrm>
          <a:prstGeom prst="rect">
            <a:avLst/>
          </a:prstGeom>
          <a:noFill/>
          <a:ln/>
        </p:spPr>
        <p:txBody>
          <a:bodyPr wrap="square" lIns="0" tIns="0" rIns="0" bIns="0" rtlCol="0" anchor="t"/>
          <a:lstStyle/>
          <a:p>
            <a:pPr indent="0" marL="0">
              <a:buNone/>
            </a:pPr>
            <a:r>
              <a:rPr lang="en-US" sz="1300" b="1" dirty="0">
                <a:solidFill>
                  <a:schemeClr val="tx1"/>
                </a:solidFill>
              </a:rPr>
              <a:t>Collides with: </a:t>
            </a:r>
            <a:pPr indent="0" marL="0">
              <a:buNone/>
            </a:pPr>
            <a:r>
              <a:rPr lang="en-US" sz="1300" dirty="0">
                <a:solidFill>
                  <a:schemeClr val="tx1"/>
                </a:solidFill>
              </a:rPr>
              <a:t>neural tube starts CS10 (sourced); neural plate CS8</a:t>
            </a:r>
            <a:endParaRPr lang="en-US" sz="1300" dirty="0"/>
          </a:p>
        </p:txBody>
      </p:sp>
      <p:sp>
        <p:nvSpPr>
          <p:cNvPr id="17" name="text-603"/>
          <p:cNvSpPr txBox="1"/>
          <p:nvPr/>
        </p:nvSpPr>
        <p:spPr>
          <a:xfrm>
            <a:off x="4457700" y="3044952"/>
            <a:ext cx="1874520" cy="594360"/>
          </a:xfrm>
          <a:prstGeom prst="rect">
            <a:avLst/>
          </a:prstGeom>
          <a:noFill/>
          <a:ln/>
        </p:spPr>
        <p:txBody>
          <a:bodyPr wrap="square" lIns="0" tIns="0" rIns="0" bIns="0" rtlCol="0" anchor="t"/>
          <a:lstStyle/>
          <a:p>
            <a:pPr indent="0" marL="0">
              <a:buNone/>
            </a:pPr>
            <a:r>
              <a:rPr lang="en-US" sz="1300" b="1" dirty="0">
                <a:solidFill>
                  <a:schemeClr val="tx1"/>
                </a:solidFill>
              </a:rPr>
              <a:t>Suggested: </a:t>
            </a:r>
            <a:pPr indent="0" marL="0">
              <a:buNone/>
            </a:pPr>
            <a:r>
              <a:rPr lang="en-US" sz="1300" dirty="0">
                <a:solidFill>
                  <a:schemeClr val="tx1"/>
                </a:solidFill>
              </a:rPr>
              <a:t>reverse the direction</a:t>
            </a:r>
            <a:endParaRPr lang="en-US" sz="1300" dirty="0"/>
          </a:p>
        </p:txBody>
      </p:sp>
      <p:sp>
        <p:nvSpPr>
          <p:cNvPr id="18" name="chip-604"/>
          <p:cNvSpPr txBox="1"/>
          <p:nvPr/>
        </p:nvSpPr>
        <p:spPr>
          <a:xfrm>
            <a:off x="6377940" y="3200400"/>
            <a:ext cx="1325880" cy="347472"/>
          </a:xfrm>
          <a:prstGeom prst="roundRect">
            <a:avLst>
              <a:gd name="adj" fmla="val 31579"/>
            </a:avLst>
          </a:prstGeom>
          <a:solidFill>
            <a:schemeClr val="accent3"/>
          </a:solidFill>
          <a:ln>
            <a:solidFill>
              <a:schemeClr val="accent3"/>
            </a:solidFill>
          </a:ln>
        </p:spPr>
        <p:txBody>
          <a:bodyPr wrap="square" lIns="0" tIns="0" rIns="0" bIns="0" rtlCol="0" anchor="ctr"/>
          <a:lstStyle/>
          <a:p>
            <a:pPr algn="ctr" indent="0" marL="0">
              <a:buNone/>
            </a:pPr>
            <a:r>
              <a:rPr lang="en-US" sz="1300" b="1" dirty="0">
                <a:solidFill>
                  <a:schemeClr val="bg1"/>
                </a:solidFill>
              </a:rPr>
              <a:t>likely error</a:t>
            </a:r>
            <a:endParaRPr lang="en-US" sz="1300" dirty="0"/>
          </a:p>
        </p:txBody>
      </p:sp>
      <p:sp>
        <p:nvSpPr>
          <p:cNvPr id="19" name="box-605"/>
          <p:cNvSpPr/>
          <p:nvPr/>
        </p:nvSpPr>
        <p:spPr>
          <a:xfrm>
            <a:off x="8001000" y="1325880"/>
            <a:ext cx="3611880" cy="2377440"/>
          </a:xfrm>
          <a:prstGeom prst="roundRect">
            <a:avLst>
              <a:gd name="adj" fmla="val 3077"/>
            </a:avLst>
          </a:prstGeom>
          <a:solidFill>
            <a:schemeClr val="bg2"/>
          </a:solidFill>
          <a:ln w="12700">
            <a:solidFill>
              <a:schemeClr val="bg2"/>
            </a:solidFill>
            <a:prstDash val="solid"/>
          </a:ln>
        </p:spPr>
      </p:sp>
      <p:sp>
        <p:nvSpPr>
          <p:cNvPr id="20" name="badge-606"/>
          <p:cNvSpPr/>
          <p:nvPr/>
        </p:nvSpPr>
        <p:spPr>
          <a:xfrm>
            <a:off x="8183880" y="1490472"/>
            <a:ext cx="411480" cy="411480"/>
          </a:xfrm>
          <a:prstGeom prst="ellipse">
            <a:avLst/>
          </a:prstGeom>
          <a:solidFill>
            <a:schemeClr val="accent3"/>
          </a:solidFill>
          <a:ln w="12700">
            <a:solidFill>
              <a:schemeClr val="accent3"/>
            </a:solidFill>
            <a:prstDash val="solid"/>
          </a:ln>
        </p:spPr>
      </p:sp>
      <p:pic>
        <p:nvPicPr>
          <p:cNvPr id="21" name="icon-607" descr="preencoded.png">    </p:cNvPr>
          <p:cNvPicPr>
            <a:picLocks noChangeAspect="1"/>
          </p:cNvPicPr>
          <p:nvPr/>
        </p:nvPicPr>
        <p:blipFill>
          <a:blip r:embed="rId3"/>
          <a:stretch>
            <a:fillRect/>
          </a:stretch>
        </p:blipFill>
        <p:spPr>
          <a:xfrm>
            <a:off x="8282635" y="1589227"/>
            <a:ext cx="213970" cy="213970"/>
          </a:xfrm>
          <a:prstGeom prst="rect">
            <a:avLst/>
          </a:prstGeom>
        </p:spPr>
      </p:pic>
      <p:sp>
        <p:nvSpPr>
          <p:cNvPr id="22" name="text-608"/>
          <p:cNvSpPr txBox="1"/>
          <p:nvPr/>
        </p:nvSpPr>
        <p:spPr>
          <a:xfrm>
            <a:off x="8714232" y="1463040"/>
            <a:ext cx="2743200" cy="457200"/>
          </a:xfrm>
          <a:prstGeom prst="rect">
            <a:avLst/>
          </a:prstGeom>
          <a:noFill/>
          <a:ln/>
        </p:spPr>
        <p:txBody>
          <a:bodyPr wrap="square" lIns="0" tIns="0" rIns="0" bIns="0" rtlCol="0" anchor="ctr"/>
          <a:lstStyle/>
          <a:p>
            <a:pPr indent="0" marL="0">
              <a:buNone/>
            </a:pPr>
            <a:r>
              <a:rPr lang="en-US" sz="1500" b="1" dirty="0">
                <a:solidFill>
                  <a:schemeClr val="tx1"/>
                </a:solidFill>
              </a:rPr>
              <a:t>Amnion and chorion from amniotic folds</a:t>
            </a:r>
            <a:endParaRPr lang="en-US" sz="1500" dirty="0"/>
          </a:p>
        </p:txBody>
      </p:sp>
      <p:sp>
        <p:nvSpPr>
          <p:cNvPr id="23" name="text-609"/>
          <p:cNvSpPr txBox="1"/>
          <p:nvPr/>
        </p:nvSpPr>
        <p:spPr>
          <a:xfrm>
            <a:off x="8183880" y="2011680"/>
            <a:ext cx="3246120" cy="566928"/>
          </a:xfrm>
          <a:prstGeom prst="rect">
            <a:avLst/>
          </a:prstGeom>
          <a:noFill/>
          <a:ln/>
        </p:spPr>
        <p:txBody>
          <a:bodyPr wrap="square" lIns="0" tIns="0" rIns="0" bIns="0" rtlCol="0" anchor="t"/>
          <a:lstStyle/>
          <a:p>
            <a:pPr indent="0" marL="0">
              <a:buNone/>
            </a:pPr>
            <a:r>
              <a:rPr lang="en-US" sz="1200" dirty="0">
                <a:solidFill>
                  <a:schemeClr val="accent6"/>
                </a:solidFill>
                <a:latin typeface="Cambria" pitchFamily="34" charset="0"/>
                <a:ea typeface="Cambria" pitchFamily="34" charset="-122"/>
                <a:cs typeface="Cambria" pitchFamily="34" charset="-120"/>
              </a:rPr>
              <a:t>amnion, chorion develops_from amniotic fold develops_from somatopleure  (Kardong)</a:t>
            </a:r>
            <a:endParaRPr lang="en-US" sz="1200" dirty="0"/>
          </a:p>
        </p:txBody>
      </p:sp>
      <p:sp>
        <p:nvSpPr>
          <p:cNvPr id="24" name="text-610"/>
          <p:cNvSpPr txBox="1"/>
          <p:nvPr/>
        </p:nvSpPr>
        <p:spPr>
          <a:xfrm>
            <a:off x="8183880" y="2587752"/>
            <a:ext cx="3246120" cy="457200"/>
          </a:xfrm>
          <a:prstGeom prst="rect">
            <a:avLst/>
          </a:prstGeom>
          <a:noFill/>
          <a:ln/>
        </p:spPr>
        <p:txBody>
          <a:bodyPr wrap="square" lIns="0" tIns="0" rIns="0" bIns="0" rtlCol="0" anchor="t"/>
          <a:lstStyle/>
          <a:p>
            <a:pPr indent="0" marL="0">
              <a:buNone/>
            </a:pPr>
            <a:r>
              <a:rPr lang="en-US" sz="1300" b="1" dirty="0">
                <a:solidFill>
                  <a:schemeClr val="tx1"/>
                </a:solidFill>
              </a:rPr>
              <a:t>Collides with: </a:t>
            </a:r>
            <a:pPr indent="0" marL="0">
              <a:buNone/>
            </a:pPr>
            <a:r>
              <a:rPr lang="en-US" sz="1300" dirty="0">
                <a:solidFill>
                  <a:schemeClr val="tx1"/>
                </a:solidFill>
              </a:rPr>
              <a:t>amnion CS5, before lateral plate mesoderm (CS8)</a:t>
            </a:r>
            <a:endParaRPr lang="en-US" sz="1300" dirty="0"/>
          </a:p>
        </p:txBody>
      </p:sp>
      <p:sp>
        <p:nvSpPr>
          <p:cNvPr id="25" name="text-611"/>
          <p:cNvSpPr txBox="1"/>
          <p:nvPr/>
        </p:nvSpPr>
        <p:spPr>
          <a:xfrm>
            <a:off x="8183880" y="3044952"/>
            <a:ext cx="1874520" cy="594360"/>
          </a:xfrm>
          <a:prstGeom prst="rect">
            <a:avLst/>
          </a:prstGeom>
          <a:noFill/>
          <a:ln/>
        </p:spPr>
        <p:txBody>
          <a:bodyPr wrap="square" lIns="0" tIns="0" rIns="0" bIns="0" rtlCol="0" anchor="t"/>
          <a:lstStyle/>
          <a:p>
            <a:pPr indent="0" marL="0">
              <a:buNone/>
            </a:pPr>
            <a:r>
              <a:rPr lang="en-US" sz="1300" b="1" dirty="0">
                <a:solidFill>
                  <a:schemeClr val="tx1"/>
                </a:solidFill>
              </a:rPr>
              <a:t>Suggested: </a:t>
            </a:r>
            <a:pPr indent="0" marL="0">
              <a:buNone/>
            </a:pPr>
            <a:r>
              <a:rPr lang="en-US" sz="1300" dirty="0">
                <a:solidFill>
                  <a:schemeClr val="tx1"/>
                </a:solidFill>
              </a:rPr>
              <a:t>scope by taxon; the human amnion cavitates</a:t>
            </a:r>
            <a:endParaRPr lang="en-US" sz="1300" dirty="0"/>
          </a:p>
        </p:txBody>
      </p:sp>
      <p:sp>
        <p:nvSpPr>
          <p:cNvPr id="26" name="chip-612"/>
          <p:cNvSpPr txBox="1"/>
          <p:nvPr/>
        </p:nvSpPr>
        <p:spPr>
          <a:xfrm>
            <a:off x="10104120" y="3200400"/>
            <a:ext cx="1325880" cy="347472"/>
          </a:xfrm>
          <a:prstGeom prst="roundRect">
            <a:avLst>
              <a:gd name="adj" fmla="val 31579"/>
            </a:avLst>
          </a:prstGeom>
          <a:solidFill>
            <a:schemeClr val="accent3"/>
          </a:solidFill>
          <a:ln>
            <a:solidFill>
              <a:schemeClr val="accent3"/>
            </a:solidFill>
          </a:ln>
        </p:spPr>
        <p:txBody>
          <a:bodyPr wrap="square" lIns="0" tIns="0" rIns="0" bIns="0" rtlCol="0" anchor="ctr"/>
          <a:lstStyle/>
          <a:p>
            <a:pPr algn="ctr" indent="0" marL="0">
              <a:buNone/>
            </a:pPr>
            <a:r>
              <a:rPr lang="en-US" sz="1300" b="1" dirty="0">
                <a:solidFill>
                  <a:schemeClr val="bg1"/>
                </a:solidFill>
              </a:rPr>
              <a:t>likely in human</a:t>
            </a:r>
            <a:endParaRPr lang="en-US" sz="1300" dirty="0"/>
          </a:p>
        </p:txBody>
      </p:sp>
      <p:sp>
        <p:nvSpPr>
          <p:cNvPr id="27" name="box-613"/>
          <p:cNvSpPr/>
          <p:nvPr/>
        </p:nvSpPr>
        <p:spPr>
          <a:xfrm>
            <a:off x="548640" y="3840480"/>
            <a:ext cx="3611880" cy="2377440"/>
          </a:xfrm>
          <a:prstGeom prst="roundRect">
            <a:avLst>
              <a:gd name="adj" fmla="val 3077"/>
            </a:avLst>
          </a:prstGeom>
          <a:solidFill>
            <a:schemeClr val="bg2"/>
          </a:solidFill>
          <a:ln w="12700">
            <a:solidFill>
              <a:schemeClr val="bg2"/>
            </a:solidFill>
            <a:prstDash val="solid"/>
          </a:ln>
        </p:spPr>
      </p:sp>
      <p:sp>
        <p:nvSpPr>
          <p:cNvPr id="28" name="badge-614"/>
          <p:cNvSpPr/>
          <p:nvPr/>
        </p:nvSpPr>
        <p:spPr>
          <a:xfrm>
            <a:off x="731520" y="4005072"/>
            <a:ext cx="411480" cy="411480"/>
          </a:xfrm>
          <a:prstGeom prst="ellipse">
            <a:avLst/>
          </a:prstGeom>
          <a:solidFill>
            <a:schemeClr val="accent3"/>
          </a:solidFill>
          <a:ln w="12700">
            <a:solidFill>
              <a:schemeClr val="accent3"/>
            </a:solidFill>
            <a:prstDash val="solid"/>
          </a:ln>
        </p:spPr>
      </p:sp>
      <p:pic>
        <p:nvPicPr>
          <p:cNvPr id="29" name="icon-615" descr="preencoded.png">    </p:cNvPr>
          <p:cNvPicPr>
            <a:picLocks noChangeAspect="1"/>
          </p:cNvPicPr>
          <p:nvPr/>
        </p:nvPicPr>
        <p:blipFill>
          <a:blip r:embed="rId4"/>
          <a:stretch>
            <a:fillRect/>
          </a:stretch>
        </p:blipFill>
        <p:spPr>
          <a:xfrm>
            <a:off x="830275" y="4103827"/>
            <a:ext cx="213970" cy="213970"/>
          </a:xfrm>
          <a:prstGeom prst="rect">
            <a:avLst/>
          </a:prstGeom>
        </p:spPr>
      </p:pic>
      <p:sp>
        <p:nvSpPr>
          <p:cNvPr id="30" name="text-616"/>
          <p:cNvSpPr txBox="1"/>
          <p:nvPr/>
        </p:nvSpPr>
        <p:spPr>
          <a:xfrm>
            <a:off x="1261872" y="3977640"/>
            <a:ext cx="2743200" cy="457200"/>
          </a:xfrm>
          <a:prstGeom prst="rect">
            <a:avLst/>
          </a:prstGeom>
          <a:noFill/>
          <a:ln/>
        </p:spPr>
        <p:txBody>
          <a:bodyPr wrap="square" lIns="0" tIns="0" rIns="0" bIns="0" rtlCol="0" anchor="ctr"/>
          <a:lstStyle/>
          <a:p>
            <a:pPr indent="0" marL="0">
              <a:buNone/>
            </a:pPr>
            <a:r>
              <a:rPr lang="en-US" sz="1500" b="1" dirty="0">
                <a:solidFill>
                  <a:schemeClr val="tx1"/>
                </a:solidFill>
              </a:rPr>
              <a:t>Lung saccule as part of alveolus</a:t>
            </a:r>
            <a:endParaRPr lang="en-US" sz="1500" dirty="0"/>
          </a:p>
        </p:txBody>
      </p:sp>
      <p:sp>
        <p:nvSpPr>
          <p:cNvPr id="31" name="text-617"/>
          <p:cNvSpPr txBox="1"/>
          <p:nvPr/>
        </p:nvSpPr>
        <p:spPr>
          <a:xfrm>
            <a:off x="731520" y="4526280"/>
            <a:ext cx="3246120" cy="566928"/>
          </a:xfrm>
          <a:prstGeom prst="rect">
            <a:avLst/>
          </a:prstGeom>
          <a:noFill/>
          <a:ln/>
        </p:spPr>
        <p:txBody>
          <a:bodyPr wrap="square" lIns="0" tIns="0" rIns="0" bIns="0" rtlCol="0" anchor="t"/>
          <a:lstStyle/>
          <a:p>
            <a:pPr indent="0" marL="0">
              <a:buNone/>
            </a:pPr>
            <a:r>
              <a:rPr lang="en-US" sz="1200" dirty="0">
                <a:solidFill>
                  <a:schemeClr val="accent6"/>
                </a:solidFill>
                <a:latin typeface="Cambria" pitchFamily="34" charset="0"/>
                <a:ea typeface="Cambria" pitchFamily="34" charset="-122"/>
                <a:cs typeface="Cambria" pitchFamily="34" charset="-120"/>
              </a:rPr>
              <a:t>lung saccule part_of alveolus of lung  (source: GO)</a:t>
            </a:r>
            <a:endParaRPr lang="en-US" sz="1200" dirty="0"/>
          </a:p>
        </p:txBody>
      </p:sp>
      <p:sp>
        <p:nvSpPr>
          <p:cNvPr id="32" name="text-618"/>
          <p:cNvSpPr txBox="1"/>
          <p:nvPr/>
        </p:nvSpPr>
        <p:spPr>
          <a:xfrm>
            <a:off x="731520" y="5102352"/>
            <a:ext cx="3246120" cy="457200"/>
          </a:xfrm>
          <a:prstGeom prst="rect">
            <a:avLst/>
          </a:prstGeom>
          <a:noFill/>
          <a:ln/>
        </p:spPr>
        <p:txBody>
          <a:bodyPr wrap="square" lIns="0" tIns="0" rIns="0" bIns="0" rtlCol="0" anchor="t"/>
          <a:lstStyle/>
          <a:p>
            <a:pPr indent="0" marL="0">
              <a:buNone/>
            </a:pPr>
            <a:r>
              <a:rPr lang="en-US" sz="1300" b="1" dirty="0">
                <a:solidFill>
                  <a:schemeClr val="tx1"/>
                </a:solidFill>
              </a:rPr>
              <a:t>Collides with: </a:t>
            </a:r>
            <a:pPr indent="0" marL="0">
              <a:buNone/>
            </a:pPr>
            <a:r>
              <a:rPr lang="en-US" sz="1300" dirty="0">
                <a:solidFill>
                  <a:schemeClr val="tx1"/>
                </a:solidFill>
              </a:rPr>
              <a:t>saccules from week 24, alveoli from week 36</a:t>
            </a:r>
            <a:endParaRPr lang="en-US" sz="1300" dirty="0"/>
          </a:p>
        </p:txBody>
      </p:sp>
      <p:sp>
        <p:nvSpPr>
          <p:cNvPr id="33" name="text-619"/>
          <p:cNvSpPr txBox="1"/>
          <p:nvPr/>
        </p:nvSpPr>
        <p:spPr>
          <a:xfrm>
            <a:off x="731520" y="5559552"/>
            <a:ext cx="1874520" cy="594360"/>
          </a:xfrm>
          <a:prstGeom prst="rect">
            <a:avLst/>
          </a:prstGeom>
          <a:noFill/>
          <a:ln/>
        </p:spPr>
        <p:txBody>
          <a:bodyPr wrap="square" lIns="0" tIns="0" rIns="0" bIns="0" rtlCol="0" anchor="t"/>
          <a:lstStyle/>
          <a:p>
            <a:pPr indent="0" marL="0">
              <a:buNone/>
            </a:pPr>
            <a:r>
              <a:rPr lang="en-US" sz="1300" b="1" dirty="0">
                <a:solidFill>
                  <a:schemeClr val="tx1"/>
                </a:solidFill>
              </a:rPr>
              <a:t>Suggested: </a:t>
            </a:r>
            <a:pPr indent="0" marL="0">
              <a:buNone/>
            </a:pPr>
            <a:r>
              <a:rPr lang="en-US" sz="1300" dirty="0">
                <a:solidFill>
                  <a:schemeClr val="tx1"/>
                </a:solidFill>
              </a:rPr>
              <a:t>alveolus develops_from lung saccule</a:t>
            </a:r>
            <a:endParaRPr lang="en-US" sz="1300" dirty="0"/>
          </a:p>
        </p:txBody>
      </p:sp>
      <p:sp>
        <p:nvSpPr>
          <p:cNvPr id="34" name="chip-620"/>
          <p:cNvSpPr txBox="1"/>
          <p:nvPr/>
        </p:nvSpPr>
        <p:spPr>
          <a:xfrm>
            <a:off x="2651760" y="5715000"/>
            <a:ext cx="1325880" cy="347472"/>
          </a:xfrm>
          <a:prstGeom prst="roundRect">
            <a:avLst>
              <a:gd name="adj" fmla="val 31579"/>
            </a:avLst>
          </a:prstGeom>
          <a:solidFill>
            <a:schemeClr val="accent3"/>
          </a:solidFill>
          <a:ln>
            <a:solidFill>
              <a:schemeClr val="accent3"/>
            </a:solidFill>
          </a:ln>
        </p:spPr>
        <p:txBody>
          <a:bodyPr wrap="square" lIns="0" tIns="0" rIns="0" bIns="0" rtlCol="0" anchor="ctr"/>
          <a:lstStyle/>
          <a:p>
            <a:pPr algn="ctr" indent="0" marL="0">
              <a:buNone/>
            </a:pPr>
            <a:r>
              <a:rPr lang="en-US" sz="1300" b="1" dirty="0">
                <a:solidFill>
                  <a:schemeClr val="bg1"/>
                </a:solidFill>
              </a:rPr>
              <a:t>likely error</a:t>
            </a:r>
            <a:endParaRPr lang="en-US" sz="1300" dirty="0"/>
          </a:p>
        </p:txBody>
      </p:sp>
      <p:sp>
        <p:nvSpPr>
          <p:cNvPr id="35" name="box-621"/>
          <p:cNvSpPr/>
          <p:nvPr/>
        </p:nvSpPr>
        <p:spPr>
          <a:xfrm>
            <a:off x="4274820" y="3840480"/>
            <a:ext cx="3611880" cy="2377440"/>
          </a:xfrm>
          <a:prstGeom prst="roundRect">
            <a:avLst>
              <a:gd name="adj" fmla="val 3077"/>
            </a:avLst>
          </a:prstGeom>
          <a:solidFill>
            <a:schemeClr val="bg2"/>
          </a:solidFill>
          <a:ln w="12700">
            <a:solidFill>
              <a:schemeClr val="bg2"/>
            </a:solidFill>
            <a:prstDash val="solid"/>
          </a:ln>
        </p:spPr>
      </p:sp>
      <p:sp>
        <p:nvSpPr>
          <p:cNvPr id="36" name="badge-622"/>
          <p:cNvSpPr/>
          <p:nvPr/>
        </p:nvSpPr>
        <p:spPr>
          <a:xfrm>
            <a:off x="4457700" y="4005072"/>
            <a:ext cx="411480" cy="411480"/>
          </a:xfrm>
          <a:prstGeom prst="ellipse">
            <a:avLst/>
          </a:prstGeom>
          <a:solidFill>
            <a:schemeClr val="accent2"/>
          </a:solidFill>
          <a:ln w="12700">
            <a:solidFill>
              <a:schemeClr val="accent2"/>
            </a:solidFill>
            <a:prstDash val="solid"/>
          </a:ln>
        </p:spPr>
      </p:sp>
      <p:pic>
        <p:nvPicPr>
          <p:cNvPr id="37" name="icon-623" descr="preencoded.png">    </p:cNvPr>
          <p:cNvPicPr>
            <a:picLocks noChangeAspect="1"/>
          </p:cNvPicPr>
          <p:nvPr/>
        </p:nvPicPr>
        <p:blipFill>
          <a:blip r:embed="rId5"/>
          <a:stretch>
            <a:fillRect/>
          </a:stretch>
        </p:blipFill>
        <p:spPr>
          <a:xfrm>
            <a:off x="4556455" y="4103827"/>
            <a:ext cx="213970" cy="213970"/>
          </a:xfrm>
          <a:prstGeom prst="rect">
            <a:avLst/>
          </a:prstGeom>
        </p:spPr>
      </p:pic>
      <p:sp>
        <p:nvSpPr>
          <p:cNvPr id="38" name="text-624"/>
          <p:cNvSpPr txBox="1"/>
          <p:nvPr/>
        </p:nvSpPr>
        <p:spPr>
          <a:xfrm>
            <a:off x="4988052" y="3977640"/>
            <a:ext cx="2743200" cy="457200"/>
          </a:xfrm>
          <a:prstGeom prst="rect">
            <a:avLst/>
          </a:prstGeom>
          <a:noFill/>
          <a:ln/>
        </p:spPr>
        <p:txBody>
          <a:bodyPr wrap="square" lIns="0" tIns="0" rIns="0" bIns="0" rtlCol="0" anchor="ctr"/>
          <a:lstStyle/>
          <a:p>
            <a:pPr indent="0" marL="0">
              <a:buNone/>
            </a:pPr>
            <a:r>
              <a:rPr lang="en-US" sz="1500" b="1" dirty="0">
                <a:solidFill>
                  <a:schemeClr val="tx1"/>
                </a:solidFill>
              </a:rPr>
              <a:t>Otic pit as part of otic placode</a:t>
            </a:r>
            <a:endParaRPr lang="en-US" sz="1500" dirty="0"/>
          </a:p>
        </p:txBody>
      </p:sp>
      <p:sp>
        <p:nvSpPr>
          <p:cNvPr id="39" name="text-625"/>
          <p:cNvSpPr txBox="1"/>
          <p:nvPr/>
        </p:nvSpPr>
        <p:spPr>
          <a:xfrm>
            <a:off x="4457700" y="4526280"/>
            <a:ext cx="3246120" cy="566928"/>
          </a:xfrm>
          <a:prstGeom prst="rect">
            <a:avLst/>
          </a:prstGeom>
          <a:noFill/>
          <a:ln/>
        </p:spPr>
        <p:txBody>
          <a:bodyPr wrap="square" lIns="0" tIns="0" rIns="0" bIns="0" rtlCol="0" anchor="t"/>
          <a:lstStyle/>
          <a:p>
            <a:pPr indent="0" marL="0">
              <a:buNone/>
            </a:pPr>
            <a:r>
              <a:rPr lang="en-US" sz="1200" dirty="0">
                <a:solidFill>
                  <a:schemeClr val="accent6"/>
                </a:solidFill>
                <a:latin typeface="Cambria" pitchFamily="34" charset="0"/>
                <a:ea typeface="Cambria" pitchFamily="34" charset="-122"/>
                <a:cs typeface="Cambria" pitchFamily="34" charset="-120"/>
              </a:rPr>
              <a:t>otic pit part_of otic placode</a:t>
            </a:r>
            <a:endParaRPr lang="en-US" sz="1200" dirty="0"/>
          </a:p>
        </p:txBody>
      </p:sp>
      <p:sp>
        <p:nvSpPr>
          <p:cNvPr id="40" name="text-626"/>
          <p:cNvSpPr txBox="1"/>
          <p:nvPr/>
        </p:nvSpPr>
        <p:spPr>
          <a:xfrm>
            <a:off x="4457700" y="5102352"/>
            <a:ext cx="3246120" cy="457200"/>
          </a:xfrm>
          <a:prstGeom prst="rect">
            <a:avLst/>
          </a:prstGeom>
          <a:noFill/>
          <a:ln/>
        </p:spPr>
        <p:txBody>
          <a:bodyPr wrap="square" lIns="0" tIns="0" rIns="0" bIns="0" rtlCol="0" anchor="t"/>
          <a:lstStyle/>
          <a:p>
            <a:pPr indent="0" marL="0">
              <a:buNone/>
            </a:pPr>
            <a:r>
              <a:rPr lang="en-US" sz="1300" b="1" dirty="0">
                <a:solidFill>
                  <a:schemeClr val="tx1"/>
                </a:solidFill>
              </a:rPr>
              <a:t>Collides with: </a:t>
            </a:r>
            <a:pPr indent="0" marL="0">
              <a:buNone/>
            </a:pPr>
            <a:r>
              <a:rPr lang="en-US" sz="1300" dirty="0">
                <a:solidFill>
                  <a:schemeClr val="tx1"/>
                </a:solidFill>
              </a:rPr>
              <a:t>the pit ends in CS12, after the placode (CS11)</a:t>
            </a:r>
            <a:endParaRPr lang="en-US" sz="1300" dirty="0"/>
          </a:p>
        </p:txBody>
      </p:sp>
      <p:sp>
        <p:nvSpPr>
          <p:cNvPr id="41" name="text-627"/>
          <p:cNvSpPr txBox="1"/>
          <p:nvPr/>
        </p:nvSpPr>
        <p:spPr>
          <a:xfrm>
            <a:off x="4457700" y="5559552"/>
            <a:ext cx="1874520" cy="594360"/>
          </a:xfrm>
          <a:prstGeom prst="rect">
            <a:avLst/>
          </a:prstGeom>
          <a:noFill/>
          <a:ln/>
        </p:spPr>
        <p:txBody>
          <a:bodyPr wrap="square" lIns="0" tIns="0" rIns="0" bIns="0" rtlCol="0" anchor="t"/>
          <a:lstStyle/>
          <a:p>
            <a:pPr indent="0" marL="0">
              <a:buNone/>
            </a:pPr>
            <a:r>
              <a:rPr lang="en-US" sz="1300" b="1" dirty="0">
                <a:solidFill>
                  <a:schemeClr val="tx1"/>
                </a:solidFill>
              </a:rPr>
              <a:t>Suggested: </a:t>
            </a:r>
            <a:pPr indent="0" marL="0">
              <a:buNone/>
            </a:pPr>
            <a:r>
              <a:rPr lang="en-US" sz="1300" dirty="0">
                <a:solidFill>
                  <a:schemeClr val="tx1"/>
                </a:solidFill>
              </a:rPr>
              <a:t>develops_from, not part_of</a:t>
            </a:r>
            <a:endParaRPr lang="en-US" sz="1300" dirty="0"/>
          </a:p>
        </p:txBody>
      </p:sp>
      <p:sp>
        <p:nvSpPr>
          <p:cNvPr id="42" name="chip-628"/>
          <p:cNvSpPr txBox="1"/>
          <p:nvPr/>
        </p:nvSpPr>
        <p:spPr>
          <a:xfrm>
            <a:off x="6377940" y="5715000"/>
            <a:ext cx="1325880" cy="347472"/>
          </a:xfrm>
          <a:prstGeom prst="roundRect">
            <a:avLst>
              <a:gd name="adj" fmla="val 31579"/>
            </a:avLst>
          </a:prstGeom>
          <a:solidFill>
            <a:schemeClr val="accent2"/>
          </a:solidFill>
          <a:ln>
            <a:solidFill>
              <a:schemeClr val="accent2"/>
            </a:solidFill>
          </a:ln>
        </p:spPr>
        <p:txBody>
          <a:bodyPr wrap="square" lIns="0" tIns="0" rIns="0" bIns="0" rtlCol="0" anchor="ctr"/>
          <a:lstStyle/>
          <a:p>
            <a:pPr algn="ctr" indent="0" marL="0">
              <a:buNone/>
            </a:pPr>
            <a:r>
              <a:rPr lang="en-US" sz="1300" b="1" dirty="0">
                <a:solidFill>
                  <a:schemeClr val="bg1"/>
                </a:solidFill>
              </a:rPr>
              <a:t>probable error</a:t>
            </a:r>
            <a:endParaRPr lang="en-US" sz="1300" dirty="0"/>
          </a:p>
        </p:txBody>
      </p:sp>
      <p:sp>
        <p:nvSpPr>
          <p:cNvPr id="43" name="box-629"/>
          <p:cNvSpPr/>
          <p:nvPr/>
        </p:nvSpPr>
        <p:spPr>
          <a:xfrm>
            <a:off x="8001000" y="3840480"/>
            <a:ext cx="3611880" cy="2377440"/>
          </a:xfrm>
          <a:prstGeom prst="roundRect">
            <a:avLst>
              <a:gd name="adj" fmla="val 3077"/>
            </a:avLst>
          </a:prstGeom>
          <a:solidFill>
            <a:schemeClr val="bg2"/>
          </a:solidFill>
          <a:ln w="12700">
            <a:solidFill>
              <a:schemeClr val="bg2"/>
            </a:solidFill>
            <a:prstDash val="solid"/>
          </a:ln>
        </p:spPr>
      </p:sp>
      <p:sp>
        <p:nvSpPr>
          <p:cNvPr id="44" name="badge-630"/>
          <p:cNvSpPr/>
          <p:nvPr/>
        </p:nvSpPr>
        <p:spPr>
          <a:xfrm>
            <a:off x="8183880" y="4005072"/>
            <a:ext cx="411480" cy="411480"/>
          </a:xfrm>
          <a:prstGeom prst="ellipse">
            <a:avLst/>
          </a:prstGeom>
          <a:solidFill>
            <a:schemeClr val="accent4"/>
          </a:solidFill>
          <a:ln w="12700">
            <a:solidFill>
              <a:schemeClr val="accent4"/>
            </a:solidFill>
            <a:prstDash val="solid"/>
          </a:ln>
        </p:spPr>
      </p:sp>
      <p:pic>
        <p:nvPicPr>
          <p:cNvPr id="45" name="icon-631" descr="preencoded.png">    </p:cNvPr>
          <p:cNvPicPr>
            <a:picLocks noChangeAspect="1"/>
          </p:cNvPicPr>
          <p:nvPr/>
        </p:nvPicPr>
        <p:blipFill>
          <a:blip r:embed="rId6"/>
          <a:stretch>
            <a:fillRect/>
          </a:stretch>
        </p:blipFill>
        <p:spPr>
          <a:xfrm>
            <a:off x="8282635" y="4103827"/>
            <a:ext cx="213970" cy="213970"/>
          </a:xfrm>
          <a:prstGeom prst="rect">
            <a:avLst/>
          </a:prstGeom>
        </p:spPr>
      </p:pic>
      <p:sp>
        <p:nvSpPr>
          <p:cNvPr id="46" name="text-632"/>
          <p:cNvSpPr txBox="1"/>
          <p:nvPr/>
        </p:nvSpPr>
        <p:spPr>
          <a:xfrm>
            <a:off x="8714232" y="3977640"/>
            <a:ext cx="2743200" cy="457200"/>
          </a:xfrm>
          <a:prstGeom prst="rect">
            <a:avLst/>
          </a:prstGeom>
          <a:noFill/>
          <a:ln/>
        </p:spPr>
        <p:txBody>
          <a:bodyPr wrap="square" lIns="0" tIns="0" rIns="0" bIns="0" rtlCol="0" anchor="ctr"/>
          <a:lstStyle/>
          <a:p>
            <a:pPr indent="0" marL="0">
              <a:buNone/>
            </a:pPr>
            <a:r>
              <a:rPr lang="en-US" sz="1500" b="1" dirty="0">
                <a:solidFill>
                  <a:schemeClr val="tx1"/>
                </a:solidFill>
              </a:rPr>
              <a:t>Chorionic villi after the allantois</a:t>
            </a:r>
            <a:endParaRPr lang="en-US" sz="1500" dirty="0"/>
          </a:p>
        </p:txBody>
      </p:sp>
      <p:sp>
        <p:nvSpPr>
          <p:cNvPr id="47" name="text-633"/>
          <p:cNvSpPr txBox="1"/>
          <p:nvPr/>
        </p:nvSpPr>
        <p:spPr>
          <a:xfrm>
            <a:off x="8183880" y="4526280"/>
            <a:ext cx="3246120" cy="566928"/>
          </a:xfrm>
          <a:prstGeom prst="rect">
            <a:avLst/>
          </a:prstGeom>
          <a:noFill/>
          <a:ln/>
        </p:spPr>
        <p:txBody>
          <a:bodyPr wrap="square" lIns="0" tIns="0" rIns="0" bIns="0" rtlCol="0" anchor="t"/>
          <a:lstStyle/>
          <a:p>
            <a:pPr indent="0" marL="0">
              <a:buNone/>
            </a:pPr>
            <a:r>
              <a:rPr lang="en-US" sz="1200" dirty="0">
                <a:solidFill>
                  <a:schemeClr val="accent6"/>
                </a:solidFill>
                <a:latin typeface="Cambria" pitchFamily="34" charset="0"/>
                <a:ea typeface="Cambria" pitchFamily="34" charset="-122"/>
                <a:cs typeface="Cambria" pitchFamily="34" charset="-120"/>
              </a:rPr>
              <a:t>villus develops_from chorionic plate (MP-def); placenta develops_from allantois (Kardong)</a:t>
            </a:r>
            <a:endParaRPr lang="en-US" sz="1200" dirty="0"/>
          </a:p>
        </p:txBody>
      </p:sp>
      <p:sp>
        <p:nvSpPr>
          <p:cNvPr id="48" name="text-634"/>
          <p:cNvSpPr txBox="1"/>
          <p:nvPr/>
        </p:nvSpPr>
        <p:spPr>
          <a:xfrm>
            <a:off x="8183880" y="5102352"/>
            <a:ext cx="3246120" cy="457200"/>
          </a:xfrm>
          <a:prstGeom prst="rect">
            <a:avLst/>
          </a:prstGeom>
          <a:noFill/>
          <a:ln/>
        </p:spPr>
        <p:txBody>
          <a:bodyPr wrap="square" lIns="0" tIns="0" rIns="0" bIns="0" rtlCol="0" anchor="t"/>
          <a:lstStyle/>
          <a:p>
            <a:pPr indent="0" marL="0">
              <a:buNone/>
            </a:pPr>
            <a:r>
              <a:rPr lang="en-US" sz="1300" b="1" dirty="0">
                <a:solidFill>
                  <a:schemeClr val="tx1"/>
                </a:solidFill>
              </a:rPr>
              <a:t>Collides with: </a:t>
            </a:r>
            <a:pPr indent="0" marL="0">
              <a:buNone/>
            </a:pPr>
            <a:r>
              <a:rPr lang="en-US" sz="1300" dirty="0">
                <a:solidFill>
                  <a:schemeClr val="tx1"/>
                </a:solidFill>
              </a:rPr>
              <a:t>primary villi CS6 (sourced), allantois CS7</a:t>
            </a:r>
            <a:endParaRPr lang="en-US" sz="1300" dirty="0"/>
          </a:p>
        </p:txBody>
      </p:sp>
      <p:sp>
        <p:nvSpPr>
          <p:cNvPr id="49" name="text-635"/>
          <p:cNvSpPr txBox="1"/>
          <p:nvPr/>
        </p:nvSpPr>
        <p:spPr>
          <a:xfrm>
            <a:off x="8183880" y="5559552"/>
            <a:ext cx="1874520" cy="594360"/>
          </a:xfrm>
          <a:prstGeom prst="rect">
            <a:avLst/>
          </a:prstGeom>
          <a:noFill/>
          <a:ln/>
        </p:spPr>
        <p:txBody>
          <a:bodyPr wrap="square" lIns="0" tIns="0" rIns="0" bIns="0" rtlCol="0" anchor="t"/>
          <a:lstStyle/>
          <a:p>
            <a:pPr indent="0" marL="0">
              <a:buNone/>
            </a:pPr>
            <a:r>
              <a:rPr lang="en-US" sz="1300" b="1" dirty="0">
                <a:solidFill>
                  <a:schemeClr val="tx1"/>
                </a:solidFill>
              </a:rPr>
              <a:t>Suggested: </a:t>
            </a:r>
            <a:pPr indent="0" marL="0">
              <a:buNone/>
            </a:pPr>
            <a:r>
              <a:rPr lang="en-US" sz="1300" dirty="0">
                <a:solidFill>
                  <a:schemeClr val="tx1"/>
                </a:solidFill>
              </a:rPr>
              <a:t>decide which link gives way</a:t>
            </a:r>
            <a:endParaRPr lang="en-US" sz="1300" dirty="0"/>
          </a:p>
        </p:txBody>
      </p:sp>
      <p:sp>
        <p:nvSpPr>
          <p:cNvPr id="50" name="chip-636"/>
          <p:cNvSpPr txBox="1"/>
          <p:nvPr/>
        </p:nvSpPr>
        <p:spPr>
          <a:xfrm>
            <a:off x="10104120" y="5715000"/>
            <a:ext cx="1325880" cy="347472"/>
          </a:xfrm>
          <a:prstGeom prst="roundRect">
            <a:avLst>
              <a:gd name="adj" fmla="val 31579"/>
            </a:avLst>
          </a:prstGeom>
          <a:solidFill>
            <a:schemeClr val="accent4"/>
          </a:solidFill>
          <a:ln>
            <a:solidFill>
              <a:schemeClr val="accent4"/>
            </a:solidFill>
          </a:ln>
        </p:spPr>
        <p:txBody>
          <a:bodyPr wrap="square" lIns="0" tIns="0" rIns="0" bIns="0" rtlCol="0" anchor="ctr"/>
          <a:lstStyle/>
          <a:p>
            <a:pPr algn="ctr" indent="0" marL="0">
              <a:buNone/>
            </a:pPr>
            <a:r>
              <a:rPr lang="en-US" sz="1300" b="1" dirty="0">
                <a:solidFill>
                  <a:schemeClr val="bg1"/>
                </a:solidFill>
              </a:rPr>
              <a:t>needs review</a:t>
            </a:r>
            <a:endParaRPr lang="en-US" sz="13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000" b="1" dirty="0">
                <a:solidFill>
                  <a:schemeClr val="tx1"/>
                </a:solidFill>
              </a:rPr>
              <a:t>How solid is each conflict?</a:t>
            </a:r>
            <a:endParaRPr lang="en-US" sz="3000" dirty="0"/>
          </a:p>
        </p:txBody>
      </p:sp>
      <p:graphicFrame>
        <p:nvGraphicFramePr>
          <p:cNvPr id="25" name="table-637"/>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11480"/>
                <a:gridCol w="3383280"/>
                <a:gridCol w="3337560"/>
                <a:gridCol w="1280160"/>
                <a:gridCol w="1188720"/>
                <a:gridCol w="1463040"/>
              </a:tblGrid>
              <a:tr h="384048">
                <a:tc>
                  <a:txBody>
                    <a:bodyPr/>
                    <a:lstStyle/>
                    <a:p>
                      <a:pPr algn="ctr" indent="0" marL="0">
                        <a:buNone/>
                      </a:pPr>
                      <a:r>
                        <a:rPr lang="en-US" sz="1300" b="1" dirty="0">
                          <a:solidFill>
                            <a:schemeClr val="bg1"/>
                          </a:solidFill>
                        </a:rPr>
                        <a:t>#</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Bounds in conflict</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Axiom in question</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Evidence</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Needs containment</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Likely culprit</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accent1"/>
                    </a:solidFill>
                  </a:tcPr>
                </a:tc>
              </a:tr>
              <a:tr h="384048">
                <a:tc>
                  <a:txBody>
                    <a:bodyPr/>
                    <a:lstStyle/>
                    <a:p>
                      <a:pPr algn="ctr" indent="0" marL="0">
                        <a:buNone/>
                      </a:pPr>
                      <a:r>
                        <a:rPr lang="en-US" sz="1300" dirty="0">
                          <a:solidFill>
                            <a:schemeClr val="accent4"/>
                          </a:solidFill>
                        </a:rPr>
                        <a:t>1</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tx1"/>
                          </a:solidFill>
                        </a:rPr>
                        <a:t>NT mantle CS13 · NT marginal CS12</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latin typeface="Cambria" pitchFamily="34" charset="0"/>
                          <a:ea typeface="Cambria" pitchFamily="34" charset="-122"/>
                          <a:cs typeface="Cambria" pitchFamily="34" charset="-120"/>
                        </a:rPr>
                        <a:t>marginal develops_from mantle</a:t>
                      </a:r>
                      <a:endParaRPr lang="en-US" sz="1300" dirty="0">
                        <a:latin typeface="Cambria" charset="0"/>
                        <a:ea typeface="Cambria" charset="0"/>
                        <a:cs typeface="Cambria" charset="0"/>
                      </a:endParaRPr>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1"/>
                          </a:solidFill>
                        </a:rPr>
                        <a:t>both sourced</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300" b="1" dirty="0">
                          <a:solidFill>
                            <a:schemeClr val="accent1"/>
                          </a:solidFill>
                        </a:rPr>
                        <a:t>no</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3"/>
                          </a:solidFill>
                        </a:rPr>
                        <a:t>Uberon</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384048">
                <a:tc>
                  <a:txBody>
                    <a:bodyPr/>
                    <a:lstStyle/>
                    <a:p>
                      <a:pPr algn="ctr" indent="0" marL="0">
                        <a:buNone/>
                      </a:pPr>
                      <a:r>
                        <a:rPr lang="en-US" sz="1300" dirty="0">
                          <a:solidFill>
                            <a:schemeClr val="accent4"/>
                          </a:solidFill>
                        </a:rPr>
                        <a:t>2</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tx1"/>
                          </a:solidFill>
                        </a:rPr>
                        <a:t>posterior NT CS10 · neural plate CS8</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latin typeface="Cambria" pitchFamily="34" charset="0"/>
                          <a:ea typeface="Cambria" pitchFamily="34" charset="-122"/>
                          <a:cs typeface="Cambria" pitchFamily="34" charset="-120"/>
                        </a:rPr>
                        <a:t>chain via presumptive hindbrain (XAO)</a:t>
                      </a:r>
                      <a:endParaRPr lang="en-US" sz="1300" dirty="0">
                        <a:latin typeface="Cambria" charset="0"/>
                        <a:ea typeface="Cambria" charset="0"/>
                        <a:cs typeface="Cambria" charset="0"/>
                      </a:endParaRPr>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4"/>
                          </a:solidFill>
                        </a:rPr>
                        <a:t>unsourced</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300" b="1" dirty="0">
                          <a:solidFill>
                            <a:schemeClr val="accent1"/>
                          </a:solidFill>
                        </a:rPr>
                        <a:t>no</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3"/>
                          </a:solidFill>
                        </a:rPr>
                        <a:t>Uberon</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384048">
                <a:tc>
                  <a:txBody>
                    <a:bodyPr/>
                    <a:lstStyle/>
                    <a:p>
                      <a:pPr algn="ctr" indent="0" marL="0">
                        <a:buNone/>
                      </a:pPr>
                      <a:r>
                        <a:rPr lang="en-US" sz="1300" dirty="0">
                          <a:solidFill>
                            <a:schemeClr val="accent4"/>
                          </a:solidFill>
                        </a:rPr>
                        <a:t>3</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tx1"/>
                          </a:solidFill>
                        </a:rPr>
                        <a:t>neural tube CS10 · neural plate CS8</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latin typeface="Cambria" pitchFamily="34" charset="0"/>
                          <a:ea typeface="Cambria" pitchFamily="34" charset="-122"/>
                          <a:cs typeface="Cambria" pitchFamily="34" charset="-120"/>
                        </a:rPr>
                        <a:t>the same chain, via posterior NT part_of NT</a:t>
                      </a:r>
                      <a:endParaRPr lang="en-US" sz="1300" dirty="0">
                        <a:latin typeface="Cambria" charset="0"/>
                        <a:ea typeface="Cambria" charset="0"/>
                        <a:cs typeface="Cambria" charset="0"/>
                      </a:endParaRPr>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rPr>
                        <a:t>one sourced</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300" dirty="0">
                          <a:solidFill>
                            <a:schemeClr val="accent6"/>
                          </a:solidFill>
                        </a:rPr>
                        <a:t>yes</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3"/>
                          </a:solidFill>
                        </a:rPr>
                        <a:t>Uberon</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384048">
                <a:tc>
                  <a:txBody>
                    <a:bodyPr/>
                    <a:lstStyle/>
                    <a:p>
                      <a:pPr algn="ctr" indent="0" marL="0">
                        <a:buNone/>
                      </a:pPr>
                      <a:r>
                        <a:rPr lang="en-US" sz="1300" dirty="0">
                          <a:solidFill>
                            <a:schemeClr val="accent4"/>
                          </a:solidFill>
                        </a:rPr>
                        <a:t>4</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tx1"/>
                          </a:solidFill>
                        </a:rPr>
                        <a:t>lateral plate mesoderm CS8 · amnion CS5</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latin typeface="Cambria" pitchFamily="34" charset="0"/>
                          <a:ea typeface="Cambria" pitchFamily="34" charset="-122"/>
                          <a:cs typeface="Cambria" pitchFamily="34" charset="-120"/>
                        </a:rPr>
                        <a:t>amnion via amniotic fold</a:t>
                      </a:r>
                      <a:endParaRPr lang="en-US" sz="1300" dirty="0">
                        <a:latin typeface="Cambria" charset="0"/>
                        <a:ea typeface="Cambria" charset="0"/>
                        <a:cs typeface="Cambria" charset="0"/>
                      </a:endParaRPr>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4"/>
                          </a:solidFill>
                        </a:rPr>
                        <a:t>unsourced</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300" dirty="0">
                          <a:solidFill>
                            <a:schemeClr val="accent6"/>
                          </a:solidFill>
                        </a:rPr>
                        <a:t>yes</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3"/>
                          </a:solidFill>
                        </a:rPr>
                        <a:t>Uberon, taxon</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384048">
                <a:tc>
                  <a:txBody>
                    <a:bodyPr/>
                    <a:lstStyle/>
                    <a:p>
                      <a:pPr algn="ctr" indent="0" marL="0">
                        <a:buNone/>
                      </a:pPr>
                      <a:r>
                        <a:rPr lang="en-US" sz="1300" dirty="0">
                          <a:solidFill>
                            <a:schemeClr val="accent4"/>
                          </a:solidFill>
                        </a:rPr>
                        <a:t>5</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tx1"/>
                          </a:solidFill>
                        </a:rPr>
                        <a:t>lateral plate mesoderm CS8 · villus CS6</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latin typeface="Cambria" pitchFamily="34" charset="0"/>
                          <a:ea typeface="Cambria" pitchFamily="34" charset="-122"/>
                          <a:cs typeface="Cambria" pitchFamily="34" charset="-120"/>
                        </a:rPr>
                        <a:t>chorion via amniotic fold</a:t>
                      </a:r>
                      <a:endParaRPr lang="en-US" sz="1300" dirty="0">
                        <a:latin typeface="Cambria" charset="0"/>
                        <a:ea typeface="Cambria" charset="0"/>
                        <a:cs typeface="Cambria" charset="0"/>
                      </a:endParaRPr>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rPr>
                        <a:t>one sourced</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300" dirty="0">
                          <a:solidFill>
                            <a:schemeClr val="accent6"/>
                          </a:solidFill>
                        </a:rPr>
                        <a:t>yes</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3"/>
                          </a:solidFill>
                        </a:rPr>
                        <a:t>Uberon, taxon</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384048">
                <a:tc>
                  <a:txBody>
                    <a:bodyPr/>
                    <a:lstStyle/>
                    <a:p>
                      <a:pPr algn="ctr" indent="0" marL="0">
                        <a:buNone/>
                      </a:pPr>
                      <a:r>
                        <a:rPr lang="en-US" sz="1300" dirty="0">
                          <a:solidFill>
                            <a:schemeClr val="accent4"/>
                          </a:solidFill>
                        </a:rPr>
                        <a:t>6</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tx1"/>
                          </a:solidFill>
                        </a:rPr>
                        <a:t>allantois CS7 · chorionic villus CS6</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latin typeface="Cambria" pitchFamily="34" charset="0"/>
                          <a:ea typeface="Cambria" pitchFamily="34" charset="-122"/>
                          <a:cs typeface="Cambria" pitchFamily="34" charset="-120"/>
                        </a:rPr>
                        <a:t>villus develops_from chorionic plate</a:t>
                      </a:r>
                      <a:endParaRPr lang="en-US" sz="1300" dirty="0">
                        <a:latin typeface="Cambria" charset="0"/>
                        <a:ea typeface="Cambria" charset="0"/>
                        <a:cs typeface="Cambria" charset="0"/>
                      </a:endParaRPr>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rPr>
                        <a:t>one sourced</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300" dirty="0">
                          <a:solidFill>
                            <a:schemeClr val="accent6"/>
                          </a:solidFill>
                        </a:rPr>
                        <a:t>yes</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3"/>
                          </a:solidFill>
                        </a:rPr>
                        <a:t>Uberon, review</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384048">
                <a:tc>
                  <a:txBody>
                    <a:bodyPr/>
                    <a:lstStyle/>
                    <a:p>
                      <a:pPr algn="ctr" indent="0" marL="0">
                        <a:buNone/>
                      </a:pPr>
                      <a:r>
                        <a:rPr lang="en-US" sz="1300" dirty="0">
                          <a:solidFill>
                            <a:schemeClr val="accent4"/>
                          </a:solidFill>
                        </a:rPr>
                        <a:t>7</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tx1"/>
                          </a:solidFill>
                        </a:rPr>
                        <a:t>alveolus wk36 · lung saccule wk24</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latin typeface="Cambria" pitchFamily="34" charset="0"/>
                          <a:ea typeface="Cambria" pitchFamily="34" charset="-122"/>
                          <a:cs typeface="Cambria" pitchFamily="34" charset="-120"/>
                        </a:rPr>
                        <a:t>saccule part_of alveolus</a:t>
                      </a:r>
                      <a:endParaRPr lang="en-US" sz="1300" dirty="0">
                        <a:latin typeface="Cambria" charset="0"/>
                        <a:ea typeface="Cambria" charset="0"/>
                        <a:cs typeface="Cambria" charset="0"/>
                      </a:endParaRPr>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4"/>
                          </a:solidFill>
                        </a:rPr>
                        <a:t>unsourced</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300" dirty="0">
                          <a:solidFill>
                            <a:schemeClr val="accent6"/>
                          </a:solidFill>
                        </a:rPr>
                        <a:t>yes</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3"/>
                          </a:solidFill>
                        </a:rPr>
                        <a:t>Uberon</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384048">
                <a:tc>
                  <a:txBody>
                    <a:bodyPr/>
                    <a:lstStyle/>
                    <a:p>
                      <a:pPr algn="ctr" indent="0" marL="0">
                        <a:buNone/>
                      </a:pPr>
                      <a:r>
                        <a:rPr lang="en-US" sz="1300" dirty="0">
                          <a:solidFill>
                            <a:schemeClr val="accent4"/>
                          </a:solidFill>
                        </a:rPr>
                        <a:t>8</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tx1"/>
                          </a:solidFill>
                        </a:rPr>
                        <a:t>otic pit ends CS12 · placode ends CS11</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latin typeface="Cambria" pitchFamily="34" charset="0"/>
                          <a:ea typeface="Cambria" pitchFamily="34" charset="-122"/>
                          <a:cs typeface="Cambria" pitchFamily="34" charset="-120"/>
                        </a:rPr>
                        <a:t>pit part_of placode</a:t>
                      </a:r>
                      <a:endParaRPr lang="en-US" sz="1300" dirty="0">
                        <a:latin typeface="Cambria" charset="0"/>
                        <a:ea typeface="Cambria" charset="0"/>
                        <a:cs typeface="Cambria" charset="0"/>
                      </a:endParaRPr>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rPr>
                        <a:t>one sourced</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300" dirty="0">
                          <a:solidFill>
                            <a:schemeClr val="accent6"/>
                          </a:solidFill>
                        </a:rPr>
                        <a:t>yes</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3"/>
                          </a:solidFill>
                        </a:rPr>
                        <a:t>Uberon</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384048">
                <a:tc>
                  <a:txBody>
                    <a:bodyPr/>
                    <a:lstStyle/>
                    <a:p>
                      <a:pPr algn="ctr" indent="0" marL="0">
                        <a:buNone/>
                      </a:pPr>
                      <a:r>
                        <a:rPr lang="en-US" sz="1300" dirty="0">
                          <a:solidFill>
                            <a:schemeClr val="accent4"/>
                          </a:solidFill>
                        </a:rPr>
                        <a:t>9</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tx1"/>
                          </a:solidFill>
                        </a:rPr>
                        <a:t>groove ends CS11 · plate ends CS10</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latin typeface="Cambria" pitchFamily="34" charset="0"/>
                          <a:ea typeface="Cambria" pitchFamily="34" charset="-122"/>
                          <a:cs typeface="Cambria" pitchFamily="34" charset="-120"/>
                        </a:rPr>
                        <a:t>neural groove part_of neural plate</a:t>
                      </a:r>
                      <a:endParaRPr lang="en-US" sz="1300" dirty="0">
                        <a:latin typeface="Cambria" charset="0"/>
                        <a:ea typeface="Cambria" charset="0"/>
                        <a:cs typeface="Cambria" charset="0"/>
                      </a:endParaRPr>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rPr>
                        <a:t>one sourced</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300" dirty="0">
                          <a:solidFill>
                            <a:schemeClr val="accent6"/>
                          </a:solidFill>
                        </a:rPr>
                        <a:t>yes</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4"/>
                          </a:solidFill>
                        </a:rPr>
                        <a:t>our plate end?</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r h="384048">
                <a:tc>
                  <a:txBody>
                    <a:bodyPr/>
                    <a:lstStyle/>
                    <a:p>
                      <a:pPr algn="ctr" indent="0" marL="0">
                        <a:buNone/>
                      </a:pPr>
                      <a:r>
                        <a:rPr lang="en-US" sz="1300" dirty="0">
                          <a:solidFill>
                            <a:schemeClr val="accent4"/>
                          </a:solidFill>
                        </a:rPr>
                        <a:t>10</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tx1"/>
                          </a:solidFill>
                        </a:rPr>
                        <a:t>rhombic lip CS16 · NT marginal CS12</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dirty="0">
                          <a:solidFill>
                            <a:schemeClr val="accent6"/>
                          </a:solidFill>
                          <a:latin typeface="Cambria" pitchFamily="34" charset="0"/>
                          <a:ea typeface="Cambria" pitchFamily="34" charset="-122"/>
                          <a:cs typeface="Cambria" pitchFamily="34" charset="-120"/>
                        </a:rPr>
                        <a:t>generic bound inherited by cerebellum layer</a:t>
                      </a:r>
                      <a:endParaRPr lang="en-US" sz="1300" dirty="0">
                        <a:latin typeface="Cambria" charset="0"/>
                        <a:ea typeface="Cambria" charset="0"/>
                        <a:cs typeface="Cambria" charset="0"/>
                      </a:endParaRPr>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1"/>
                          </a:solidFill>
                        </a:rPr>
                        <a:t>both sourced</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algn="ctr" indent="0" marL="0">
                        <a:buNone/>
                      </a:pPr>
                      <a:r>
                        <a:rPr lang="en-US" sz="1300" dirty="0">
                          <a:solidFill>
                            <a:schemeClr val="accent6"/>
                          </a:solidFill>
                        </a:rPr>
                        <a:t>yes</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c>
                  <a:txBody>
                    <a:bodyPr/>
                    <a:lstStyle/>
                    <a:p>
                      <a:pPr indent="0" marL="0">
                        <a:buNone/>
                      </a:pPr>
                      <a:r>
                        <a:rPr lang="en-US" sz="1300" b="1" dirty="0">
                          <a:solidFill>
                            <a:schemeClr val="accent4"/>
                          </a:solidFill>
                        </a:rPr>
                        <a:t>our table</a:t>
                      </a:r>
                      <a:endParaRPr lang="en-US" sz="1300" dirty="0"/>
                    </a:p>
                  </a:txBody>
                  <a:tcPr marL="73152" marR="73152" marT="27432" marB="27432"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tcPr>
                </a:tc>
              </a:tr>
            </a:tbl>
          </a:graphicData>
        </a:graphic>
      </p:graphicFrame>
      <p:sp>
        <p:nvSpPr>
          <p:cNvPr id="4" name="text-638"/>
          <p:cNvSpPr txBox="1"/>
          <p:nvPr/>
        </p:nvSpPr>
        <p:spPr>
          <a:xfrm>
            <a:off x="548640" y="5852160"/>
            <a:ext cx="10515600" cy="502920"/>
          </a:xfrm>
          <a:prstGeom prst="rect">
            <a:avLst/>
          </a:prstGeom>
          <a:noFill/>
          <a:ln/>
        </p:spPr>
        <p:txBody>
          <a:bodyPr wrap="square" lIns="0" tIns="0" rIns="0" bIns="0" rtlCol="0" anchor="t"/>
          <a:lstStyle/>
          <a:p>
            <a:pPr indent="0" marL="0">
              <a:buNone/>
            </a:pPr>
            <a:r>
              <a:rPr lang="en-US" sz="1400" b="1" dirty="0">
                <a:solidFill>
                  <a:schemeClr val="accent1"/>
                </a:solidFill>
              </a:rPr>
              <a:t>Strongest: </a:t>
            </a:r>
            <a:pPr indent="0" marL="0">
              <a:buNone/>
            </a:pPr>
            <a:r>
              <a:rPr lang="en-US" sz="1400" dirty="0">
                <a:solidFill>
                  <a:schemeClr val="tx1"/>
                </a:solidFill>
              </a:rPr>
              <a:t>1 and 2 hold even under the weakest part_of reading. 1 rests on two quoted bounds. Most others need containment, or rest on unsourced bounds that sourcing would settle.</a:t>
            </a:r>
            <a:endParaRPr lang="en-US" sz="14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rtlCol="0" anchor="ctr"/>
          <a:lstStyle/>
          <a:p>
            <a:pPr indent="0" marL="0">
              <a:buNone/>
            </a:pPr>
            <a:r>
              <a:rPr lang="en-US" sz="3200" b="1" dirty="0">
                <a:solidFill>
                  <a:schemeClr val="bg1"/>
                </a:solidFill>
              </a:rPr>
              <a:t>Open questions and next steps</a:t>
            </a:r>
            <a:endParaRPr lang="en-US" sz="3200" dirty="0"/>
          </a:p>
        </p:txBody>
      </p:sp>
      <p:sp>
        <p:nvSpPr>
          <p:cNvPr id="3" name="badge-639"/>
          <p:cNvSpPr/>
          <p:nvPr/>
        </p:nvSpPr>
        <p:spPr>
          <a:xfrm>
            <a:off x="548640" y="1737360"/>
            <a:ext cx="640080" cy="640080"/>
          </a:xfrm>
          <a:prstGeom prst="ellipse">
            <a:avLst/>
          </a:prstGeom>
          <a:solidFill>
            <a:schemeClr val="accent1"/>
          </a:solidFill>
          <a:ln w="12700">
            <a:solidFill>
              <a:schemeClr val="accent1"/>
            </a:solidFill>
            <a:prstDash val="solid"/>
          </a:ln>
        </p:spPr>
      </p:sp>
      <p:pic>
        <p:nvPicPr>
          <p:cNvPr id="4" name="icon-640" descr="preencoded.png">    </p:cNvPr>
          <p:cNvPicPr>
            <a:picLocks noChangeAspect="1"/>
          </p:cNvPicPr>
          <p:nvPr/>
        </p:nvPicPr>
        <p:blipFill>
          <a:blip r:embed="rId1"/>
          <a:stretch>
            <a:fillRect/>
          </a:stretch>
        </p:blipFill>
        <p:spPr>
          <a:xfrm>
            <a:off x="702259" y="1890979"/>
            <a:ext cx="332842" cy="332842"/>
          </a:xfrm>
          <a:prstGeom prst="rect">
            <a:avLst/>
          </a:prstGeom>
        </p:spPr>
      </p:pic>
      <p:sp>
        <p:nvSpPr>
          <p:cNvPr id="5" name="text-641"/>
          <p:cNvSpPr txBox="1"/>
          <p:nvPr/>
        </p:nvSpPr>
        <p:spPr>
          <a:xfrm>
            <a:off x="1417320" y="1719072"/>
            <a:ext cx="4572000" cy="365760"/>
          </a:xfrm>
          <a:prstGeom prst="rect">
            <a:avLst/>
          </a:prstGeom>
          <a:noFill/>
          <a:ln/>
        </p:spPr>
        <p:txBody>
          <a:bodyPr wrap="square" lIns="0" tIns="0" rIns="0" bIns="0" rtlCol="0" anchor="t"/>
          <a:lstStyle/>
          <a:p>
            <a:pPr indent="0" marL="0">
              <a:buNone/>
            </a:pPr>
            <a:r>
              <a:rPr lang="en-US" sz="1800" b="1" dirty="0">
                <a:solidFill>
                  <a:schemeClr val="bg1"/>
                </a:solidFill>
              </a:rPr>
              <a:t>Settle the part_of reading</a:t>
            </a:r>
            <a:endParaRPr lang="en-US" sz="1800" dirty="0"/>
          </a:p>
        </p:txBody>
      </p:sp>
      <p:sp>
        <p:nvSpPr>
          <p:cNvPr id="6" name="text-642"/>
          <p:cNvSpPr txBox="1"/>
          <p:nvPr/>
        </p:nvSpPr>
        <p:spPr>
          <a:xfrm>
            <a:off x="1417320" y="2121408"/>
            <a:ext cx="4572000" cy="685800"/>
          </a:xfrm>
          <a:prstGeom prst="rect">
            <a:avLst/>
          </a:prstGeom>
          <a:noFill/>
          <a:ln/>
        </p:spPr>
        <p:txBody>
          <a:bodyPr wrap="square" lIns="0" tIns="0" rIns="0" bIns="0" rtlCol="0" anchor="t"/>
          <a:lstStyle/>
          <a:p>
            <a:pPr indent="0" marL="0">
              <a:buNone/>
            </a:pPr>
            <a:r>
              <a:rPr lang="en-US" sz="1500" dirty="0">
                <a:solidFill>
                  <a:schemeClr val="accent5"/>
                </a:solidFill>
              </a:rPr>
              <a:t>overlap as the constraint, containment as warnings</a:t>
            </a:r>
            <a:endParaRPr lang="en-US" sz="1500" dirty="0"/>
          </a:p>
        </p:txBody>
      </p:sp>
      <p:sp>
        <p:nvSpPr>
          <p:cNvPr id="7" name="badge-643"/>
          <p:cNvSpPr/>
          <p:nvPr/>
        </p:nvSpPr>
        <p:spPr>
          <a:xfrm>
            <a:off x="6217920" y="1737360"/>
            <a:ext cx="640080" cy="640080"/>
          </a:xfrm>
          <a:prstGeom prst="ellipse">
            <a:avLst/>
          </a:prstGeom>
          <a:solidFill>
            <a:schemeClr val="accent1"/>
          </a:solidFill>
          <a:ln w="12700">
            <a:solidFill>
              <a:schemeClr val="accent1"/>
            </a:solidFill>
            <a:prstDash val="solid"/>
          </a:ln>
        </p:spPr>
      </p:sp>
      <p:pic>
        <p:nvPicPr>
          <p:cNvPr id="8" name="icon-644" descr="preencoded.png">    </p:cNvPr>
          <p:cNvPicPr>
            <a:picLocks noChangeAspect="1"/>
          </p:cNvPicPr>
          <p:nvPr/>
        </p:nvPicPr>
        <p:blipFill>
          <a:blip r:embed="rId2"/>
          <a:stretch>
            <a:fillRect/>
          </a:stretch>
        </p:blipFill>
        <p:spPr>
          <a:xfrm>
            <a:off x="6371539" y="1890979"/>
            <a:ext cx="332842" cy="332842"/>
          </a:xfrm>
          <a:prstGeom prst="rect">
            <a:avLst/>
          </a:prstGeom>
        </p:spPr>
      </p:pic>
      <p:sp>
        <p:nvSpPr>
          <p:cNvPr id="9" name="text-645"/>
          <p:cNvSpPr txBox="1"/>
          <p:nvPr/>
        </p:nvSpPr>
        <p:spPr>
          <a:xfrm>
            <a:off x="7086600" y="1719072"/>
            <a:ext cx="4572000" cy="365760"/>
          </a:xfrm>
          <a:prstGeom prst="rect">
            <a:avLst/>
          </a:prstGeom>
          <a:noFill/>
          <a:ln/>
        </p:spPr>
        <p:txBody>
          <a:bodyPr wrap="square" lIns="0" tIns="0" rIns="0" bIns="0" rtlCol="0" anchor="t"/>
          <a:lstStyle/>
          <a:p>
            <a:pPr indent="0" marL="0">
              <a:buNone/>
            </a:pPr>
            <a:r>
              <a:rPr lang="en-US" sz="1800" b="1" dirty="0">
                <a:solidFill>
                  <a:schemeClr val="bg1"/>
                </a:solidFill>
              </a:rPr>
              <a:t>Fix interval endpoints</a:t>
            </a:r>
            <a:endParaRPr lang="en-US" sz="1800" dirty="0"/>
          </a:p>
        </p:txBody>
      </p:sp>
      <p:sp>
        <p:nvSpPr>
          <p:cNvPr id="10" name="text-646"/>
          <p:cNvSpPr txBox="1"/>
          <p:nvPr/>
        </p:nvSpPr>
        <p:spPr>
          <a:xfrm>
            <a:off x="7086600" y="2121408"/>
            <a:ext cx="4572000" cy="685800"/>
          </a:xfrm>
          <a:prstGeom prst="rect">
            <a:avLst/>
          </a:prstGeom>
          <a:noFill/>
          <a:ln/>
        </p:spPr>
        <p:txBody>
          <a:bodyPr wrap="square" lIns="0" tIns="0" rIns="0" bIns="0" rtlCol="0" anchor="t"/>
          <a:lstStyle/>
          <a:p>
            <a:pPr indent="0" marL="0">
              <a:buNone/>
            </a:pPr>
            <a:r>
              <a:rPr lang="en-US" sz="1500" dirty="0">
                <a:solidFill>
                  <a:schemeClr val="accent5"/>
                </a:solidFill>
              </a:rPr>
              <a:t>"ends during" should be half-open</a:t>
            </a:r>
            <a:endParaRPr lang="en-US" sz="1500" dirty="0"/>
          </a:p>
        </p:txBody>
      </p:sp>
      <p:sp>
        <p:nvSpPr>
          <p:cNvPr id="11" name="badge-647"/>
          <p:cNvSpPr/>
          <p:nvPr/>
        </p:nvSpPr>
        <p:spPr>
          <a:xfrm>
            <a:off x="548640" y="3291840"/>
            <a:ext cx="640080" cy="640080"/>
          </a:xfrm>
          <a:prstGeom prst="ellipse">
            <a:avLst/>
          </a:prstGeom>
          <a:solidFill>
            <a:schemeClr val="accent1"/>
          </a:solidFill>
          <a:ln w="12700">
            <a:solidFill>
              <a:schemeClr val="accent1"/>
            </a:solidFill>
            <a:prstDash val="solid"/>
          </a:ln>
        </p:spPr>
      </p:sp>
      <p:pic>
        <p:nvPicPr>
          <p:cNvPr id="12" name="icon-648" descr="preencoded.png">    </p:cNvPr>
          <p:cNvPicPr>
            <a:picLocks noChangeAspect="1"/>
          </p:cNvPicPr>
          <p:nvPr/>
        </p:nvPicPr>
        <p:blipFill>
          <a:blip r:embed="rId3"/>
          <a:stretch>
            <a:fillRect/>
          </a:stretch>
        </p:blipFill>
        <p:spPr>
          <a:xfrm>
            <a:off x="702259" y="3445459"/>
            <a:ext cx="332842" cy="332842"/>
          </a:xfrm>
          <a:prstGeom prst="rect">
            <a:avLst/>
          </a:prstGeom>
        </p:spPr>
      </p:pic>
      <p:sp>
        <p:nvSpPr>
          <p:cNvPr id="13" name="text-649"/>
          <p:cNvSpPr txBox="1"/>
          <p:nvPr/>
        </p:nvSpPr>
        <p:spPr>
          <a:xfrm>
            <a:off x="1417320" y="3273552"/>
            <a:ext cx="4572000" cy="365760"/>
          </a:xfrm>
          <a:prstGeom prst="rect">
            <a:avLst/>
          </a:prstGeom>
          <a:noFill/>
          <a:ln/>
        </p:spPr>
        <p:txBody>
          <a:bodyPr wrap="square" lIns="0" tIns="0" rIns="0" bIns="0" rtlCol="0" anchor="t"/>
          <a:lstStyle/>
          <a:p>
            <a:pPr indent="0" marL="0">
              <a:buNone/>
            </a:pPr>
            <a:r>
              <a:rPr lang="en-US" sz="1800" b="1" dirty="0">
                <a:solidFill>
                  <a:schemeClr val="bg1"/>
                </a:solidFill>
              </a:rPr>
              <a:t>Leave-one-out evaluation</a:t>
            </a:r>
            <a:endParaRPr lang="en-US" sz="1800" dirty="0"/>
          </a:p>
        </p:txBody>
      </p:sp>
      <p:sp>
        <p:nvSpPr>
          <p:cNvPr id="14" name="text-650"/>
          <p:cNvSpPr txBox="1"/>
          <p:nvPr/>
        </p:nvSpPr>
        <p:spPr>
          <a:xfrm>
            <a:off x="1417320" y="3675888"/>
            <a:ext cx="4572000" cy="685800"/>
          </a:xfrm>
          <a:prstGeom prst="rect">
            <a:avLst/>
          </a:prstGeom>
          <a:noFill/>
          <a:ln/>
        </p:spPr>
        <p:txBody>
          <a:bodyPr wrap="square" lIns="0" tIns="0" rIns="0" bIns="0" rtlCol="0" anchor="t"/>
          <a:lstStyle/>
          <a:p>
            <a:pPr indent="0" marL="0">
              <a:buNone/>
            </a:pPr>
            <a:r>
              <a:rPr lang="en-US" sz="1500" dirty="0">
                <a:solidFill>
                  <a:schemeClr val="accent5"/>
                </a:solidFill>
              </a:rPr>
              <a:t>hide a curated bound, re-derive it, score it</a:t>
            </a:r>
            <a:endParaRPr lang="en-US" sz="1500" dirty="0"/>
          </a:p>
        </p:txBody>
      </p:sp>
      <p:sp>
        <p:nvSpPr>
          <p:cNvPr id="15" name="badge-651"/>
          <p:cNvSpPr/>
          <p:nvPr/>
        </p:nvSpPr>
        <p:spPr>
          <a:xfrm>
            <a:off x="6217920" y="3291840"/>
            <a:ext cx="640080" cy="640080"/>
          </a:xfrm>
          <a:prstGeom prst="ellipse">
            <a:avLst/>
          </a:prstGeom>
          <a:solidFill>
            <a:schemeClr val="accent1"/>
          </a:solidFill>
          <a:ln w="12700">
            <a:solidFill>
              <a:schemeClr val="accent1"/>
            </a:solidFill>
            <a:prstDash val="solid"/>
          </a:ln>
        </p:spPr>
      </p:sp>
      <p:pic>
        <p:nvPicPr>
          <p:cNvPr id="16" name="icon-652" descr="preencoded.png">    </p:cNvPr>
          <p:cNvPicPr>
            <a:picLocks noChangeAspect="1"/>
          </p:cNvPicPr>
          <p:nvPr/>
        </p:nvPicPr>
        <p:blipFill>
          <a:blip r:embed="rId4"/>
          <a:stretch>
            <a:fillRect/>
          </a:stretch>
        </p:blipFill>
        <p:spPr>
          <a:xfrm>
            <a:off x="6371539" y="3445459"/>
            <a:ext cx="332842" cy="332842"/>
          </a:xfrm>
          <a:prstGeom prst="rect">
            <a:avLst/>
          </a:prstGeom>
        </p:spPr>
      </p:pic>
      <p:sp>
        <p:nvSpPr>
          <p:cNvPr id="17" name="text-653"/>
          <p:cNvSpPr txBox="1"/>
          <p:nvPr/>
        </p:nvSpPr>
        <p:spPr>
          <a:xfrm>
            <a:off x="7086600" y="3273552"/>
            <a:ext cx="4572000" cy="365760"/>
          </a:xfrm>
          <a:prstGeom prst="rect">
            <a:avLst/>
          </a:prstGeom>
          <a:noFill/>
          <a:ln/>
        </p:spPr>
        <p:txBody>
          <a:bodyPr wrap="square" lIns="0" tIns="0" rIns="0" bIns="0" rtlCol="0" anchor="t"/>
          <a:lstStyle/>
          <a:p>
            <a:pPr indent="0" marL="0">
              <a:buNone/>
            </a:pPr>
            <a:r>
              <a:rPr lang="en-US" sz="1800" b="1" dirty="0">
                <a:solidFill>
                  <a:schemeClr val="bg1"/>
                </a:solidFill>
              </a:rPr>
              <a:t>Scale to EHDAA2</a:t>
            </a:r>
            <a:endParaRPr lang="en-US" sz="1800" dirty="0"/>
          </a:p>
        </p:txBody>
      </p:sp>
      <p:sp>
        <p:nvSpPr>
          <p:cNvPr id="18" name="text-654"/>
          <p:cNvSpPr txBox="1"/>
          <p:nvPr/>
        </p:nvSpPr>
        <p:spPr>
          <a:xfrm>
            <a:off x="7086600" y="3675888"/>
            <a:ext cx="4572000" cy="685800"/>
          </a:xfrm>
          <a:prstGeom prst="rect">
            <a:avLst/>
          </a:prstGeom>
          <a:noFill/>
          <a:ln/>
        </p:spPr>
        <p:txBody>
          <a:bodyPr wrap="square" lIns="0" tIns="0" rIns="0" bIns="0" rtlCol="0" anchor="t"/>
          <a:lstStyle/>
          <a:p>
            <a:pPr indent="0" marL="0">
              <a:buNone/>
            </a:pPr>
            <a:r>
              <a:rPr lang="en-US" sz="1500" dirty="0">
                <a:solidFill>
                  <a:schemeClr val="accent5"/>
                </a:solidFill>
              </a:rPr>
              <a:t>2,125 bounded develops_from edges, human, Carnegie-staged</a:t>
            </a:r>
            <a:endParaRPr lang="en-US" sz="1500" dirty="0"/>
          </a:p>
        </p:txBody>
      </p:sp>
      <p:sp>
        <p:nvSpPr>
          <p:cNvPr id="19" name="badge-655"/>
          <p:cNvSpPr/>
          <p:nvPr/>
        </p:nvSpPr>
        <p:spPr>
          <a:xfrm>
            <a:off x="548640" y="4846320"/>
            <a:ext cx="640080" cy="640080"/>
          </a:xfrm>
          <a:prstGeom prst="ellipse">
            <a:avLst/>
          </a:prstGeom>
          <a:solidFill>
            <a:schemeClr val="accent1"/>
          </a:solidFill>
          <a:ln w="12700">
            <a:solidFill>
              <a:schemeClr val="accent1"/>
            </a:solidFill>
            <a:prstDash val="solid"/>
          </a:ln>
        </p:spPr>
      </p:sp>
      <p:pic>
        <p:nvPicPr>
          <p:cNvPr id="20" name="icon-656" descr="preencoded.png">    </p:cNvPr>
          <p:cNvPicPr>
            <a:picLocks noChangeAspect="1"/>
          </p:cNvPicPr>
          <p:nvPr/>
        </p:nvPicPr>
        <p:blipFill>
          <a:blip r:embed="rId5"/>
          <a:stretch>
            <a:fillRect/>
          </a:stretch>
        </p:blipFill>
        <p:spPr>
          <a:xfrm>
            <a:off x="702259" y="4999939"/>
            <a:ext cx="332842" cy="332842"/>
          </a:xfrm>
          <a:prstGeom prst="rect">
            <a:avLst/>
          </a:prstGeom>
        </p:spPr>
      </p:pic>
      <p:sp>
        <p:nvSpPr>
          <p:cNvPr id="21" name="text-657"/>
          <p:cNvSpPr txBox="1"/>
          <p:nvPr/>
        </p:nvSpPr>
        <p:spPr>
          <a:xfrm>
            <a:off x="1417320" y="4828032"/>
            <a:ext cx="4572000" cy="365760"/>
          </a:xfrm>
          <a:prstGeom prst="rect">
            <a:avLst/>
          </a:prstGeom>
          <a:noFill/>
          <a:ln/>
        </p:spPr>
        <p:txBody>
          <a:bodyPr wrap="square" lIns="0" tIns="0" rIns="0" bIns="0" rtlCol="0" anchor="t"/>
          <a:lstStyle/>
          <a:p>
            <a:pPr indent="0" marL="0">
              <a:buNone/>
            </a:pPr>
            <a:r>
              <a:rPr lang="en-US" sz="1800" b="1" dirty="0">
                <a:solidFill>
                  <a:schemeClr val="bg1"/>
                </a:solidFill>
              </a:rPr>
              <a:t>Wire into agentic curation</a:t>
            </a:r>
            <a:endParaRPr lang="en-US" sz="1800" dirty="0"/>
          </a:p>
        </p:txBody>
      </p:sp>
      <p:sp>
        <p:nvSpPr>
          <p:cNvPr id="22" name="text-658"/>
          <p:cNvSpPr txBox="1"/>
          <p:nvPr/>
        </p:nvSpPr>
        <p:spPr>
          <a:xfrm>
            <a:off x="1417320" y="5230368"/>
            <a:ext cx="4572000" cy="685800"/>
          </a:xfrm>
          <a:prstGeom prst="rect">
            <a:avLst/>
          </a:prstGeom>
          <a:noFill/>
          <a:ln/>
        </p:spPr>
        <p:txBody>
          <a:bodyPr wrap="square" lIns="0" tIns="0" rIns="0" bIns="0" rtlCol="0" anchor="t"/>
          <a:lstStyle/>
          <a:p>
            <a:pPr indent="0" marL="0">
              <a:buNone/>
            </a:pPr>
            <a:r>
              <a:rPr lang="en-US" sz="1500" dirty="0">
                <a:solidFill>
                  <a:schemeClr val="accent5"/>
                </a:solidFill>
              </a:rPr>
              <a:t>conflicts as ranked tasks for sourcing</a:t>
            </a:r>
            <a:endParaRPr lang="en-US" sz="1500" dirty="0"/>
          </a:p>
        </p:txBody>
      </p:sp>
      <p:sp>
        <p:nvSpPr>
          <p:cNvPr id="23" name="badge-659"/>
          <p:cNvSpPr/>
          <p:nvPr/>
        </p:nvSpPr>
        <p:spPr>
          <a:xfrm>
            <a:off x="6217920" y="4846320"/>
            <a:ext cx="640080" cy="640080"/>
          </a:xfrm>
          <a:prstGeom prst="ellipse">
            <a:avLst/>
          </a:prstGeom>
          <a:solidFill>
            <a:schemeClr val="accent1"/>
          </a:solidFill>
          <a:ln w="12700">
            <a:solidFill>
              <a:schemeClr val="accent1"/>
            </a:solidFill>
            <a:prstDash val="solid"/>
          </a:ln>
        </p:spPr>
      </p:sp>
      <p:pic>
        <p:nvPicPr>
          <p:cNvPr id="24" name="icon-660" descr="preencoded.png">    </p:cNvPr>
          <p:cNvPicPr>
            <a:picLocks noChangeAspect="1"/>
          </p:cNvPicPr>
          <p:nvPr/>
        </p:nvPicPr>
        <p:blipFill>
          <a:blip r:embed="rId6"/>
          <a:stretch>
            <a:fillRect/>
          </a:stretch>
        </p:blipFill>
        <p:spPr>
          <a:xfrm>
            <a:off x="6371539" y="4999939"/>
            <a:ext cx="332842" cy="332842"/>
          </a:xfrm>
          <a:prstGeom prst="rect">
            <a:avLst/>
          </a:prstGeom>
        </p:spPr>
      </p:pic>
      <p:sp>
        <p:nvSpPr>
          <p:cNvPr id="25" name="text-661"/>
          <p:cNvSpPr txBox="1"/>
          <p:nvPr/>
        </p:nvSpPr>
        <p:spPr>
          <a:xfrm>
            <a:off x="7086600" y="4828032"/>
            <a:ext cx="4572000" cy="365760"/>
          </a:xfrm>
          <a:prstGeom prst="rect">
            <a:avLst/>
          </a:prstGeom>
          <a:noFill/>
          <a:ln/>
        </p:spPr>
        <p:txBody>
          <a:bodyPr wrap="square" lIns="0" tIns="0" rIns="0" bIns="0" rtlCol="0" anchor="t"/>
          <a:lstStyle/>
          <a:p>
            <a:pPr indent="0" marL="0">
              <a:buNone/>
            </a:pPr>
            <a:r>
              <a:rPr lang="en-US" sz="1800" b="1" dirty="0">
                <a:solidFill>
                  <a:schemeClr val="bg1"/>
                </a:solidFill>
              </a:rPr>
              <a:t>Take findings upstream</a:t>
            </a:r>
            <a:endParaRPr lang="en-US" sz="1800" dirty="0"/>
          </a:p>
        </p:txBody>
      </p:sp>
      <p:sp>
        <p:nvSpPr>
          <p:cNvPr id="26" name="text-662"/>
          <p:cNvSpPr txBox="1"/>
          <p:nvPr/>
        </p:nvSpPr>
        <p:spPr>
          <a:xfrm>
            <a:off x="7086600" y="5230368"/>
            <a:ext cx="4572000" cy="685800"/>
          </a:xfrm>
          <a:prstGeom prst="rect">
            <a:avLst/>
          </a:prstGeom>
          <a:noFill/>
          <a:ln/>
        </p:spPr>
        <p:txBody>
          <a:bodyPr wrap="square" lIns="0" tIns="0" rIns="0" bIns="0" rtlCol="0" anchor="t"/>
          <a:lstStyle/>
          <a:p>
            <a:pPr indent="0" marL="0">
              <a:buNone/>
            </a:pPr>
            <a:r>
              <a:rPr lang="en-US" sz="1500" dirty="0">
                <a:solidFill>
                  <a:schemeClr val="accent5"/>
                </a:solidFill>
              </a:rPr>
              <a:t>Uberon issues; HsapDv fix; continuant-to-continuant timing relations for RO</a:t>
            </a:r>
            <a:endParaRPr lang="en-US" sz="1500" dirty="0"/>
          </a:p>
        </p:txBody>
      </p:sp>
      <p:sp>
        <p:nvSpPr>
          <p:cNvPr id="25" name="Slide Number Placeholder 0"/>
          <p:cNvSpPr>
            <a:spLocks noGrp="1"/>
          </p:cNvSpPr>
          <p:nvPr>
            <p:ph type="sldNum" sz="quarter" idx="4294967295"/>
          </p:nvPr>
        </p:nvSpPr>
        <p:spPr>
          <a:xfrm>
            <a:off x="1120140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Timing Atlas">
  <a:themeElements>
    <a:clrScheme name="Timing Atlas">
      <a:dk1>
        <a:srgbClr val="1B2B34"/>
      </a:dk1>
      <a:lt1>
        <a:srgbClr val="FFFFFF"/>
      </a:lt1>
      <a:dk2>
        <a:srgbClr val="1F6F78"/>
      </a:dk2>
      <a:lt2>
        <a:srgbClr val="EEF4F3"/>
      </a:lt2>
      <a:accent1>
        <a:srgbClr val="1F6F78"/>
      </a:accent1>
      <a:accent2>
        <a:srgbClr val="E3A33B"/>
      </a:accent2>
      <a:accent3>
        <a:srgbClr val="C8553D"/>
      </a:accent3>
      <a:accent4>
        <a:srgbClr val="6B7F86"/>
      </a:accent4>
      <a:accent5>
        <a:srgbClr val="9DBAB4"/>
      </a:accent5>
      <a:accent6>
        <a:srgbClr val="4A5859"/>
      </a:accent6>
      <a:hlink>
        <a:srgbClr val="1F6F78"/>
      </a:hlink>
      <a:folHlink>
        <a:srgbClr val="6B7F86"/>
      </a:folHlink>
    </a:clrScheme>
    <a:fontScheme name="Timing Atl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does anatomy exist?</dc:title>
  <dc:subject>PptxGenJS Presentation</dc:subject>
  <dc:creator>David Osumi-Sutherland</dc:creator>
  <cp:lastModifiedBy>David Osumi-Sutherland</cp:lastModifiedBy>
  <cp:revision>1</cp:revision>
  <dcterms:created xsi:type="dcterms:W3CDTF">2026-10-22T12:12:03Z</dcterms:created>
  <dcterms:modified xsi:type="dcterms:W3CDTF">2026-10-22T12:12:03Z</dcterms:modified>
</cp:coreProperties>
</file>